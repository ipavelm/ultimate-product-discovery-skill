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34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0040" y="3566160"/>
            <a:ext cx="8823240" cy="4968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0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4" strike="noStrike">
                <a:solidFill>
                  <a:srgbClr val="94a3f6"/>
                </a:solidFill>
                <a:latin typeface="Calibri"/>
                <a:ea typeface="Calibri"/>
              </a:rPr>
              <a:t>PRODUCT DISCOVERY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0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[НАЗВАНИЕ ПРОЕКТА]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046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8eaf6"/>
                </a:solidFill>
                <a:latin typeface="Calibri"/>
                <a:ea typeface="Calibri"/>
              </a:rPr>
              <a:t>[Краткий слоган: суть продукта в одном предложении]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94" strike="noStrike">
                <a:solidFill>
                  <a:srgbClr val="64748b"/>
                </a:solidFill>
                <a:latin typeface="Calibri"/>
                <a:ea typeface="Calibri"/>
              </a:rPr>
              <a:t>[Рынок], [B2B / B2C]  ·  [месяц год]  ·  Этап: Verification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Содержание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Product Discovery [название проекта], [месяц год]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65760" y="658440"/>
            <a:ext cx="474840" cy="52956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65760" y="65844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1005840" y="6948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Анализ рынка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005840" y="96912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TAM/SAM/SOM · Динамика · Тренды · Value Chain · Конкуренты · PESTEL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65760" y="1371600"/>
            <a:ext cx="474840" cy="529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9"/>
          <p:cNvSpPr/>
          <p:nvPr/>
        </p:nvSpPr>
        <p:spPr>
          <a:xfrm>
            <a:off x="365760" y="137160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005840" y="140832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Исследование потребителей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005840" y="168264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JTBD · CJM · Инсайты · Opportunity Score · Персоны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65760" y="2084760"/>
            <a:ext cx="474840" cy="52956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365760" y="208476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005840" y="212148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Текущий стратегический сценарий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005840" y="239580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Цели · Lean Canvas/BMC · PAC · SWOT · Консистентность · Юнит-экономика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365760" y="2797920"/>
            <a:ext cx="474840" cy="52956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365760" y="279792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1005840" y="283464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Opportunity Solution Tree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005840" y="310896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Уровни 1–2: цель + возможности · Уровни 3–4: решения + эксперименты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365760" y="3511440"/>
            <a:ext cx="474840" cy="52956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365760" y="351144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1005840" y="35478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Альтернативный сценарий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1005840" y="382212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Ключевые изменения · RICE · Пул гипотез + план тестирования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365760" y="4224600"/>
            <a:ext cx="474840" cy="52956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365760" y="4224600"/>
            <a:ext cx="4748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06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1005840" y="426096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f1020"/>
                </a:solidFill>
                <a:latin typeface="Calibri"/>
                <a:ea typeface="Calibri"/>
              </a:rPr>
              <a:t>PMF-метрики и следующие шаги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1005840" y="4535280"/>
            <a:ext cx="7771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PMF по фазам · OS финальный (топ-10) · Следующие шаги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Оценка объёма рынка (TAM / SAM / SOM)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[отраслевые отчёты и статистика по рынку — задачи 1, 5]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365760" y="868680"/>
            <a:ext cx="8411760" cy="10051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Text 6"/>
          <p:cNvSpPr/>
          <p:nvPr/>
        </p:nvSpPr>
        <p:spPr>
          <a:xfrm>
            <a:off x="548640" y="941760"/>
            <a:ext cx="1096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TAM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548640" y="137160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eaf6"/>
                </a:solidFill>
                <a:latin typeface="Calibri"/>
                <a:ea typeface="Calibri"/>
              </a:rPr>
              <a:t>Total Addressable Market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5577840" y="868680"/>
            <a:ext cx="3016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  <a:ea typeface="Calibri"/>
              </a:rPr>
              <a:t>[X млрд ₽]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1600200" y="2057400"/>
            <a:ext cx="5942880" cy="1005120"/>
          </a:xfrm>
          <a:prstGeom prst="rect">
            <a:avLst/>
          </a:prstGeom>
          <a:solidFill>
            <a:srgbClr val="6b7fe3"/>
          </a:solidFill>
          <a:ln w="12700">
            <a:solidFill>
              <a:srgbClr val="6b7f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1783080" y="2130480"/>
            <a:ext cx="1096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1783080" y="256032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eaf6"/>
                </a:solidFill>
                <a:latin typeface="Calibri"/>
                <a:ea typeface="Calibri"/>
              </a:rPr>
              <a:t>Serviceable Available Market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343400" y="2057400"/>
            <a:ext cx="3016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  <a:ea typeface="Calibri"/>
              </a:rPr>
              <a:t>[Y млрд ₽]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3"/>
          <p:cNvSpPr/>
          <p:nvPr/>
        </p:nvSpPr>
        <p:spPr>
          <a:xfrm>
            <a:off x="2788920" y="3246120"/>
            <a:ext cx="3565440" cy="100512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Text 14"/>
          <p:cNvSpPr/>
          <p:nvPr/>
        </p:nvSpPr>
        <p:spPr>
          <a:xfrm>
            <a:off x="2971800" y="3319200"/>
            <a:ext cx="10965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2971800" y="374904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eaf6"/>
                </a:solidFill>
                <a:latin typeface="Calibri"/>
                <a:ea typeface="Calibri"/>
              </a:rPr>
              <a:t>Serviceable Obtainable Market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3154680" y="3246120"/>
            <a:ext cx="3016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Calibri"/>
                <a:ea typeface="Calibri"/>
              </a:rPr>
              <a:t>[Z млн ₽]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365760" y="454464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Top-down: [расчёт по доле сегмента] = [Y]. Bottom-up: [клиенты × чек × частота] = [Y]. Расхождение [N]× [✅ / ⚠️ пересмотреть допущения]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Динамика рынка (CAGR)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[источники по динамике и прогнозу рынка — задача 1]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36576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6576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Text 7"/>
          <p:cNvSpPr/>
          <p:nvPr/>
        </p:nvSpPr>
        <p:spPr>
          <a:xfrm>
            <a:off x="36576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Динамика рынка (CAGR)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36576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Объём рынка (TAM)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329184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3291840" y="868680"/>
            <a:ext cx="255960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329184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57e4a"/>
                </a:solidFill>
                <a:latin typeface="Calibri"/>
                <a:ea typeface="Calibri"/>
              </a:rPr>
              <a:t>[X–Y%]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329184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CAGR (рост рынка)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621792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621792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621792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[N] ключевых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621792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Ключевых участников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365760" y="2377440"/>
            <a:ext cx="8411760" cy="233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365760" y="2377440"/>
            <a:ext cx="841176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502920" y="246888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Динамика рынка и прогноз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475560" y="2834640"/>
            <a:ext cx="819216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CAGR [X–Y%]/год за [период]. Источник: [источник]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Прогноз: [год]: [объём] → [год]: [объём] (при сохранении [Z%] CAGR)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Драйверы: [драйвер 1], [драйвер 2], [драйвер 3]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Риски: [риск 1], [риск 2], [риск 3]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Тренды рынка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[источники по трендам — задача 2]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365760" y="86868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365760" y="86868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Text 7"/>
          <p:cNvSpPr/>
          <p:nvPr/>
        </p:nvSpPr>
        <p:spPr>
          <a:xfrm>
            <a:off x="50292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Технологический тренд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475560" y="132588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[Технологический тренд: суть, цифра с источником, следствие для продукта]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9"/>
          <p:cNvSpPr/>
          <p:nvPr/>
        </p:nvSpPr>
        <p:spPr>
          <a:xfrm>
            <a:off x="4754880" y="86868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4754880" y="86868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489204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Поведенческий тренд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4864680" y="132588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[Поведенческий тренд: суть, цифра с источником, следствие для продукта]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365760" y="274320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365760" y="274320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502920" y="28346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Регуляторный тренд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475560" y="320040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[Регуляторный тренд: норма, дата вступления, следствие для продукта]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7"/>
          <p:cNvSpPr/>
          <p:nvPr/>
        </p:nvSpPr>
        <p:spPr>
          <a:xfrm>
            <a:off x="4754880" y="274320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4754880" y="274320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4892040" y="28346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Экономический тренд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0"/>
          <p:cNvSpPr/>
          <p:nvPr/>
        </p:nvSpPr>
        <p:spPr>
          <a:xfrm>
            <a:off x="4864680" y="320040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[Экономический тренд: суть, цифра с источником, следствие для продукта]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Value Chain — цепочка создания стоимости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Questions"/>
          <p:cNvSpPr/>
          <p:nvPr/>
        </p:nvSpPr>
        <p:spPr>
          <a:xfrm>
            <a:off x="365760" y="868680"/>
            <a:ext cx="8412120" cy="8683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▸ </a:t>
            </a: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Участники: от поставщиков сырья до конечного потребителя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▸ </a:t>
            </a: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На каком звене создаётся наибольшая ценность и маржинальность?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▸ </a:t>
            </a: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Где в цепочке находится продукт? Где возможности для дифференциации?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ChainCard0"/>
          <p:cNvSpPr/>
          <p:nvPr/>
        </p:nvSpPr>
        <p:spPr>
          <a:xfrm>
            <a:off x="466200" y="1874520"/>
            <a:ext cx="1554120" cy="1325520"/>
          </a:xfrm>
          <a:prstGeom prst="rect">
            <a:avLst/>
          </a:prstGeom>
          <a:solidFill>
            <a:srgbClr val="6b7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[Звено 1]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[Игроки / кто]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ChainMargin0"/>
          <p:cNvSpPr/>
          <p:nvPr/>
        </p:nvSpPr>
        <p:spPr>
          <a:xfrm>
            <a:off x="466200" y="3200400"/>
            <a:ext cx="1554120" cy="31968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Маржа: [X%]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Arrow0"/>
          <p:cNvSpPr/>
          <p:nvPr/>
        </p:nvSpPr>
        <p:spPr>
          <a:xfrm>
            <a:off x="2025360" y="2423160"/>
            <a:ext cx="100080" cy="5482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94a3f6"/>
                </a:solidFill>
                <a:latin typeface="Arial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ChainCard1"/>
          <p:cNvSpPr/>
          <p:nvPr/>
        </p:nvSpPr>
        <p:spPr>
          <a:xfrm>
            <a:off x="2130480" y="1874520"/>
            <a:ext cx="1554120" cy="1325520"/>
          </a:xfrm>
          <a:prstGeom prst="rect">
            <a:avLst/>
          </a:prstGeom>
          <a:solidFill>
            <a:srgbClr val="6b7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[Звено 2]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[Игроки / кто]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ChainMargin1"/>
          <p:cNvSpPr/>
          <p:nvPr/>
        </p:nvSpPr>
        <p:spPr>
          <a:xfrm>
            <a:off x="2130480" y="3200400"/>
            <a:ext cx="1554120" cy="31968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Маржа: [X%]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Arrow1"/>
          <p:cNvSpPr/>
          <p:nvPr/>
        </p:nvSpPr>
        <p:spPr>
          <a:xfrm>
            <a:off x="3689640" y="2423160"/>
            <a:ext cx="100080" cy="5482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94a3f6"/>
                </a:solidFill>
                <a:latin typeface="Arial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ChainCard2"/>
          <p:cNvSpPr/>
          <p:nvPr/>
        </p:nvSpPr>
        <p:spPr>
          <a:xfrm>
            <a:off x="3794760" y="1874520"/>
            <a:ext cx="1554120" cy="1325520"/>
          </a:xfrm>
          <a:prstGeom prst="rect">
            <a:avLst/>
          </a:prstGeom>
          <a:solidFill>
            <a:srgbClr val="4a5e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[Звено 3]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[Игроки / кто]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ChainMargin2"/>
          <p:cNvSpPr/>
          <p:nvPr/>
        </p:nvSpPr>
        <p:spPr>
          <a:xfrm>
            <a:off x="3794760" y="3200400"/>
            <a:ext cx="1554120" cy="31968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Маржа: [X%]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Arrow2"/>
          <p:cNvSpPr/>
          <p:nvPr/>
        </p:nvSpPr>
        <p:spPr>
          <a:xfrm>
            <a:off x="5353920" y="2423160"/>
            <a:ext cx="100080" cy="5482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94a3f6"/>
                </a:solidFill>
                <a:latin typeface="Arial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ChainCard3"/>
          <p:cNvSpPr/>
          <p:nvPr/>
        </p:nvSpPr>
        <p:spPr>
          <a:xfrm>
            <a:off x="5459040" y="1874520"/>
            <a:ext cx="1554120" cy="1325520"/>
          </a:xfrm>
          <a:prstGeom prst="rect">
            <a:avLst/>
          </a:prstGeom>
          <a:solidFill>
            <a:srgbClr val="e57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[Звено 4]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[Игроки / кто]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ChainMargin3"/>
          <p:cNvSpPr/>
          <p:nvPr/>
        </p:nvSpPr>
        <p:spPr>
          <a:xfrm>
            <a:off x="5459040" y="3200400"/>
            <a:ext cx="1554120" cy="31968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Маржа: [X%]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Arrow3"/>
          <p:cNvSpPr/>
          <p:nvPr/>
        </p:nvSpPr>
        <p:spPr>
          <a:xfrm>
            <a:off x="7017840" y="2423160"/>
            <a:ext cx="100080" cy="5482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800" spc="-1" strike="noStrike">
                <a:solidFill>
                  <a:srgbClr val="94a3f6"/>
                </a:solidFill>
                <a:latin typeface="Arial"/>
              </a:rPr>
              <a:t>→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ChainCard4"/>
          <p:cNvSpPr/>
          <p:nvPr/>
        </p:nvSpPr>
        <p:spPr>
          <a:xfrm>
            <a:off x="7123320" y="1874520"/>
            <a:ext cx="1554120" cy="1325520"/>
          </a:xfrm>
          <a:prstGeom prst="rect">
            <a:avLst/>
          </a:prstGeom>
          <a:solidFill>
            <a:srgbClr val="94a3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[Звено 5]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[ЦП / контекст]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ChainMargin4"/>
          <p:cNvSpPr/>
          <p:nvPr/>
        </p:nvSpPr>
        <p:spPr>
          <a:xfrm>
            <a:off x="7123320" y="3200400"/>
            <a:ext cx="1554120" cy="31968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Маржа: —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Conclusion"/>
          <p:cNvSpPr/>
          <p:nvPr/>
        </p:nvSpPr>
        <p:spPr>
          <a:xfrm>
            <a:off x="365760" y="3840480"/>
            <a:ext cx="8412120" cy="6397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100" spc="-1" strike="noStrike">
                <a:solidFill>
                  <a:srgbClr val="94a3f6"/>
                </a:solidFill>
                <a:latin typeface="Arial"/>
              </a:rPr>
              <a:t>Вывод: </a:t>
            </a: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[На каком звене создаётся наибольшая ценность? Где возможности для дифференциации?]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[Вывод: незакрытое звено / белое пятно для продукта]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Конкурентный ландшафт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[сайты конкурентов, отзывы, отраслевые публикации — задача 3]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365760" y="86868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Shape 6"/>
          <p:cNvSpPr/>
          <p:nvPr/>
        </p:nvSpPr>
        <p:spPr>
          <a:xfrm>
            <a:off x="365760" y="86868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50292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Прямые конкуренты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475560" y="132588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[Прямой 1] · [Прямой 2] · [Прямой 3]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4754880" y="86868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Shape 10"/>
          <p:cNvSpPr/>
          <p:nvPr/>
        </p:nvSpPr>
        <p:spPr>
          <a:xfrm>
            <a:off x="4754880" y="86868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489204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Косвенные конкуренты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4864680" y="132588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[Косвенный 1] · [Косвенный 2]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365760" y="274320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365760" y="2743200"/>
            <a:ext cx="4205520" cy="5400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502920" y="28346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Вытеснители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475560" y="320040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[Вытеснитель 1] · [Вытеснитель 2]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7"/>
          <p:cNvSpPr/>
          <p:nvPr/>
        </p:nvSpPr>
        <p:spPr>
          <a:xfrm>
            <a:off x="4754880" y="2743200"/>
            <a:ext cx="4205520" cy="16909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5" name="Shape 18"/>
          <p:cNvSpPr/>
          <p:nvPr/>
        </p:nvSpPr>
        <p:spPr>
          <a:xfrm>
            <a:off x="4754880" y="274320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ext 19"/>
          <p:cNvSpPr/>
          <p:nvPr/>
        </p:nvSpPr>
        <p:spPr>
          <a:xfrm>
            <a:off x="4892040" y="28346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Конкуренты по каналам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0"/>
          <p:cNvSpPr/>
          <p:nvPr/>
        </p:nvSpPr>
        <p:spPr>
          <a:xfrm>
            <a:off x="4864680" y="3200400"/>
            <a:ext cx="398592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[Конкурент по каналам: охват, каналы дистрибуции, доля рынка]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365760" y="228600"/>
            <a:ext cx="8411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rgbClr val="1f3864"/>
                </a:solidFill>
                <a:latin typeface="Arial"/>
              </a:rPr>
              <a:t>Сравнение конкурентов: финансы и продукт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365760" y="777240"/>
            <a:ext cx="841176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595959"/>
                </a:solidFill>
                <a:latin typeface="Arial"/>
              </a:rPr>
              <a:t>Финансовые и продуктовые параметры основных игроков. Цифры — оценка по открытым источникам, указывай уровень достоверности.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0" name="Table 3"/>
          <p:cNvGraphicFramePr/>
          <p:nvPr/>
        </p:nvGraphicFramePr>
        <p:xfrm>
          <a:off x="365760" y="1280160"/>
          <a:ext cx="8411040" cy="3473280"/>
        </p:xfrm>
        <a:graphic>
          <a:graphicData uri="http://schemas.openxmlformats.org/drawingml/2006/table">
            <a:tbl>
              <a:tblPr/>
              <a:tblGrid>
                <a:gridCol w="1364040"/>
                <a:gridCol w="1023120"/>
                <a:gridCol w="1136520"/>
                <a:gridCol w="1023120"/>
                <a:gridCol w="1023120"/>
                <a:gridCol w="1704960"/>
                <a:gridCol w="1136520"/>
              </a:tblGrid>
              <a:tr h="5788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Конкурент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Рынок / гео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Цена / подписка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Клиенты (оценка)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Выручка (оценка)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Ключевые фичи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Слабость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[Конкурент 1]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[рынок / гео]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[цена]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[клиенты]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[выручка]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[ключевые фичи]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[слабость]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[Конкурент 2]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[рынок / гео]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[цена]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[клиенты]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[выручка]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[ключевые фичи]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[слабость]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[Конкурент 3]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[рынок / гео]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[цена]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[клиенты]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[выручка]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[ключевые фичи]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[слабость]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[Конкурент 4]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[рынок / гео]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[цена]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[клиенты]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[выручка]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[ключевые фичи]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[слабость]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578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[Наш продукт]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[рынок / гео]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[цена]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[клиенты]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[выручка]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[ключевые фичи]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404040"/>
                          </a:solidFill>
                          <a:latin typeface="Arial"/>
                        </a:rPr>
                        <a:t>[слабость]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4"/>
          <p:cNvSpPr/>
          <p:nvPr/>
        </p:nvSpPr>
        <p:spPr>
          <a:xfrm>
            <a:off x="2743200" y="4846320"/>
            <a:ext cx="36568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800" spc="-1" strike="noStrike">
                <a:solidFill>
                  <a:srgbClr val="808080"/>
                </a:solidFill>
                <a:latin typeface="Arial"/>
              </a:rPr>
              <a:t>Источники: G2, Crunchbase, SimilarWeb, отчёты компаний (задача 3, 4)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Ключевой конкурент: [название]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[сайт конкурента, отзывы, аналитика — задача 4]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64748b"/>
                </a:solidFill>
                <a:latin typeface="Calibri"/>
                <a:ea typeface="Calibri"/>
              </a:rPr>
              <a:t>АНАЛИЗ ПО ВОРОНКЕ AARRR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365760" y="1097280"/>
            <a:ext cx="1096560" cy="584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365760" y="109728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Acquisition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1600200" y="1207080"/>
            <a:ext cx="7177320" cy="4017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1737360" y="1207080"/>
            <a:ext cx="6994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Acquisition: [каналы с долями трафика]. Оценочный CAC / CPC: [значение]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365760" y="1819800"/>
            <a:ext cx="1096560" cy="584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365760" y="181980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Activation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2"/>
          <p:cNvSpPr/>
          <p:nvPr/>
        </p:nvSpPr>
        <p:spPr>
          <a:xfrm>
            <a:off x="1600200" y="1929240"/>
            <a:ext cx="7177320" cy="4017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1737360" y="1929240"/>
            <a:ext cx="6994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Activation: [механика онбординга]. Aha-moment: [момент]. Время до first value: [значение]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365760" y="2541960"/>
            <a:ext cx="1096560" cy="584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Text 15"/>
          <p:cNvSpPr/>
          <p:nvPr/>
        </p:nvSpPr>
        <p:spPr>
          <a:xfrm>
            <a:off x="365760" y="254196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Retention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6"/>
          <p:cNvSpPr/>
          <p:nvPr/>
        </p:nvSpPr>
        <p:spPr>
          <a:xfrm>
            <a:off x="1600200" y="2651760"/>
            <a:ext cx="7177320" cy="4017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1737360" y="2651760"/>
            <a:ext cx="6994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Retention: [механизмы удержания]. Оценочный retention / repeat rate: [значение]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8"/>
          <p:cNvSpPr/>
          <p:nvPr/>
        </p:nvSpPr>
        <p:spPr>
          <a:xfrm>
            <a:off x="365760" y="3264480"/>
            <a:ext cx="1096560" cy="584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365760" y="326448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Revenue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20"/>
          <p:cNvSpPr/>
          <p:nvPr/>
        </p:nvSpPr>
        <p:spPr>
          <a:xfrm>
            <a:off x="1600200" y="3374280"/>
            <a:ext cx="7177320" cy="4017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Text 21"/>
          <p:cNvSpPr/>
          <p:nvPr/>
        </p:nvSpPr>
        <p:spPr>
          <a:xfrm>
            <a:off x="1737360" y="3374280"/>
            <a:ext cx="6994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Revenue: [модель монетизации]. Средний чек: [значение]. Оценочная выручка: [значение]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2"/>
          <p:cNvSpPr/>
          <p:nvPr/>
        </p:nvSpPr>
        <p:spPr>
          <a:xfrm>
            <a:off x="365760" y="3986640"/>
            <a:ext cx="1096560" cy="58464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5" name="Text 23"/>
          <p:cNvSpPr/>
          <p:nvPr/>
        </p:nvSpPr>
        <p:spPr>
          <a:xfrm>
            <a:off x="365760" y="3986640"/>
            <a:ext cx="10965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Referral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4"/>
          <p:cNvSpPr/>
          <p:nvPr/>
        </p:nvSpPr>
        <p:spPr>
          <a:xfrm>
            <a:off x="1600200" y="4096440"/>
            <a:ext cx="7177320" cy="4017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Text 25"/>
          <p:cNvSpPr/>
          <p:nvPr/>
        </p:nvSpPr>
        <p:spPr>
          <a:xfrm>
            <a:off x="1737360" y="4096440"/>
            <a:ext cx="6994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Referral: [программы и механики]. NPS: [значение или «не раскрывается»]. Слабость: [ключевая уязвимость]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PESTEL-анализ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АНАЛИЗ РЫНКА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[регуляторы, отраслевые ассоциации, статистика — задача 6]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365760" y="868680"/>
            <a:ext cx="54000" cy="593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594360" y="88704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P — Political (политические)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594360" y="116136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POLITICAL: [фактор]: [значимость]×[вероятность]=[оценка] [⚠️ / ✅] [следствие]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8"/>
          <p:cNvSpPr/>
          <p:nvPr/>
        </p:nvSpPr>
        <p:spPr>
          <a:xfrm>
            <a:off x="365760" y="1664280"/>
            <a:ext cx="54000" cy="593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594360" y="168264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E — Economic (экономические)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594360" y="195696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ECONOMIC: [фактор]: [значимость]×[вероятность]=[оценка] [⚠️ / ✅] [следствие]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1"/>
          <p:cNvSpPr/>
          <p:nvPr/>
        </p:nvSpPr>
        <p:spPr>
          <a:xfrm>
            <a:off x="365760" y="2459880"/>
            <a:ext cx="54000" cy="593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594360" y="247788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S — Social (социальные)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594360" y="275220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SOCIAL: [фактор]: [значимость]×[вероятность]=[оценка] [⚠️ / ✅] [следствие]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4"/>
          <p:cNvSpPr/>
          <p:nvPr/>
        </p:nvSpPr>
        <p:spPr>
          <a:xfrm>
            <a:off x="365760" y="3255120"/>
            <a:ext cx="54000" cy="593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3" name="Text 15"/>
          <p:cNvSpPr/>
          <p:nvPr/>
        </p:nvSpPr>
        <p:spPr>
          <a:xfrm>
            <a:off x="594360" y="327348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T — Technological (технологические)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594360" y="354780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TECHNOLOGICAL: [фактор]: [значимость]×[вероятность]=[оценка] [⚠️ / ✅] [следствие]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365760" y="4050720"/>
            <a:ext cx="54000" cy="59364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594360" y="4069080"/>
            <a:ext cx="18280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E/L — Environmental + Legal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594360" y="434340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ENVIRONMENTAL / LEGAL: [фактор]: [значимость]×[вероятность]=[оценка] [⚠️ / ✅] [следствие]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548640" y="1737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0d9488"/>
                </a:solidFill>
                <a:latin typeface="Calibri"/>
                <a:ea typeface="Calibri"/>
              </a:rPr>
              <a:t>РАЗДЕЛ 02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548640" y="214884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Исследование потребителей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Jobs-to-be-Done: работы потребителей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ИССЛЕДОВАНИЕ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Jobs-to-be-Done (Ulwick/Christensen); задача 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0d9488"/>
                </a:solidFill>
                <a:latin typeface="Calibri"/>
                <a:ea typeface="Calibri"/>
              </a:rPr>
              <a:t>КАКУЮ «РАБОТУ» НАНИМАЮТ ПОТРЕБИТЕЛИ НАШ ПРОДУКТ ВЫПОЛНЯТЬ?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6"/>
          <p:cNvSpPr/>
          <p:nvPr/>
        </p:nvSpPr>
        <p:spPr>
          <a:xfrm>
            <a:off x="365760" y="1078920"/>
            <a:ext cx="2651040" cy="1005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Shape 7"/>
          <p:cNvSpPr/>
          <p:nvPr/>
        </p:nvSpPr>
        <p:spPr>
          <a:xfrm>
            <a:off x="365760" y="1078920"/>
            <a:ext cx="2651040" cy="54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502920" y="11703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Функциональные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475560" y="1536120"/>
            <a:ext cx="243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[Функциональные работы: что клиент делает практически — 2–3 формулировки]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3200400" y="1078920"/>
            <a:ext cx="2651040" cy="1005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2" name="Shape 11"/>
          <p:cNvSpPr/>
          <p:nvPr/>
        </p:nvSpPr>
        <p:spPr>
          <a:xfrm>
            <a:off x="3200400" y="1078920"/>
            <a:ext cx="265104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3337560" y="11703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Эмоциональные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3310200" y="1536120"/>
            <a:ext cx="243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[Эмоциональные работы: что клиент хочет чувствовать]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6035040" y="1078920"/>
            <a:ext cx="2651040" cy="1005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Shape 15"/>
          <p:cNvSpPr/>
          <p:nvPr/>
        </p:nvSpPr>
        <p:spPr>
          <a:xfrm>
            <a:off x="6035040" y="1078920"/>
            <a:ext cx="265104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6172200" y="1170360"/>
            <a:ext cx="2376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Социальные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7"/>
          <p:cNvSpPr/>
          <p:nvPr/>
        </p:nvSpPr>
        <p:spPr>
          <a:xfrm>
            <a:off x="6144840" y="1536120"/>
            <a:ext cx="24314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[Социальные работы: как клиент хочет выглядеть в глазах других]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8"/>
          <p:cNvSpPr/>
          <p:nvPr/>
        </p:nvSpPr>
        <p:spPr>
          <a:xfrm>
            <a:off x="365760" y="221292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4" strike="noStrike">
                <a:solidFill>
                  <a:srgbClr val="64748b"/>
                </a:solidFill>
                <a:latin typeface="Calibri"/>
                <a:ea typeface="Calibri"/>
              </a:rPr>
              <a:t>ТОП JOB STORIES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9"/>
          <p:cNvSpPr/>
          <p:nvPr/>
        </p:nvSpPr>
        <p:spPr>
          <a:xfrm>
            <a:off x="365760" y="2514600"/>
            <a:ext cx="8411760" cy="59364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1" name="Shape 20"/>
          <p:cNvSpPr/>
          <p:nvPr/>
        </p:nvSpPr>
        <p:spPr>
          <a:xfrm>
            <a:off x="365760" y="2514600"/>
            <a:ext cx="54000" cy="593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2" name="Text 21"/>
          <p:cNvSpPr/>
          <p:nvPr/>
        </p:nvSpPr>
        <p:spPr>
          <a:xfrm>
            <a:off x="594360" y="2514600"/>
            <a:ext cx="8046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Когда [ситуация], я хочу [работа], чтобы [результат].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2"/>
          <p:cNvSpPr/>
          <p:nvPr/>
        </p:nvSpPr>
        <p:spPr>
          <a:xfrm>
            <a:off x="365760" y="3246120"/>
            <a:ext cx="8411760" cy="59364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4" name="Shape 23"/>
          <p:cNvSpPr/>
          <p:nvPr/>
        </p:nvSpPr>
        <p:spPr>
          <a:xfrm>
            <a:off x="365760" y="3246120"/>
            <a:ext cx="54000" cy="593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5" name="Text 24"/>
          <p:cNvSpPr/>
          <p:nvPr/>
        </p:nvSpPr>
        <p:spPr>
          <a:xfrm>
            <a:off x="594360" y="3246120"/>
            <a:ext cx="8046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Когда [ситуация], я хочу [работа], чтобы [результат].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5"/>
          <p:cNvSpPr/>
          <p:nvPr/>
        </p:nvSpPr>
        <p:spPr>
          <a:xfrm>
            <a:off x="365760" y="3977640"/>
            <a:ext cx="8411760" cy="59364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7" name="Shape 26"/>
          <p:cNvSpPr/>
          <p:nvPr/>
        </p:nvSpPr>
        <p:spPr>
          <a:xfrm>
            <a:off x="365760" y="3977640"/>
            <a:ext cx="54000" cy="593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8" name="Text 27"/>
          <p:cNvSpPr/>
          <p:nvPr/>
        </p:nvSpPr>
        <p:spPr>
          <a:xfrm>
            <a:off x="594360" y="3977640"/>
            <a:ext cx="8046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Когда [ситуация], я хочу [работа], чтобы [результат].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Customer Journey Map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ИССЛЕДОВАНИЕ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3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0d9488"/>
                </a:solidFill>
                <a:latin typeface="Calibri"/>
                <a:ea typeface="Calibri"/>
              </a:rPr>
              <a:t>ПУТЬ ПОТРЕБИТЕЛЯ ОТ ОСОЗНАНИЯ ПРОБЛЕМЫ ДО ЛОЯЛЬНОСТИ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118872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118872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Осознание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8"/>
          <p:cNvSpPr/>
          <p:nvPr/>
        </p:nvSpPr>
        <p:spPr>
          <a:xfrm>
            <a:off x="227700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227700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Поиск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335592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0" name="Text 11"/>
          <p:cNvSpPr/>
          <p:nvPr/>
        </p:nvSpPr>
        <p:spPr>
          <a:xfrm>
            <a:off x="335592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Оценка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2"/>
          <p:cNvSpPr/>
          <p:nvPr/>
        </p:nvSpPr>
        <p:spPr>
          <a:xfrm>
            <a:off x="444384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444384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Покупка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5523120" y="1078920"/>
            <a:ext cx="1051200" cy="346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552312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Онбординг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661104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661104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Использование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7689960" y="1078920"/>
            <a:ext cx="10512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Text 19"/>
          <p:cNvSpPr/>
          <p:nvPr/>
        </p:nvSpPr>
        <p:spPr>
          <a:xfrm>
            <a:off x="7689960" y="1078920"/>
            <a:ext cx="1051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Лояльность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365760" y="1481400"/>
            <a:ext cx="822240" cy="74916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0" name="Text 21"/>
          <p:cNvSpPr/>
          <p:nvPr/>
        </p:nvSpPr>
        <p:spPr>
          <a:xfrm>
            <a:off x="365760" y="1481400"/>
            <a:ext cx="822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Действия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2"/>
          <p:cNvSpPr/>
          <p:nvPr/>
        </p:nvSpPr>
        <p:spPr>
          <a:xfrm>
            <a:off x="118872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123444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4"/>
          <p:cNvSpPr/>
          <p:nvPr/>
        </p:nvSpPr>
        <p:spPr>
          <a:xfrm>
            <a:off x="227304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231876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335700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6" name="Text 27"/>
          <p:cNvSpPr/>
          <p:nvPr/>
        </p:nvSpPr>
        <p:spPr>
          <a:xfrm>
            <a:off x="340272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8"/>
          <p:cNvSpPr/>
          <p:nvPr/>
        </p:nvSpPr>
        <p:spPr>
          <a:xfrm>
            <a:off x="444132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8" name="Text 29"/>
          <p:cNvSpPr/>
          <p:nvPr/>
        </p:nvSpPr>
        <p:spPr>
          <a:xfrm>
            <a:off x="448704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0"/>
          <p:cNvSpPr/>
          <p:nvPr/>
        </p:nvSpPr>
        <p:spPr>
          <a:xfrm>
            <a:off x="552564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0" name="Text 31"/>
          <p:cNvSpPr/>
          <p:nvPr/>
        </p:nvSpPr>
        <p:spPr>
          <a:xfrm>
            <a:off x="557136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2"/>
          <p:cNvSpPr/>
          <p:nvPr/>
        </p:nvSpPr>
        <p:spPr>
          <a:xfrm>
            <a:off x="660996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2" name="Text 33"/>
          <p:cNvSpPr/>
          <p:nvPr/>
        </p:nvSpPr>
        <p:spPr>
          <a:xfrm>
            <a:off x="665568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4"/>
          <p:cNvSpPr/>
          <p:nvPr/>
        </p:nvSpPr>
        <p:spPr>
          <a:xfrm>
            <a:off x="7693920" y="1481400"/>
            <a:ext cx="1046880" cy="749160"/>
          </a:xfrm>
          <a:prstGeom prst="rect">
            <a:avLst/>
          </a:prstGeom>
          <a:solidFill>
            <a:srgbClr val="e8eaf6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4" name="Text 35"/>
          <p:cNvSpPr/>
          <p:nvPr/>
        </p:nvSpPr>
        <p:spPr>
          <a:xfrm>
            <a:off x="7739640" y="15271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36"/>
          <p:cNvSpPr/>
          <p:nvPr/>
        </p:nvSpPr>
        <p:spPr>
          <a:xfrm>
            <a:off x="365760" y="2286000"/>
            <a:ext cx="822240" cy="74916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6" name="Text 37"/>
          <p:cNvSpPr/>
          <p:nvPr/>
        </p:nvSpPr>
        <p:spPr>
          <a:xfrm>
            <a:off x="365760" y="2286000"/>
            <a:ext cx="822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Эмоции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8"/>
          <p:cNvSpPr/>
          <p:nvPr/>
        </p:nvSpPr>
        <p:spPr>
          <a:xfrm>
            <a:off x="118872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Text 39"/>
          <p:cNvSpPr/>
          <p:nvPr/>
        </p:nvSpPr>
        <p:spPr>
          <a:xfrm>
            <a:off x="123444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40"/>
          <p:cNvSpPr/>
          <p:nvPr/>
        </p:nvSpPr>
        <p:spPr>
          <a:xfrm>
            <a:off x="227304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0" name="Text 41"/>
          <p:cNvSpPr/>
          <p:nvPr/>
        </p:nvSpPr>
        <p:spPr>
          <a:xfrm>
            <a:off x="231876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42"/>
          <p:cNvSpPr/>
          <p:nvPr/>
        </p:nvSpPr>
        <p:spPr>
          <a:xfrm>
            <a:off x="335700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2" name="Text 43"/>
          <p:cNvSpPr/>
          <p:nvPr/>
        </p:nvSpPr>
        <p:spPr>
          <a:xfrm>
            <a:off x="340272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44"/>
          <p:cNvSpPr/>
          <p:nvPr/>
        </p:nvSpPr>
        <p:spPr>
          <a:xfrm>
            <a:off x="444132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4" name="Text 45"/>
          <p:cNvSpPr/>
          <p:nvPr/>
        </p:nvSpPr>
        <p:spPr>
          <a:xfrm>
            <a:off x="448704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46"/>
          <p:cNvSpPr/>
          <p:nvPr/>
        </p:nvSpPr>
        <p:spPr>
          <a:xfrm>
            <a:off x="552564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6" name="Text 47"/>
          <p:cNvSpPr/>
          <p:nvPr/>
        </p:nvSpPr>
        <p:spPr>
          <a:xfrm>
            <a:off x="557136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48"/>
          <p:cNvSpPr/>
          <p:nvPr/>
        </p:nvSpPr>
        <p:spPr>
          <a:xfrm>
            <a:off x="660996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8" name="Text 49"/>
          <p:cNvSpPr/>
          <p:nvPr/>
        </p:nvSpPr>
        <p:spPr>
          <a:xfrm>
            <a:off x="665568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50"/>
          <p:cNvSpPr/>
          <p:nvPr/>
        </p:nvSpPr>
        <p:spPr>
          <a:xfrm>
            <a:off x="7693920" y="2286000"/>
            <a:ext cx="1046880" cy="749160"/>
          </a:xfrm>
          <a:prstGeom prst="rect">
            <a:avLst/>
          </a:prstGeom>
          <a:solidFill>
            <a:srgbClr val="eef2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0" name="Text 51"/>
          <p:cNvSpPr/>
          <p:nvPr/>
        </p:nvSpPr>
        <p:spPr>
          <a:xfrm>
            <a:off x="7739640" y="23317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52"/>
          <p:cNvSpPr/>
          <p:nvPr/>
        </p:nvSpPr>
        <p:spPr>
          <a:xfrm>
            <a:off x="365760" y="3090600"/>
            <a:ext cx="822240" cy="74916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2" name="Text 53"/>
          <p:cNvSpPr/>
          <p:nvPr/>
        </p:nvSpPr>
        <p:spPr>
          <a:xfrm>
            <a:off x="365760" y="3090600"/>
            <a:ext cx="822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Боли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54"/>
          <p:cNvSpPr/>
          <p:nvPr/>
        </p:nvSpPr>
        <p:spPr>
          <a:xfrm>
            <a:off x="118872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4" name="Text 55"/>
          <p:cNvSpPr/>
          <p:nvPr/>
        </p:nvSpPr>
        <p:spPr>
          <a:xfrm>
            <a:off x="123444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56"/>
          <p:cNvSpPr/>
          <p:nvPr/>
        </p:nvSpPr>
        <p:spPr>
          <a:xfrm>
            <a:off x="227304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6" name="Text 57"/>
          <p:cNvSpPr/>
          <p:nvPr/>
        </p:nvSpPr>
        <p:spPr>
          <a:xfrm>
            <a:off x="231876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58"/>
          <p:cNvSpPr/>
          <p:nvPr/>
        </p:nvSpPr>
        <p:spPr>
          <a:xfrm>
            <a:off x="335700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8" name="Text 59"/>
          <p:cNvSpPr/>
          <p:nvPr/>
        </p:nvSpPr>
        <p:spPr>
          <a:xfrm>
            <a:off x="340272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60"/>
          <p:cNvSpPr/>
          <p:nvPr/>
        </p:nvSpPr>
        <p:spPr>
          <a:xfrm>
            <a:off x="444132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0" name="Text 61"/>
          <p:cNvSpPr/>
          <p:nvPr/>
        </p:nvSpPr>
        <p:spPr>
          <a:xfrm>
            <a:off x="448704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62"/>
          <p:cNvSpPr/>
          <p:nvPr/>
        </p:nvSpPr>
        <p:spPr>
          <a:xfrm>
            <a:off x="552564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2" name="Text 63"/>
          <p:cNvSpPr/>
          <p:nvPr/>
        </p:nvSpPr>
        <p:spPr>
          <a:xfrm>
            <a:off x="557136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64"/>
          <p:cNvSpPr/>
          <p:nvPr/>
        </p:nvSpPr>
        <p:spPr>
          <a:xfrm>
            <a:off x="660996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Text 65"/>
          <p:cNvSpPr/>
          <p:nvPr/>
        </p:nvSpPr>
        <p:spPr>
          <a:xfrm>
            <a:off x="665568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66"/>
          <p:cNvSpPr/>
          <p:nvPr/>
        </p:nvSpPr>
        <p:spPr>
          <a:xfrm>
            <a:off x="7693920" y="3090600"/>
            <a:ext cx="1046880" cy="74916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 67"/>
          <p:cNvSpPr/>
          <p:nvPr/>
        </p:nvSpPr>
        <p:spPr>
          <a:xfrm>
            <a:off x="7739640" y="31363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68"/>
          <p:cNvSpPr/>
          <p:nvPr/>
        </p:nvSpPr>
        <p:spPr>
          <a:xfrm>
            <a:off x="365760" y="3895200"/>
            <a:ext cx="822240" cy="74916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8" name="Text 69"/>
          <p:cNvSpPr/>
          <p:nvPr/>
        </p:nvSpPr>
        <p:spPr>
          <a:xfrm>
            <a:off x="365760" y="3895200"/>
            <a:ext cx="822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Возможн.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70"/>
          <p:cNvSpPr/>
          <p:nvPr/>
        </p:nvSpPr>
        <p:spPr>
          <a:xfrm>
            <a:off x="118872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0" name="Text 71"/>
          <p:cNvSpPr/>
          <p:nvPr/>
        </p:nvSpPr>
        <p:spPr>
          <a:xfrm>
            <a:off x="123444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72"/>
          <p:cNvSpPr/>
          <p:nvPr/>
        </p:nvSpPr>
        <p:spPr>
          <a:xfrm>
            <a:off x="227304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Text 73"/>
          <p:cNvSpPr/>
          <p:nvPr/>
        </p:nvSpPr>
        <p:spPr>
          <a:xfrm>
            <a:off x="231876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74"/>
          <p:cNvSpPr/>
          <p:nvPr/>
        </p:nvSpPr>
        <p:spPr>
          <a:xfrm>
            <a:off x="335700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4" name="Text 75"/>
          <p:cNvSpPr/>
          <p:nvPr/>
        </p:nvSpPr>
        <p:spPr>
          <a:xfrm>
            <a:off x="340272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76"/>
          <p:cNvSpPr/>
          <p:nvPr/>
        </p:nvSpPr>
        <p:spPr>
          <a:xfrm>
            <a:off x="444132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6" name="Text 77"/>
          <p:cNvSpPr/>
          <p:nvPr/>
        </p:nvSpPr>
        <p:spPr>
          <a:xfrm>
            <a:off x="448704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78"/>
          <p:cNvSpPr/>
          <p:nvPr/>
        </p:nvSpPr>
        <p:spPr>
          <a:xfrm>
            <a:off x="552564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8" name="Text 79"/>
          <p:cNvSpPr/>
          <p:nvPr/>
        </p:nvSpPr>
        <p:spPr>
          <a:xfrm>
            <a:off x="557136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80"/>
          <p:cNvSpPr/>
          <p:nvPr/>
        </p:nvSpPr>
        <p:spPr>
          <a:xfrm>
            <a:off x="660996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0" name="Text 81"/>
          <p:cNvSpPr/>
          <p:nvPr/>
        </p:nvSpPr>
        <p:spPr>
          <a:xfrm>
            <a:off x="665568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82"/>
          <p:cNvSpPr/>
          <p:nvPr/>
        </p:nvSpPr>
        <p:spPr>
          <a:xfrm>
            <a:off x="7693920" y="3895200"/>
            <a:ext cx="1046880" cy="749160"/>
          </a:xfrm>
          <a:prstGeom prst="rect">
            <a:avLst/>
          </a:prstGeom>
          <a:solidFill>
            <a:srgbClr val="f0fdf4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2" name="Text 83"/>
          <p:cNvSpPr/>
          <p:nvPr/>
        </p:nvSpPr>
        <p:spPr>
          <a:xfrm>
            <a:off x="7739640" y="3940920"/>
            <a:ext cx="95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[...]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Инсайты из интервью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ИССЛЕДОВАНИЕ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7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[интервью или суррогатные данные — отзывы, форумы; задача 9]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0d9488"/>
                </a:solidFill>
                <a:latin typeface="Calibri"/>
                <a:ea typeface="Calibri"/>
              </a:rPr>
              <a:t>ТОП-5 ПАТТЕРНОВ ИЗ STORY-BASED ИНТЕРВЬЮ (N РЕСПОНДЕНТОВ)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6"/>
          <p:cNvSpPr/>
          <p:nvPr/>
        </p:nvSpPr>
        <p:spPr>
          <a:xfrm>
            <a:off x="365760" y="1097280"/>
            <a:ext cx="776520" cy="62100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0" name="Text 7"/>
          <p:cNvSpPr/>
          <p:nvPr/>
        </p:nvSpPr>
        <p:spPr>
          <a:xfrm>
            <a:off x="365760" y="1097280"/>
            <a:ext cx="77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[N/M]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1234440" y="1097280"/>
            <a:ext cx="6674400" cy="62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2" name="Text 9"/>
          <p:cNvSpPr/>
          <p:nvPr/>
        </p:nvSpPr>
        <p:spPr>
          <a:xfrm>
            <a:off x="1234440" y="1152000"/>
            <a:ext cx="913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94" strike="noStrike">
                <a:solidFill>
                  <a:srgbClr val="f5939e"/>
                </a:solidFill>
                <a:latin typeface="Calibri"/>
                <a:ea typeface="Calibri"/>
              </a:rPr>
              <a:t>БОЛЬ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10"/>
          <p:cNvSpPr/>
          <p:nvPr/>
        </p:nvSpPr>
        <p:spPr>
          <a:xfrm>
            <a:off x="1234440" y="1353240"/>
            <a:ext cx="662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[Паттерн 1: что респонденты делают или чувствуют]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1"/>
          <p:cNvSpPr/>
          <p:nvPr/>
        </p:nvSpPr>
        <p:spPr>
          <a:xfrm>
            <a:off x="365760" y="1856160"/>
            <a:ext cx="776520" cy="621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5" name="Text 12"/>
          <p:cNvSpPr/>
          <p:nvPr/>
        </p:nvSpPr>
        <p:spPr>
          <a:xfrm>
            <a:off x="365760" y="1856160"/>
            <a:ext cx="77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[N/M]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3"/>
          <p:cNvSpPr/>
          <p:nvPr/>
        </p:nvSpPr>
        <p:spPr>
          <a:xfrm>
            <a:off x="1234440" y="1856160"/>
            <a:ext cx="6674400" cy="62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7" name="Text 14"/>
          <p:cNvSpPr/>
          <p:nvPr/>
        </p:nvSpPr>
        <p:spPr>
          <a:xfrm>
            <a:off x="1234440" y="1911240"/>
            <a:ext cx="913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94" strike="noStrike">
                <a:solidFill>
                  <a:srgbClr val="0d9488"/>
                </a:solidFill>
                <a:latin typeface="Calibri"/>
                <a:ea typeface="Calibri"/>
              </a:rPr>
              <a:t>JOB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5"/>
          <p:cNvSpPr/>
          <p:nvPr/>
        </p:nvSpPr>
        <p:spPr>
          <a:xfrm>
            <a:off x="1234440" y="2112120"/>
            <a:ext cx="662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[Паттерн 2: что респонденты делают или чувствуют]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6"/>
          <p:cNvSpPr/>
          <p:nvPr/>
        </p:nvSpPr>
        <p:spPr>
          <a:xfrm>
            <a:off x="365760" y="2615040"/>
            <a:ext cx="776520" cy="62100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0" name="Text 17"/>
          <p:cNvSpPr/>
          <p:nvPr/>
        </p:nvSpPr>
        <p:spPr>
          <a:xfrm>
            <a:off x="365760" y="2615040"/>
            <a:ext cx="77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[N/M]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18"/>
          <p:cNvSpPr/>
          <p:nvPr/>
        </p:nvSpPr>
        <p:spPr>
          <a:xfrm>
            <a:off x="1234440" y="2615040"/>
            <a:ext cx="6674400" cy="62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2" name="Text 19"/>
          <p:cNvSpPr/>
          <p:nvPr/>
        </p:nvSpPr>
        <p:spPr>
          <a:xfrm>
            <a:off x="1234440" y="2670120"/>
            <a:ext cx="913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94" strike="noStrike">
                <a:solidFill>
                  <a:srgbClr val="f5939e"/>
                </a:solidFill>
                <a:latin typeface="Calibri"/>
                <a:ea typeface="Calibri"/>
              </a:rPr>
              <a:t>БОЛЬ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20"/>
          <p:cNvSpPr/>
          <p:nvPr/>
        </p:nvSpPr>
        <p:spPr>
          <a:xfrm>
            <a:off x="1234440" y="2871360"/>
            <a:ext cx="662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[Паттерн 3: что респонденты делают или чувствуют]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1"/>
          <p:cNvSpPr/>
          <p:nvPr/>
        </p:nvSpPr>
        <p:spPr>
          <a:xfrm>
            <a:off x="365760" y="3374280"/>
            <a:ext cx="776520" cy="621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5" name="Text 22"/>
          <p:cNvSpPr/>
          <p:nvPr/>
        </p:nvSpPr>
        <p:spPr>
          <a:xfrm>
            <a:off x="365760" y="3374280"/>
            <a:ext cx="77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[N/M]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3"/>
          <p:cNvSpPr/>
          <p:nvPr/>
        </p:nvSpPr>
        <p:spPr>
          <a:xfrm>
            <a:off x="1234440" y="3374280"/>
            <a:ext cx="6674400" cy="62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7" name="Text 24"/>
          <p:cNvSpPr/>
          <p:nvPr/>
        </p:nvSpPr>
        <p:spPr>
          <a:xfrm>
            <a:off x="1234440" y="3429000"/>
            <a:ext cx="913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94" strike="noStrike">
                <a:solidFill>
                  <a:srgbClr val="0d9488"/>
                </a:solidFill>
                <a:latin typeface="Calibri"/>
                <a:ea typeface="Calibri"/>
              </a:rPr>
              <a:t>JOB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5"/>
          <p:cNvSpPr/>
          <p:nvPr/>
        </p:nvSpPr>
        <p:spPr>
          <a:xfrm>
            <a:off x="1234440" y="3630240"/>
            <a:ext cx="662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[Паттерн 4: что респонденты делают или чувствуют]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6"/>
          <p:cNvSpPr/>
          <p:nvPr/>
        </p:nvSpPr>
        <p:spPr>
          <a:xfrm>
            <a:off x="365760" y="4133160"/>
            <a:ext cx="776520" cy="621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0" name="Text 27"/>
          <p:cNvSpPr/>
          <p:nvPr/>
        </p:nvSpPr>
        <p:spPr>
          <a:xfrm>
            <a:off x="365760" y="4133160"/>
            <a:ext cx="77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[N/M]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28"/>
          <p:cNvSpPr/>
          <p:nvPr/>
        </p:nvSpPr>
        <p:spPr>
          <a:xfrm>
            <a:off x="1234440" y="4133160"/>
            <a:ext cx="6674400" cy="62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2" name="Text 29"/>
          <p:cNvSpPr/>
          <p:nvPr/>
        </p:nvSpPr>
        <p:spPr>
          <a:xfrm>
            <a:off x="1234440" y="4187880"/>
            <a:ext cx="913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94" strike="noStrike">
                <a:solidFill>
                  <a:srgbClr val="457e4a"/>
                </a:solidFill>
                <a:latin typeface="Calibri"/>
                <a:ea typeface="Calibri"/>
              </a:rPr>
              <a:t>ИНСАЙТ</a:t>
            </a:r>
            <a:endParaRPr b="0" lang="en-US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30"/>
          <p:cNvSpPr/>
          <p:nvPr/>
        </p:nvSpPr>
        <p:spPr>
          <a:xfrm>
            <a:off x="1234440" y="4389120"/>
            <a:ext cx="66286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[Паттерн 5: что респонденты делают или чувствуют]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5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Opportunity Score — незакрытые потребности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ИССЛЕДОВАНИЕ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Opportunity Score (Ulwick); задачи 7, 17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0d9488"/>
                </a:solidFill>
                <a:latin typeface="Calibri"/>
                <a:ea typeface="Calibri"/>
              </a:rPr>
              <a:t>OPPORTUNITY SCORE = ВАЖНОСТЬ + max(ВАЖНОСТЬ − УДОВЛЕТВОРЁННОСТЬ, 0)  |  Приоритет: OS ≥ 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6"/>
          <p:cNvSpPr/>
          <p:nvPr/>
        </p:nvSpPr>
        <p:spPr>
          <a:xfrm>
            <a:off x="365760" y="1051560"/>
            <a:ext cx="411408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1" name="Text 7"/>
          <p:cNvSpPr/>
          <p:nvPr/>
        </p:nvSpPr>
        <p:spPr>
          <a:xfrm>
            <a:off x="365760" y="105156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Outcome (результат из Job Map)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8"/>
          <p:cNvSpPr/>
          <p:nvPr/>
        </p:nvSpPr>
        <p:spPr>
          <a:xfrm>
            <a:off x="4517280" y="1051560"/>
            <a:ext cx="11880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3" name="Text 9"/>
          <p:cNvSpPr/>
          <p:nvPr/>
        </p:nvSpPr>
        <p:spPr>
          <a:xfrm>
            <a:off x="4517280" y="105156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Важность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0"/>
          <p:cNvSpPr/>
          <p:nvPr/>
        </p:nvSpPr>
        <p:spPr>
          <a:xfrm>
            <a:off x="5742360" y="1051560"/>
            <a:ext cx="118800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5" name="Text 11"/>
          <p:cNvSpPr/>
          <p:nvPr/>
        </p:nvSpPr>
        <p:spPr>
          <a:xfrm>
            <a:off x="5742360" y="105156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Удовл.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2"/>
          <p:cNvSpPr/>
          <p:nvPr/>
        </p:nvSpPr>
        <p:spPr>
          <a:xfrm>
            <a:off x="6967800" y="1051560"/>
            <a:ext cx="91368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7" name="Text 13"/>
          <p:cNvSpPr/>
          <p:nvPr/>
        </p:nvSpPr>
        <p:spPr>
          <a:xfrm>
            <a:off x="6967800" y="1051560"/>
            <a:ext cx="913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OS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14"/>
          <p:cNvSpPr/>
          <p:nvPr/>
        </p:nvSpPr>
        <p:spPr>
          <a:xfrm>
            <a:off x="7918560" y="1051560"/>
            <a:ext cx="1005120" cy="3466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9" name="Text 15"/>
          <p:cNvSpPr/>
          <p:nvPr/>
        </p:nvSpPr>
        <p:spPr>
          <a:xfrm>
            <a:off x="7918560" y="1051560"/>
            <a:ext cx="1005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Приоритет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6"/>
          <p:cNvSpPr/>
          <p:nvPr/>
        </p:nvSpPr>
        <p:spPr>
          <a:xfrm>
            <a:off x="365760" y="1444680"/>
            <a:ext cx="411408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1" name="Text 17"/>
          <p:cNvSpPr/>
          <p:nvPr/>
        </p:nvSpPr>
        <p:spPr>
          <a:xfrm>
            <a:off x="365760" y="1444680"/>
            <a:ext cx="4114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[Outcome 1 из Job Map]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8"/>
          <p:cNvSpPr/>
          <p:nvPr/>
        </p:nvSpPr>
        <p:spPr>
          <a:xfrm>
            <a:off x="4517280" y="144468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3" name="Text 19"/>
          <p:cNvSpPr/>
          <p:nvPr/>
        </p:nvSpPr>
        <p:spPr>
          <a:xfrm>
            <a:off x="4517280" y="144468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20"/>
          <p:cNvSpPr/>
          <p:nvPr/>
        </p:nvSpPr>
        <p:spPr>
          <a:xfrm>
            <a:off x="5742360" y="144468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5" name="Text 21"/>
          <p:cNvSpPr/>
          <p:nvPr/>
        </p:nvSpPr>
        <p:spPr>
          <a:xfrm>
            <a:off x="5742360" y="144468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22"/>
          <p:cNvSpPr/>
          <p:nvPr/>
        </p:nvSpPr>
        <p:spPr>
          <a:xfrm>
            <a:off x="6967800" y="1444680"/>
            <a:ext cx="913680" cy="621000"/>
          </a:xfrm>
          <a:prstGeom prst="rect">
            <a:avLst/>
          </a:prstGeom>
          <a:solidFill>
            <a:srgbClr val="fff1f2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7" name="Text 23"/>
          <p:cNvSpPr/>
          <p:nvPr/>
        </p:nvSpPr>
        <p:spPr>
          <a:xfrm>
            <a:off x="6967800" y="1444680"/>
            <a:ext cx="913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939e"/>
                </a:solidFill>
                <a:latin typeface="Calibri"/>
                <a:ea typeface="Calibri"/>
              </a:rPr>
              <a:t>15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4"/>
          <p:cNvSpPr/>
          <p:nvPr/>
        </p:nvSpPr>
        <p:spPr>
          <a:xfrm>
            <a:off x="7918560" y="1444680"/>
            <a:ext cx="100512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9" name="Text 25"/>
          <p:cNvSpPr/>
          <p:nvPr/>
        </p:nvSpPr>
        <p:spPr>
          <a:xfrm>
            <a:off x="7918560" y="1444680"/>
            <a:ext cx="10051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🔴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Критич.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26"/>
          <p:cNvSpPr/>
          <p:nvPr/>
        </p:nvSpPr>
        <p:spPr>
          <a:xfrm>
            <a:off x="365760" y="2121480"/>
            <a:ext cx="411408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1" name="Text 27"/>
          <p:cNvSpPr/>
          <p:nvPr/>
        </p:nvSpPr>
        <p:spPr>
          <a:xfrm>
            <a:off x="365760" y="2121480"/>
            <a:ext cx="4114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[Outcome 2 из Job Map]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8"/>
          <p:cNvSpPr/>
          <p:nvPr/>
        </p:nvSpPr>
        <p:spPr>
          <a:xfrm>
            <a:off x="4517280" y="2121480"/>
            <a:ext cx="118800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3" name="Text 29"/>
          <p:cNvSpPr/>
          <p:nvPr/>
        </p:nvSpPr>
        <p:spPr>
          <a:xfrm>
            <a:off x="4517280" y="212148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8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30"/>
          <p:cNvSpPr/>
          <p:nvPr/>
        </p:nvSpPr>
        <p:spPr>
          <a:xfrm>
            <a:off x="5742360" y="2121480"/>
            <a:ext cx="118800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5" name="Text 31"/>
          <p:cNvSpPr/>
          <p:nvPr/>
        </p:nvSpPr>
        <p:spPr>
          <a:xfrm>
            <a:off x="5742360" y="212148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32"/>
          <p:cNvSpPr/>
          <p:nvPr/>
        </p:nvSpPr>
        <p:spPr>
          <a:xfrm>
            <a:off x="6967800" y="2121480"/>
            <a:ext cx="91368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7" name="Text 33"/>
          <p:cNvSpPr/>
          <p:nvPr/>
        </p:nvSpPr>
        <p:spPr>
          <a:xfrm>
            <a:off x="6967800" y="2121480"/>
            <a:ext cx="913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d97706"/>
                </a:solidFill>
                <a:latin typeface="Calibri"/>
                <a:ea typeface="Calibri"/>
              </a:rPr>
              <a:t>12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34"/>
          <p:cNvSpPr/>
          <p:nvPr/>
        </p:nvSpPr>
        <p:spPr>
          <a:xfrm>
            <a:off x="7918560" y="2121480"/>
            <a:ext cx="100512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9" name="Text 35"/>
          <p:cNvSpPr/>
          <p:nvPr/>
        </p:nvSpPr>
        <p:spPr>
          <a:xfrm>
            <a:off x="7918560" y="2121480"/>
            <a:ext cx="10051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🟠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Высокий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36"/>
          <p:cNvSpPr/>
          <p:nvPr/>
        </p:nvSpPr>
        <p:spPr>
          <a:xfrm>
            <a:off x="365760" y="2797920"/>
            <a:ext cx="411408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1" name="Text 37"/>
          <p:cNvSpPr/>
          <p:nvPr/>
        </p:nvSpPr>
        <p:spPr>
          <a:xfrm>
            <a:off x="365760" y="2797920"/>
            <a:ext cx="4114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[Outcome 3 из Job Map]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38"/>
          <p:cNvSpPr/>
          <p:nvPr/>
        </p:nvSpPr>
        <p:spPr>
          <a:xfrm>
            <a:off x="4517280" y="279792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3" name="Text 39"/>
          <p:cNvSpPr/>
          <p:nvPr/>
        </p:nvSpPr>
        <p:spPr>
          <a:xfrm>
            <a:off x="4517280" y="27979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7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40"/>
          <p:cNvSpPr/>
          <p:nvPr/>
        </p:nvSpPr>
        <p:spPr>
          <a:xfrm>
            <a:off x="5742360" y="279792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5" name="Text 41"/>
          <p:cNvSpPr/>
          <p:nvPr/>
        </p:nvSpPr>
        <p:spPr>
          <a:xfrm>
            <a:off x="5742360" y="27979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42"/>
          <p:cNvSpPr/>
          <p:nvPr/>
        </p:nvSpPr>
        <p:spPr>
          <a:xfrm>
            <a:off x="6967800" y="2797920"/>
            <a:ext cx="91368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7" name="Text 43"/>
          <p:cNvSpPr/>
          <p:nvPr/>
        </p:nvSpPr>
        <p:spPr>
          <a:xfrm>
            <a:off x="6967800" y="2797920"/>
            <a:ext cx="913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457e4a"/>
                </a:solidFill>
                <a:latin typeface="Calibri"/>
                <a:ea typeface="Calibri"/>
              </a:rPr>
              <a:t>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44"/>
          <p:cNvSpPr/>
          <p:nvPr/>
        </p:nvSpPr>
        <p:spPr>
          <a:xfrm>
            <a:off x="7918560" y="2797920"/>
            <a:ext cx="100512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9" name="Text 45"/>
          <p:cNvSpPr/>
          <p:nvPr/>
        </p:nvSpPr>
        <p:spPr>
          <a:xfrm>
            <a:off x="7918560" y="2797920"/>
            <a:ext cx="10051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🟡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Средний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46"/>
          <p:cNvSpPr/>
          <p:nvPr/>
        </p:nvSpPr>
        <p:spPr>
          <a:xfrm>
            <a:off x="365760" y="3474720"/>
            <a:ext cx="411408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1" name="Text 47"/>
          <p:cNvSpPr/>
          <p:nvPr/>
        </p:nvSpPr>
        <p:spPr>
          <a:xfrm>
            <a:off x="365760" y="3474720"/>
            <a:ext cx="4114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[Outcome 4 из Job Map]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48"/>
          <p:cNvSpPr/>
          <p:nvPr/>
        </p:nvSpPr>
        <p:spPr>
          <a:xfrm>
            <a:off x="4517280" y="3474720"/>
            <a:ext cx="118800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3" name="Text 49"/>
          <p:cNvSpPr/>
          <p:nvPr/>
        </p:nvSpPr>
        <p:spPr>
          <a:xfrm>
            <a:off x="4517280" y="34747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50"/>
          <p:cNvSpPr/>
          <p:nvPr/>
        </p:nvSpPr>
        <p:spPr>
          <a:xfrm>
            <a:off x="5742360" y="3474720"/>
            <a:ext cx="118800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5" name="Text 51"/>
          <p:cNvSpPr/>
          <p:nvPr/>
        </p:nvSpPr>
        <p:spPr>
          <a:xfrm>
            <a:off x="5742360" y="34747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7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52"/>
          <p:cNvSpPr/>
          <p:nvPr/>
        </p:nvSpPr>
        <p:spPr>
          <a:xfrm>
            <a:off x="6967800" y="3474720"/>
            <a:ext cx="91368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7" name="Text 53"/>
          <p:cNvSpPr/>
          <p:nvPr/>
        </p:nvSpPr>
        <p:spPr>
          <a:xfrm>
            <a:off x="6967800" y="3474720"/>
            <a:ext cx="913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d97706"/>
                </a:solidFill>
                <a:latin typeface="Calibri"/>
                <a:ea typeface="Calibri"/>
              </a:rPr>
              <a:t>11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54"/>
          <p:cNvSpPr/>
          <p:nvPr/>
        </p:nvSpPr>
        <p:spPr>
          <a:xfrm>
            <a:off x="7918560" y="3474720"/>
            <a:ext cx="1005120" cy="621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9" name="Text 55"/>
          <p:cNvSpPr/>
          <p:nvPr/>
        </p:nvSpPr>
        <p:spPr>
          <a:xfrm>
            <a:off x="7918560" y="3474720"/>
            <a:ext cx="10051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🟠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Высокий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56"/>
          <p:cNvSpPr/>
          <p:nvPr/>
        </p:nvSpPr>
        <p:spPr>
          <a:xfrm>
            <a:off x="365760" y="4151520"/>
            <a:ext cx="411408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1" name="Text 57"/>
          <p:cNvSpPr/>
          <p:nvPr/>
        </p:nvSpPr>
        <p:spPr>
          <a:xfrm>
            <a:off x="365760" y="4151520"/>
            <a:ext cx="41140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[Outcome 5 из Job Map]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58"/>
          <p:cNvSpPr/>
          <p:nvPr/>
        </p:nvSpPr>
        <p:spPr>
          <a:xfrm>
            <a:off x="4517280" y="415152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3" name="Text 59"/>
          <p:cNvSpPr/>
          <p:nvPr/>
        </p:nvSpPr>
        <p:spPr>
          <a:xfrm>
            <a:off x="4517280" y="41515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60"/>
          <p:cNvSpPr/>
          <p:nvPr/>
        </p:nvSpPr>
        <p:spPr>
          <a:xfrm>
            <a:off x="5742360" y="4151520"/>
            <a:ext cx="118800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5" name="Text 61"/>
          <p:cNvSpPr/>
          <p:nvPr/>
        </p:nvSpPr>
        <p:spPr>
          <a:xfrm>
            <a:off x="5742360" y="4151520"/>
            <a:ext cx="118800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62"/>
          <p:cNvSpPr/>
          <p:nvPr/>
        </p:nvSpPr>
        <p:spPr>
          <a:xfrm>
            <a:off x="6967800" y="4151520"/>
            <a:ext cx="91368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7" name="Text 63"/>
          <p:cNvSpPr/>
          <p:nvPr/>
        </p:nvSpPr>
        <p:spPr>
          <a:xfrm>
            <a:off x="6967800" y="4151520"/>
            <a:ext cx="913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457e4a"/>
                </a:solidFill>
                <a:latin typeface="Calibri"/>
                <a:ea typeface="Calibri"/>
              </a:rPr>
              <a:t>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64"/>
          <p:cNvSpPr/>
          <p:nvPr/>
        </p:nvSpPr>
        <p:spPr>
          <a:xfrm>
            <a:off x="7918560" y="4151520"/>
            <a:ext cx="1005120" cy="6210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9" name="Text 65"/>
          <p:cNvSpPr/>
          <p:nvPr/>
        </p:nvSpPr>
        <p:spPr>
          <a:xfrm>
            <a:off x="7918560" y="4151520"/>
            <a:ext cx="10051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🟢 </a:t>
            </a: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Низкий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66"/>
          <p:cNvSpPr/>
          <p:nvPr/>
        </p:nvSpPr>
        <p:spPr>
          <a:xfrm>
            <a:off x="365760" y="4590360"/>
            <a:ext cx="8411760" cy="273600"/>
          </a:xfrm>
          <a:prstGeom prst="rect">
            <a:avLst/>
          </a:prstGeom>
          <a:solidFill>
            <a:srgbClr val="fff1f2"/>
          </a:solidFill>
          <a:ln w="635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1" name="Text 67"/>
          <p:cNvSpPr/>
          <p:nvPr/>
        </p:nvSpPr>
        <p:spPr>
          <a:xfrm>
            <a:off x="457200" y="45903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5939e"/>
                </a:solidFill>
                <a:latin typeface="Calibri"/>
                <a:ea typeface="Calibri"/>
              </a:rPr>
              <a:t>🔴 </a:t>
            </a:r>
            <a:r>
              <a:rPr b="1" lang="en-US" sz="900" spc="-1" strike="noStrike">
                <a:solidFill>
                  <a:srgbClr val="f5939e"/>
                </a:solidFill>
                <a:latin typeface="Calibri"/>
                <a:ea typeface="Calibri"/>
              </a:rPr>
              <a:t>[Outcome с наивысшим OS] — критически незакрытая потребность → приоритетная возможность для OST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3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Сегменты / персоны потребителей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ИССЛЕДОВАНИЕ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ubtitle"/>
          <p:cNvSpPr/>
          <p:nvPr/>
        </p:nvSpPr>
        <p:spPr>
          <a:xfrm>
            <a:off x="365760" y="868680"/>
            <a:ext cx="8412120" cy="36540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Карточки персон из задачи 7 — главная ЦА и вторичные сегменты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PersonaHead0"/>
          <p:cNvSpPr/>
          <p:nvPr/>
        </p:nvSpPr>
        <p:spPr>
          <a:xfrm>
            <a:off x="365760" y="1280160"/>
            <a:ext cx="2706120" cy="502560"/>
          </a:xfrm>
          <a:prstGeom prst="rect">
            <a:avLst/>
          </a:prstGeom>
          <a:solidFill>
            <a:srgbClr val="94a3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[ИМЯ ПЕРСОНЫ 1]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[Возраст]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ersonaBody0"/>
          <p:cNvSpPr/>
          <p:nvPr/>
        </p:nvSpPr>
        <p:spPr>
          <a:xfrm>
            <a:off x="365760" y="1783080"/>
            <a:ext cx="270612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КОНТЕКСТ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Доход: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[X ₽/мес]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Город: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[Город]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Роль: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[Должность, ситуация]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JOBS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1]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2]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3]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e57373"/>
                </a:solidFill>
                <a:latin typeface="Arial"/>
              </a:rPr>
              <a:t>БОЛЬ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[Топ-1 боль из Job Map]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ersonaFoot0"/>
          <p:cNvSpPr/>
          <p:nvPr/>
        </p:nvSpPr>
        <p:spPr>
          <a:xfrm>
            <a:off x="365760" y="4343400"/>
            <a:ext cx="2706120" cy="45684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54720" bIns="54720" anchor="t">
            <a:noAutofit/>
          </a:bodyPr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«[Ключевая цитата из интервью]»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OS=[X]  |  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PersonaHead1"/>
          <p:cNvSpPr/>
          <p:nvPr/>
        </p:nvSpPr>
        <p:spPr>
          <a:xfrm>
            <a:off x="3127320" y="1280160"/>
            <a:ext cx="2706120" cy="502560"/>
          </a:xfrm>
          <a:prstGeom prst="rect">
            <a:avLst/>
          </a:prstGeom>
          <a:solidFill>
            <a:srgbClr val="6b7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[ИМЯ ПЕРСОНЫ 2]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[Возраст]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PersonaBody1"/>
          <p:cNvSpPr/>
          <p:nvPr/>
        </p:nvSpPr>
        <p:spPr>
          <a:xfrm>
            <a:off x="3127320" y="1783080"/>
            <a:ext cx="270612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КОНТЕКСТ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Доход: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[X ₽/мес]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Город: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[Город]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Роль: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[Должность, ситуация]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JOBS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1]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2]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3]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e57373"/>
                </a:solidFill>
                <a:latin typeface="Arial"/>
              </a:rPr>
              <a:t>БОЛЬ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[Топ-1 боль из Job Map]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ersonaFoot1"/>
          <p:cNvSpPr/>
          <p:nvPr/>
        </p:nvSpPr>
        <p:spPr>
          <a:xfrm>
            <a:off x="3127320" y="4343400"/>
            <a:ext cx="2706120" cy="45684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54720" bIns="54720" anchor="t">
            <a:noAutofit/>
          </a:bodyPr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«[Ключевая цитата из интервью]»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OS=[X]  |  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PersonaHead2"/>
          <p:cNvSpPr/>
          <p:nvPr/>
        </p:nvSpPr>
        <p:spPr>
          <a:xfrm>
            <a:off x="5888880" y="1280160"/>
            <a:ext cx="2706120" cy="502560"/>
          </a:xfrm>
          <a:prstGeom prst="rect">
            <a:avLst/>
          </a:prstGeom>
          <a:solidFill>
            <a:srgbClr val="b8c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[ИМЯ ПЕРСОНЫ 3]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[Возраст]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ersonaBody2"/>
          <p:cNvSpPr/>
          <p:nvPr/>
        </p:nvSpPr>
        <p:spPr>
          <a:xfrm>
            <a:off x="5888880" y="1783080"/>
            <a:ext cx="2706120" cy="255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КОНТЕКСТ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Доход: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[X ₽/мес]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Город: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[Город]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64748b"/>
                </a:solidFill>
                <a:latin typeface="Arial"/>
              </a:rPr>
              <a:t>Роль: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[Должность, ситуация]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JOBS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1]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2]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•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[Job 3]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e57373"/>
                </a:solidFill>
                <a:latin typeface="Arial"/>
              </a:rPr>
              <a:t>БОЛЬ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[Топ-1 боль из Job Map]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ersonaFoot2"/>
          <p:cNvSpPr/>
          <p:nvPr/>
        </p:nvSpPr>
        <p:spPr>
          <a:xfrm>
            <a:off x="5888880" y="4343400"/>
            <a:ext cx="2706120" cy="45684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54720" bIns="54720" anchor="t">
            <a:noAutofit/>
          </a:bodyPr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«[Ключевая цитата из интервью]»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OS=[X]  |  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6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8" name="Text 1"/>
          <p:cNvSpPr/>
          <p:nvPr/>
        </p:nvSpPr>
        <p:spPr>
          <a:xfrm>
            <a:off x="548640" y="1737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457e4a"/>
                </a:solidFill>
                <a:latin typeface="Calibri"/>
                <a:ea typeface="Calibri"/>
              </a:rPr>
              <a:t>РАЗДЕЛ 03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2"/>
          <p:cNvSpPr/>
          <p:nvPr/>
        </p:nvSpPr>
        <p:spPr>
          <a:xfrm>
            <a:off x="548640" y="214884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Текущий стратегический сценарий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1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Цели компании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4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задача 12; финансовая модель (базовый сценарий)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5"/>
          <p:cNvSpPr/>
          <p:nvPr/>
        </p:nvSpPr>
        <p:spPr>
          <a:xfrm>
            <a:off x="36576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6" name="Shape 6"/>
          <p:cNvSpPr/>
          <p:nvPr/>
        </p:nvSpPr>
        <p:spPr>
          <a:xfrm>
            <a:off x="36576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7" name="Text 7"/>
          <p:cNvSpPr/>
          <p:nvPr/>
        </p:nvSpPr>
        <p:spPr>
          <a:xfrm>
            <a:off x="36576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[N]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8"/>
          <p:cNvSpPr/>
          <p:nvPr/>
        </p:nvSpPr>
        <p:spPr>
          <a:xfrm>
            <a:off x="36576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Лет до окупаемости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9"/>
          <p:cNvSpPr/>
          <p:nvPr/>
        </p:nvSpPr>
        <p:spPr>
          <a:xfrm>
            <a:off x="329184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0" name="Shape 10"/>
          <p:cNvSpPr/>
          <p:nvPr/>
        </p:nvSpPr>
        <p:spPr>
          <a:xfrm>
            <a:off x="3291840" y="868680"/>
            <a:ext cx="255960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1" name="Text 11"/>
          <p:cNvSpPr/>
          <p:nvPr/>
        </p:nvSpPr>
        <p:spPr>
          <a:xfrm>
            <a:off x="329184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57e4a"/>
                </a:solidFill>
                <a:latin typeface="Calibri"/>
                <a:ea typeface="Calibri"/>
              </a:rPr>
              <a:t>[X млн ₽]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12"/>
          <p:cNvSpPr/>
          <p:nvPr/>
        </p:nvSpPr>
        <p:spPr>
          <a:xfrm>
            <a:off x="329184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Цель выручки (Y1)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3"/>
          <p:cNvSpPr/>
          <p:nvPr/>
        </p:nvSpPr>
        <p:spPr>
          <a:xfrm>
            <a:off x="621792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4" name="Shape 14"/>
          <p:cNvSpPr/>
          <p:nvPr/>
        </p:nvSpPr>
        <p:spPr>
          <a:xfrm>
            <a:off x="621792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5" name="Text 15"/>
          <p:cNvSpPr/>
          <p:nvPr/>
        </p:nvSpPr>
        <p:spPr>
          <a:xfrm>
            <a:off x="621792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[Y%]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16"/>
          <p:cNvSpPr/>
          <p:nvPr/>
        </p:nvSpPr>
        <p:spPr>
          <a:xfrm>
            <a:off x="621792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Целевая доля рынка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7"/>
          <p:cNvSpPr/>
          <p:nvPr/>
        </p:nvSpPr>
        <p:spPr>
          <a:xfrm>
            <a:off x="365760" y="2377440"/>
            <a:ext cx="8411760" cy="233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8" name="Shape 18"/>
          <p:cNvSpPr/>
          <p:nvPr/>
        </p:nvSpPr>
        <p:spPr>
          <a:xfrm>
            <a:off x="365760" y="2377440"/>
            <a:ext cx="841176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9" name="Text 19"/>
          <p:cNvSpPr/>
          <p:nvPr/>
        </p:nvSpPr>
        <p:spPr>
          <a:xfrm>
            <a:off x="502920" y="246888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Стратегические цели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20"/>
          <p:cNvSpPr/>
          <p:nvPr/>
        </p:nvSpPr>
        <p:spPr>
          <a:xfrm>
            <a:off x="475560" y="2834640"/>
            <a:ext cx="819216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Цель 1 (6–12 мес.): [измеримая цель с цифрой и сроком]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Цель 2 (1–2 года): [измеримая цель с цифрой и сроком]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Цель 3 (3–5 лет): [измеримая цель с цифрой и сроком]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KPI: [ключевые метрики, по которым отслеживается прогресс]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Lean Canvas / BMC — бизнес-модель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5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64748b"/>
                </a:solidFill>
                <a:latin typeface="Calibri"/>
                <a:ea typeface="Calibri"/>
              </a:rPr>
              <a:t>LEAN CANVAS / BMC — 9 БЛОКОВ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6"/>
          <p:cNvSpPr/>
          <p:nvPr/>
        </p:nvSpPr>
        <p:spPr>
          <a:xfrm>
            <a:off x="365760" y="960120"/>
            <a:ext cx="1553760" cy="4111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8" name="Text 7"/>
          <p:cNvSpPr/>
          <p:nvPr/>
        </p:nvSpPr>
        <p:spPr>
          <a:xfrm>
            <a:off x="365760" y="960120"/>
            <a:ext cx="155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1. Проблема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8"/>
          <p:cNvSpPr/>
          <p:nvPr/>
        </p:nvSpPr>
        <p:spPr>
          <a:xfrm>
            <a:off x="365760" y="1389960"/>
            <a:ext cx="1553760" cy="11426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750" spc="-1" strike="noStrike">
                <a:solidFill>
                  <a:srgbClr val="0f1020"/>
                </a:solidFill>
                <a:latin typeface="Calibri"/>
                <a:ea typeface="Calibri"/>
              </a:rPr>
              <a:t>[Топ-3 проблемы целевых клиентов]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9"/>
          <p:cNvSpPr/>
          <p:nvPr/>
        </p:nvSpPr>
        <p:spPr>
          <a:xfrm>
            <a:off x="1974960" y="960120"/>
            <a:ext cx="1553760" cy="4111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1" name="Text 10"/>
          <p:cNvSpPr/>
          <p:nvPr/>
        </p:nvSpPr>
        <p:spPr>
          <a:xfrm>
            <a:off x="1974960" y="960120"/>
            <a:ext cx="155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2. Сегменты (ранние последователи)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11"/>
          <p:cNvSpPr/>
          <p:nvPr/>
        </p:nvSpPr>
        <p:spPr>
          <a:xfrm>
            <a:off x="1974960" y="1389960"/>
            <a:ext cx="1553760" cy="11426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f1020"/>
                </a:solidFill>
                <a:latin typeface="Calibri"/>
                <a:ea typeface="Calibri"/>
              </a:rPr>
              <a:t>[Кто они? Демография, поведение, ситуация]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12"/>
          <p:cNvSpPr/>
          <p:nvPr/>
        </p:nvSpPr>
        <p:spPr>
          <a:xfrm>
            <a:off x="3584520" y="960120"/>
            <a:ext cx="1553760" cy="4111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4" name="Text 13"/>
          <p:cNvSpPr/>
          <p:nvPr/>
        </p:nvSpPr>
        <p:spPr>
          <a:xfrm>
            <a:off x="3584520" y="960120"/>
            <a:ext cx="155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3. Уникальное ЦП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14"/>
          <p:cNvSpPr/>
          <p:nvPr/>
        </p:nvSpPr>
        <p:spPr>
          <a:xfrm>
            <a:off x="3584520" y="1389960"/>
            <a:ext cx="1553760" cy="11426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f1020"/>
                </a:solidFill>
                <a:latin typeface="Calibri"/>
                <a:ea typeface="Calibri"/>
              </a:rPr>
              <a:t>[Уникальное ценностное предложение]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15"/>
          <p:cNvSpPr/>
          <p:nvPr/>
        </p:nvSpPr>
        <p:spPr>
          <a:xfrm>
            <a:off x="5193720" y="960120"/>
            <a:ext cx="1553760" cy="4111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7" name="Text 16"/>
          <p:cNvSpPr/>
          <p:nvPr/>
        </p:nvSpPr>
        <p:spPr>
          <a:xfrm>
            <a:off x="5193720" y="960120"/>
            <a:ext cx="155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4. Решение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17"/>
          <p:cNvSpPr/>
          <p:nvPr/>
        </p:nvSpPr>
        <p:spPr>
          <a:xfrm>
            <a:off x="5193720" y="1389960"/>
            <a:ext cx="1553760" cy="11426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750" spc="-1" strike="noStrike">
                <a:solidFill>
                  <a:srgbClr val="0f1020"/>
                </a:solidFill>
                <a:latin typeface="Calibri"/>
                <a:ea typeface="Calibri"/>
              </a:rPr>
              <a:t>[Как решаем: топ-3 фичи]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8"/>
          <p:cNvSpPr/>
          <p:nvPr/>
        </p:nvSpPr>
        <p:spPr>
          <a:xfrm>
            <a:off x="6803280" y="960120"/>
            <a:ext cx="1553760" cy="411120"/>
          </a:xfrm>
          <a:prstGeom prst="rect">
            <a:avLst/>
          </a:prstGeom>
          <a:solidFill>
            <a:srgbClr val="457e4a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0" name="Text 19"/>
          <p:cNvSpPr/>
          <p:nvPr/>
        </p:nvSpPr>
        <p:spPr>
          <a:xfrm>
            <a:off x="6803280" y="960120"/>
            <a:ext cx="1553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5. Каналы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20"/>
          <p:cNvSpPr/>
          <p:nvPr/>
        </p:nvSpPr>
        <p:spPr>
          <a:xfrm>
            <a:off x="6803280" y="1389960"/>
            <a:ext cx="1553760" cy="11426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f1020"/>
                </a:solidFill>
                <a:latin typeface="Calibri"/>
                <a:ea typeface="Calibri"/>
              </a:rPr>
              <a:t>[Каналы привлечения и удержания]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21"/>
          <p:cNvSpPr/>
          <p:nvPr/>
        </p:nvSpPr>
        <p:spPr>
          <a:xfrm>
            <a:off x="365760" y="2606040"/>
            <a:ext cx="4205520" cy="987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3" name="Shape 22"/>
          <p:cNvSpPr/>
          <p:nvPr/>
        </p:nvSpPr>
        <p:spPr>
          <a:xfrm>
            <a:off x="365760" y="260604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4" name="Text 23"/>
          <p:cNvSpPr/>
          <p:nvPr/>
        </p:nvSpPr>
        <p:spPr>
          <a:xfrm>
            <a:off x="502920" y="26974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6. Потоки дохода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24"/>
          <p:cNvSpPr/>
          <p:nvPr/>
        </p:nvSpPr>
        <p:spPr>
          <a:xfrm>
            <a:off x="475560" y="3063240"/>
            <a:ext cx="39859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[Подписка / разовые / комиссия. Средний чек: X руб.]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25"/>
          <p:cNvSpPr/>
          <p:nvPr/>
        </p:nvSpPr>
        <p:spPr>
          <a:xfrm>
            <a:off x="4754880" y="2606040"/>
            <a:ext cx="4205520" cy="987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7" name="Shape 26"/>
          <p:cNvSpPr/>
          <p:nvPr/>
        </p:nvSpPr>
        <p:spPr>
          <a:xfrm>
            <a:off x="4754880" y="260604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8" name="Text 27"/>
          <p:cNvSpPr/>
          <p:nvPr/>
        </p:nvSpPr>
        <p:spPr>
          <a:xfrm>
            <a:off x="4892040" y="26974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7. Структура затрат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28"/>
          <p:cNvSpPr/>
          <p:nvPr/>
        </p:nvSpPr>
        <p:spPr>
          <a:xfrm>
            <a:off x="4864680" y="3063240"/>
            <a:ext cx="39859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[Фиксированные: X руб. | Переменные: Y руб. | CAC: Z руб.]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29"/>
          <p:cNvSpPr/>
          <p:nvPr/>
        </p:nvSpPr>
        <p:spPr>
          <a:xfrm>
            <a:off x="365760" y="3657600"/>
            <a:ext cx="4205520" cy="987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1" name="Shape 30"/>
          <p:cNvSpPr/>
          <p:nvPr/>
        </p:nvSpPr>
        <p:spPr>
          <a:xfrm>
            <a:off x="365760" y="365760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2" name="Text 31"/>
          <p:cNvSpPr/>
          <p:nvPr/>
        </p:nvSpPr>
        <p:spPr>
          <a:xfrm>
            <a:off x="502920" y="37490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8. Ключевые метрики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32"/>
          <p:cNvSpPr/>
          <p:nvPr/>
        </p:nvSpPr>
        <p:spPr>
          <a:xfrm>
            <a:off x="475560" y="4114800"/>
            <a:ext cx="39859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[MRR / GMV / Retention / LTV/CAC]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33"/>
          <p:cNvSpPr/>
          <p:nvPr/>
        </p:nvSpPr>
        <p:spPr>
          <a:xfrm>
            <a:off x="4754880" y="3657600"/>
            <a:ext cx="4205520" cy="98712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5" name="Shape 34"/>
          <p:cNvSpPr/>
          <p:nvPr/>
        </p:nvSpPr>
        <p:spPr>
          <a:xfrm>
            <a:off x="4754880" y="365760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6" name="Text 35"/>
          <p:cNvSpPr/>
          <p:nvPr/>
        </p:nvSpPr>
        <p:spPr>
          <a:xfrm>
            <a:off x="4892040" y="374904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9. Нечестное преимущество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36"/>
          <p:cNvSpPr/>
          <p:nvPr/>
        </p:nvSpPr>
        <p:spPr>
          <a:xfrm>
            <a:off x="4864680" y="4114800"/>
            <a:ext cx="39859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[Что сложно скопировать: технология, данные, партнёрства, бренд]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9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PAC — Product Attribute Canvas (4 мира)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2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PAC (Product Attribute Canvas); задача 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5"/>
          <p:cNvSpPr/>
          <p:nvPr/>
        </p:nvSpPr>
        <p:spPr>
          <a:xfrm>
            <a:off x="365760" y="868680"/>
            <a:ext cx="4205520" cy="182808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4" name="Shape 6"/>
          <p:cNvSpPr/>
          <p:nvPr/>
        </p:nvSpPr>
        <p:spPr>
          <a:xfrm>
            <a:off x="365760" y="86868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5" name="Text 7"/>
          <p:cNvSpPr/>
          <p:nvPr/>
        </p:nvSpPr>
        <p:spPr>
          <a:xfrm>
            <a:off x="50292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🧑 </a:t>
            </a: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Customer World — сегменты и Jobs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8"/>
          <p:cNvSpPr/>
          <p:nvPr/>
        </p:nvSpPr>
        <p:spPr>
          <a:xfrm>
            <a:off x="475560" y="1325880"/>
            <a:ext cx="39859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Сегмент: [персона, возраст, доход]. Ситуация: [что хочет и что мешает]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Jobs: 1) [работа 1] 2) [работа 2] 3) [работа 3]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ЦП «[ценностное предложение]» закрывает Jobs: [чем именно]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9"/>
          <p:cNvSpPr/>
          <p:nvPr/>
        </p:nvSpPr>
        <p:spPr>
          <a:xfrm>
            <a:off x="4754880" y="868680"/>
            <a:ext cx="4205520" cy="182808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8" name="Shape 10"/>
          <p:cNvSpPr/>
          <p:nvPr/>
        </p:nvSpPr>
        <p:spPr>
          <a:xfrm>
            <a:off x="4754880" y="86868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9" name="Text 11"/>
          <p:cNvSpPr/>
          <p:nvPr/>
        </p:nvSpPr>
        <p:spPr>
          <a:xfrm>
            <a:off x="489204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⚔️ </a:t>
            </a: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Competitor World — дифференциация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12"/>
          <p:cNvSpPr/>
          <p:nvPr/>
        </p:nvSpPr>
        <p:spPr>
          <a:xfrm>
            <a:off x="4864680" y="1325880"/>
            <a:ext cx="39859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[Конкурент 1]: [слабость]. [Конкурент 2]: [слабость]. Мы: [чем отличаемся]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[Конкурент 3]: [слабость]. [Конкурент 4]: [слабость]. Незанятая ниша: [описание]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Мы закрываем OS=[N] «[outcome]» — [почему конкуренты этого не делают]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3"/>
          <p:cNvSpPr/>
          <p:nvPr/>
        </p:nvSpPr>
        <p:spPr>
          <a:xfrm>
            <a:off x="365760" y="2834640"/>
            <a:ext cx="4205520" cy="182808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2" name="Shape 14"/>
          <p:cNvSpPr/>
          <p:nvPr/>
        </p:nvSpPr>
        <p:spPr>
          <a:xfrm>
            <a:off x="365760" y="283464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3" name="Text 15"/>
          <p:cNvSpPr/>
          <p:nvPr/>
        </p:nvSpPr>
        <p:spPr>
          <a:xfrm>
            <a:off x="502920" y="29260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📦 </a:t>
            </a: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Distribution World — активация и рост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16"/>
          <p:cNvSpPr/>
          <p:nvPr/>
        </p:nvSpPr>
        <p:spPr>
          <a:xfrm>
            <a:off x="475560" y="3291840"/>
            <a:ext cx="39859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Aha: «[что клиент осознаёт]» — [в какой момент это происходит]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[Шаг 1] → [шаг 2] → [шаг 3] → [петля роста]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17"/>
          <p:cNvSpPr/>
          <p:nvPr/>
        </p:nvSpPr>
        <p:spPr>
          <a:xfrm>
            <a:off x="4754880" y="2834640"/>
            <a:ext cx="4205520" cy="182808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6" name="Shape 18"/>
          <p:cNvSpPr/>
          <p:nvPr/>
        </p:nvSpPr>
        <p:spPr>
          <a:xfrm>
            <a:off x="4754880" y="283464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7" name="Text 19"/>
          <p:cNvSpPr/>
          <p:nvPr/>
        </p:nvSpPr>
        <p:spPr>
          <a:xfrm>
            <a:off x="4892040" y="29260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🔧 </a:t>
            </a: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Product World — фичи и уникальные свойства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20"/>
          <p:cNvSpPr/>
          <p:nvPr/>
        </p:nvSpPr>
        <p:spPr>
          <a:xfrm>
            <a:off x="4864680" y="3291840"/>
            <a:ext cx="3985920" cy="12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Фича 1: [название] → «Когда [ситуация], я [действие], чтобы [результат]»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Фича 2: [название] — [какую работу закрывает]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Фича 3: [название] — [какую работу закрывает]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0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SWOT-анализ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3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задача 11 (SWOT), с опорой на задачи 2 и 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5"/>
          <p:cNvSpPr/>
          <p:nvPr/>
        </p:nvSpPr>
        <p:spPr>
          <a:xfrm>
            <a:off x="365760" y="868680"/>
            <a:ext cx="4205520" cy="17823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5" name="Shape 6"/>
          <p:cNvSpPr/>
          <p:nvPr/>
        </p:nvSpPr>
        <p:spPr>
          <a:xfrm>
            <a:off x="365760" y="868680"/>
            <a:ext cx="420552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6" name="Text 7"/>
          <p:cNvSpPr/>
          <p:nvPr/>
        </p:nvSpPr>
        <p:spPr>
          <a:xfrm>
            <a:off x="50292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Сильные стороны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8"/>
          <p:cNvSpPr/>
          <p:nvPr/>
        </p:nvSpPr>
        <p:spPr>
          <a:xfrm>
            <a:off x="475560" y="1325880"/>
            <a:ext cx="3985920" cy="12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[Сильная сторона 1]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[Сильная сторона 2]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[Сильная сторона 3]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[Сильная сторона 4]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9"/>
          <p:cNvSpPr/>
          <p:nvPr/>
        </p:nvSpPr>
        <p:spPr>
          <a:xfrm>
            <a:off x="4754880" y="868680"/>
            <a:ext cx="4205520" cy="17823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9" name="Shape 10"/>
          <p:cNvSpPr/>
          <p:nvPr/>
        </p:nvSpPr>
        <p:spPr>
          <a:xfrm>
            <a:off x="4754880" y="868680"/>
            <a:ext cx="4205520" cy="5400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0" name="Text 11"/>
          <p:cNvSpPr/>
          <p:nvPr/>
        </p:nvSpPr>
        <p:spPr>
          <a:xfrm>
            <a:off x="4892040" y="96012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Слабые стороны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Text 12"/>
          <p:cNvSpPr/>
          <p:nvPr/>
        </p:nvSpPr>
        <p:spPr>
          <a:xfrm>
            <a:off x="4864680" y="1325880"/>
            <a:ext cx="3985920" cy="12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[Слабая сторона 1]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[Слабая сторона 2]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[Слабая сторона 3]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13"/>
          <p:cNvSpPr/>
          <p:nvPr/>
        </p:nvSpPr>
        <p:spPr>
          <a:xfrm>
            <a:off x="365760" y="2834640"/>
            <a:ext cx="4205520" cy="17823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3" name="Shape 14"/>
          <p:cNvSpPr/>
          <p:nvPr/>
        </p:nvSpPr>
        <p:spPr>
          <a:xfrm>
            <a:off x="365760" y="2834640"/>
            <a:ext cx="420552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4" name="Text 15"/>
          <p:cNvSpPr/>
          <p:nvPr/>
        </p:nvSpPr>
        <p:spPr>
          <a:xfrm>
            <a:off x="502920" y="29260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Возможности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16"/>
          <p:cNvSpPr/>
          <p:nvPr/>
        </p:nvSpPr>
        <p:spPr>
          <a:xfrm>
            <a:off x="475560" y="3291840"/>
            <a:ext cx="3985920" cy="12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[Возможность 1 — из трендов, задача 2]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[Возможность 2 — из трендов, задача 2]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[Возможность 3 — из конкурентного ландшафта, задача 3]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17"/>
          <p:cNvSpPr/>
          <p:nvPr/>
        </p:nvSpPr>
        <p:spPr>
          <a:xfrm>
            <a:off x="4754880" y="2834640"/>
            <a:ext cx="4205520" cy="17823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7" name="Shape 18"/>
          <p:cNvSpPr/>
          <p:nvPr/>
        </p:nvSpPr>
        <p:spPr>
          <a:xfrm>
            <a:off x="4754880" y="2834640"/>
            <a:ext cx="4205520" cy="54000"/>
          </a:xfrm>
          <a:prstGeom prst="rect">
            <a:avLst/>
          </a:prstGeom>
          <a:solidFill>
            <a:srgbClr val="6b7fe3"/>
          </a:solidFill>
          <a:ln w="12700">
            <a:solidFill>
              <a:srgbClr val="6b7f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8" name="Text 19"/>
          <p:cNvSpPr/>
          <p:nvPr/>
        </p:nvSpPr>
        <p:spPr>
          <a:xfrm>
            <a:off x="4892040" y="2926080"/>
            <a:ext cx="3931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Угрозы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20"/>
          <p:cNvSpPr/>
          <p:nvPr/>
        </p:nvSpPr>
        <p:spPr>
          <a:xfrm>
            <a:off x="4864680" y="3291840"/>
            <a:ext cx="3985920" cy="12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[Угроза 1 — от конкурентов]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[Угроза 2 — регуляторная, из PESTEL]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[Угроза 3 — рыночная или поведенческая]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1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Консистентность сценария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ubtitle"/>
          <p:cNvSpPr/>
          <p:nvPr/>
        </p:nvSpPr>
        <p:spPr>
          <a:xfrm>
            <a:off x="365760" y="868680"/>
            <a:ext cx="8412120" cy="36540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Проверка сценария по трём критериям (Желательность / Жизнеспособность / Реализуемость)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CritHead0"/>
          <p:cNvSpPr/>
          <p:nvPr/>
        </p:nvSpPr>
        <p:spPr>
          <a:xfrm>
            <a:off x="365760" y="1280160"/>
            <a:ext cx="2706120" cy="68544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ЖЕЛАТЕЛЬНОСТЬ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ЦП закрывает Jobs-to-be-Done?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CritBody0"/>
          <p:cNvSpPr/>
          <p:nvPr/>
        </p:nvSpPr>
        <p:spPr>
          <a:xfrm>
            <a:off x="365760" y="1965960"/>
            <a:ext cx="2706120" cy="187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109800" bIns="10980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ОБОСНОВАНИЕ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[Как ЦП закрывает топ-Jobs из Job Map — кратко]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КЛЮЧЕВЫЕ МЕТРИКИ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[Топ-3 outcomes закрываемых ЦП]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CritFoot0"/>
          <p:cNvSpPr/>
          <p:nvPr/>
        </p:nvSpPr>
        <p:spPr>
          <a:xfrm>
            <a:off x="365760" y="3840480"/>
            <a:ext cx="2706120" cy="45684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СТАТУС: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[✅ / ⚠️ / ❌]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CritHead1"/>
          <p:cNvSpPr/>
          <p:nvPr/>
        </p:nvSpPr>
        <p:spPr>
          <a:xfrm>
            <a:off x="3127320" y="1280160"/>
            <a:ext cx="2706120" cy="68544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⚠️ </a:t>
            </a: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ЖИЗНЕСПОСОБНОСТЬ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Модель масштабируема?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CritBody1"/>
          <p:cNvSpPr/>
          <p:nvPr/>
        </p:nvSpPr>
        <p:spPr>
          <a:xfrm>
            <a:off x="3127320" y="1965960"/>
            <a:ext cx="2706120" cy="187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109800" bIns="10980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ОБОСНОВАНИЕ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[Масштабируемость: LTV/CAC, Gross Margin, Break-even — и узкое место]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КЛЮЧЕВЫЕ МЕТРИКИ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[LTV = X ₽ | CAC = Y ₽ | GM = Z% | BE = мес. N]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CritFoot1"/>
          <p:cNvSpPr/>
          <p:nvPr/>
        </p:nvSpPr>
        <p:spPr>
          <a:xfrm>
            <a:off x="3127320" y="3840480"/>
            <a:ext cx="2706120" cy="45684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СТАТУС: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[✅ / ⚠️ / ❌]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CritHead2"/>
          <p:cNvSpPr/>
          <p:nvPr/>
        </p:nvSpPr>
        <p:spPr>
          <a:xfrm>
            <a:off x="5888880" y="1280160"/>
            <a:ext cx="2706120" cy="68544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✅ </a:t>
            </a:r>
            <a:r>
              <a:rPr b="1" lang="ru-RU" sz="1100" spc="-1" strike="noStrike">
                <a:solidFill>
                  <a:srgbClr val="ffffff"/>
                </a:solidFill>
                <a:latin typeface="Arial"/>
              </a:rPr>
              <a:t>РЕАЛИЗУЕМОСТЬ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Достаточно ресурсов?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CritBody2"/>
          <p:cNvSpPr/>
          <p:nvPr/>
        </p:nvSpPr>
        <p:spPr>
          <a:xfrm>
            <a:off x="5888880" y="1965960"/>
            <a:ext cx="2706120" cy="187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4520" rIns="164520" tIns="109800" bIns="10980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ОБОСНОВАНИЕ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[Ресурсы: команда, бюджет, технологии — что есть и чего не хватает]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КЛЮЧЕВЫЕ МЕТРИКИ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[Список ресурсов с отметками готовности]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CritFoot2"/>
          <p:cNvSpPr/>
          <p:nvPr/>
        </p:nvSpPr>
        <p:spPr>
          <a:xfrm>
            <a:off x="5888880" y="3840480"/>
            <a:ext cx="2706120" cy="45684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09800" bIns="10980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СТАТУС: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[✅ / ⚠️ / ❌]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Summary"/>
          <p:cNvSpPr/>
          <p:nvPr/>
        </p:nvSpPr>
        <p:spPr>
          <a:xfrm>
            <a:off x="365760" y="4389120"/>
            <a:ext cx="8412120" cy="4111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94a3f6"/>
                </a:solidFill>
                <a:latin typeface="Arial"/>
              </a:rPr>
              <a:t>ИТОГ: 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</a:rPr>
              <a:t>[X/3 критериев ✅]. [Приоритет доработки — краткое утверждение]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5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7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Юнит-экономика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СТРАТЕГИЧЕСКИЙ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0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финансовая модель (задача 18c), базовый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5"/>
          <p:cNvSpPr/>
          <p:nvPr/>
        </p:nvSpPr>
        <p:spPr>
          <a:xfrm>
            <a:off x="36576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2" name="Shape 6"/>
          <p:cNvSpPr/>
          <p:nvPr/>
        </p:nvSpPr>
        <p:spPr>
          <a:xfrm>
            <a:off x="36576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3" name="Text 7"/>
          <p:cNvSpPr/>
          <p:nvPr/>
        </p:nvSpPr>
        <p:spPr>
          <a:xfrm>
            <a:off x="36576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[X ₽]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8"/>
          <p:cNvSpPr/>
          <p:nvPr/>
        </p:nvSpPr>
        <p:spPr>
          <a:xfrm>
            <a:off x="36576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LTV клиента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9"/>
          <p:cNvSpPr/>
          <p:nvPr/>
        </p:nvSpPr>
        <p:spPr>
          <a:xfrm>
            <a:off x="329184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6" name="Shape 10"/>
          <p:cNvSpPr/>
          <p:nvPr/>
        </p:nvSpPr>
        <p:spPr>
          <a:xfrm>
            <a:off x="3291840" y="868680"/>
            <a:ext cx="255960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7" name="Text 11"/>
          <p:cNvSpPr/>
          <p:nvPr/>
        </p:nvSpPr>
        <p:spPr>
          <a:xfrm>
            <a:off x="329184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57e4a"/>
                </a:solidFill>
                <a:latin typeface="Calibri"/>
                <a:ea typeface="Calibri"/>
              </a:rPr>
              <a:t>[Y ₽]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12"/>
          <p:cNvSpPr/>
          <p:nvPr/>
        </p:nvSpPr>
        <p:spPr>
          <a:xfrm>
            <a:off x="329184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CAC (стоимость привлечения)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13"/>
          <p:cNvSpPr/>
          <p:nvPr/>
        </p:nvSpPr>
        <p:spPr>
          <a:xfrm>
            <a:off x="6217920" y="868680"/>
            <a:ext cx="2559600" cy="1325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0" name="Shape 14"/>
          <p:cNvSpPr/>
          <p:nvPr/>
        </p:nvSpPr>
        <p:spPr>
          <a:xfrm>
            <a:off x="6217920" y="868680"/>
            <a:ext cx="2559600" cy="54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1" name="Text 15"/>
          <p:cNvSpPr/>
          <p:nvPr/>
        </p:nvSpPr>
        <p:spPr>
          <a:xfrm>
            <a:off x="6217920" y="1051560"/>
            <a:ext cx="2559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94a3f6"/>
                </a:solidFill>
                <a:latin typeface="Calibri"/>
                <a:ea typeface="Calibri"/>
              </a:rPr>
              <a:t>[N.Nx]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16"/>
          <p:cNvSpPr/>
          <p:nvPr/>
        </p:nvSpPr>
        <p:spPr>
          <a:xfrm>
            <a:off x="6217920" y="1645920"/>
            <a:ext cx="255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LTV / CAC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17"/>
          <p:cNvSpPr/>
          <p:nvPr/>
        </p:nvSpPr>
        <p:spPr>
          <a:xfrm>
            <a:off x="365760" y="2377440"/>
            <a:ext cx="8411760" cy="23310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4" name="Shape 18"/>
          <p:cNvSpPr/>
          <p:nvPr/>
        </p:nvSpPr>
        <p:spPr>
          <a:xfrm>
            <a:off x="365760" y="2377440"/>
            <a:ext cx="8411760" cy="54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5" name="Text 19"/>
          <p:cNvSpPr/>
          <p:nvPr/>
        </p:nvSpPr>
        <p:spPr>
          <a:xfrm>
            <a:off x="502920" y="2468880"/>
            <a:ext cx="8137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020"/>
                </a:solidFill>
                <a:latin typeface="Calibri"/>
                <a:ea typeface="Calibri"/>
              </a:rPr>
              <a:t>Юнит-экономика — ключевые показатели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20"/>
          <p:cNvSpPr/>
          <p:nvPr/>
        </p:nvSpPr>
        <p:spPr>
          <a:xfrm>
            <a:off x="475560" y="2834640"/>
            <a:ext cx="819216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Payback period: [N] мес. базовый | [N] мес. оптимист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Runway: [N] мес. при burn rate [X ₽]/мес и капитале [Y ₽]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Break-even: мес. [N] базовый | мес. [N] оптимист — накопленный P&amp;L ≥ 0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64748b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Calibri"/>
              </a:rPr>
              <a:t>Gross Margin: [X%] | COGS: [Y%] ([структура себестоимости])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8" name="Text 1"/>
          <p:cNvSpPr/>
          <p:nvPr/>
        </p:nvSpPr>
        <p:spPr>
          <a:xfrm>
            <a:off x="548640" y="1737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94a3f6"/>
                </a:solidFill>
                <a:latin typeface="Calibri"/>
                <a:ea typeface="Calibri"/>
              </a:rPr>
              <a:t>РАЗДЕЛ 04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2"/>
          <p:cNvSpPr/>
          <p:nvPr/>
        </p:nvSpPr>
        <p:spPr>
          <a:xfrm>
            <a:off x="548640" y="214884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Opportunity Solution Tree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1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OST: уровни 1–2 — цель и возможности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OST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4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OST (Teresa Torres); задача 12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94a3f6"/>
                </a:solidFill>
                <a:latin typeface="Calibri"/>
                <a:ea typeface="Calibri"/>
              </a:rPr>
              <a:t>БИЗНЕС-ЦЕЛЬ → ВОЗМОЖНОСТИ → РЕШЕНИЯ → ЭКСПЕРИМЕНТЫ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6"/>
          <p:cNvSpPr/>
          <p:nvPr/>
        </p:nvSpPr>
        <p:spPr>
          <a:xfrm>
            <a:off x="3017520" y="1005840"/>
            <a:ext cx="3108240" cy="5479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7" name="Text 7"/>
          <p:cNvSpPr/>
          <p:nvPr/>
        </p:nvSpPr>
        <p:spPr>
          <a:xfrm>
            <a:off x="3017520" y="1005840"/>
            <a:ext cx="3108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[Измеримая бизнес-цель: метрика, текущее → целевое значение, срок]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8"/>
          <p:cNvSpPr/>
          <p:nvPr/>
        </p:nvSpPr>
        <p:spPr>
          <a:xfrm>
            <a:off x="4572000" y="1554480"/>
            <a:ext cx="360" cy="18288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9" name="Shape 9"/>
          <p:cNvSpPr/>
          <p:nvPr/>
        </p:nvSpPr>
        <p:spPr>
          <a:xfrm flipH="1">
            <a:off x="1645920" y="1737360"/>
            <a:ext cx="2926080" cy="36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0" name="Shape 10"/>
          <p:cNvSpPr/>
          <p:nvPr/>
        </p:nvSpPr>
        <p:spPr>
          <a:xfrm>
            <a:off x="1645920" y="1737360"/>
            <a:ext cx="360" cy="27432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1" name="Shape 11"/>
          <p:cNvSpPr/>
          <p:nvPr/>
        </p:nvSpPr>
        <p:spPr>
          <a:xfrm>
            <a:off x="548640" y="2011680"/>
            <a:ext cx="2193840" cy="639360"/>
          </a:xfrm>
          <a:prstGeom prst="rect">
            <a:avLst/>
          </a:prstGeom>
          <a:solidFill>
            <a:srgbClr val="fff1f2"/>
          </a:solidFill>
          <a:ln w="1905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2" name="Text 12"/>
          <p:cNvSpPr/>
          <p:nvPr/>
        </p:nvSpPr>
        <p:spPr>
          <a:xfrm>
            <a:off x="548640" y="201168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5939e"/>
                </a:solidFill>
                <a:latin typeface="Calibri"/>
                <a:ea typeface="Calibri"/>
              </a:rPr>
              <a:t>Возможность 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5939e"/>
                </a:solidFill>
                <a:latin typeface="Calibri"/>
                <a:ea typeface="Calibri"/>
              </a:rPr>
              <a:t>[Возможность 1 из задачи 7] | OS=[N] 🔴 Приоритет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3"/>
          <p:cNvSpPr/>
          <p:nvPr/>
        </p:nvSpPr>
        <p:spPr>
          <a:xfrm>
            <a:off x="4572000" y="1737360"/>
            <a:ext cx="91440" cy="36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4" name="Shape 14"/>
          <p:cNvSpPr/>
          <p:nvPr/>
        </p:nvSpPr>
        <p:spPr>
          <a:xfrm>
            <a:off x="4663440" y="1737360"/>
            <a:ext cx="360" cy="27432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5" name="Shape 15"/>
          <p:cNvSpPr/>
          <p:nvPr/>
        </p:nvSpPr>
        <p:spPr>
          <a:xfrm>
            <a:off x="3566160" y="2011680"/>
            <a:ext cx="2193840" cy="639360"/>
          </a:xfrm>
          <a:prstGeom prst="rect">
            <a:avLst/>
          </a:prstGeom>
          <a:solidFill>
            <a:srgbClr val="f4f5ff"/>
          </a:solidFill>
          <a:ln w="1905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6" name="Text 16"/>
          <p:cNvSpPr/>
          <p:nvPr/>
        </p:nvSpPr>
        <p:spPr>
          <a:xfrm>
            <a:off x="3566160" y="201168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94a3f6"/>
                </a:solidFill>
                <a:latin typeface="Calibri"/>
                <a:ea typeface="Calibri"/>
              </a:rPr>
              <a:t>Возможность 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94a3f6"/>
                </a:solidFill>
                <a:latin typeface="Calibri"/>
                <a:ea typeface="Calibri"/>
              </a:rPr>
              <a:t>[Возможность 2 из задачи 7] | OS=[N]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7"/>
          <p:cNvSpPr/>
          <p:nvPr/>
        </p:nvSpPr>
        <p:spPr>
          <a:xfrm>
            <a:off x="4572000" y="1737360"/>
            <a:ext cx="3108960" cy="36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8" name="Shape 18"/>
          <p:cNvSpPr/>
          <p:nvPr/>
        </p:nvSpPr>
        <p:spPr>
          <a:xfrm>
            <a:off x="7680960" y="1737360"/>
            <a:ext cx="360" cy="27432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9" name="Shape 19"/>
          <p:cNvSpPr/>
          <p:nvPr/>
        </p:nvSpPr>
        <p:spPr>
          <a:xfrm>
            <a:off x="6583680" y="2011680"/>
            <a:ext cx="2193840" cy="639360"/>
          </a:xfrm>
          <a:prstGeom prst="rect">
            <a:avLst/>
          </a:prstGeom>
          <a:solidFill>
            <a:srgbClr val="f4f5ff"/>
          </a:solidFill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0" name="Text 20"/>
          <p:cNvSpPr/>
          <p:nvPr/>
        </p:nvSpPr>
        <p:spPr>
          <a:xfrm>
            <a:off x="6583680" y="201168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Возможность 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[Возможность 3 из задачи 7] | OS=[N]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21"/>
          <p:cNvSpPr/>
          <p:nvPr/>
        </p:nvSpPr>
        <p:spPr>
          <a:xfrm>
            <a:off x="365760" y="2788920"/>
            <a:ext cx="8411760" cy="200520"/>
          </a:xfrm>
          <a:prstGeom prst="rect">
            <a:avLst/>
          </a:prstGeom>
          <a:solidFill>
            <a:srgbClr val="fff1f2"/>
          </a:solidFill>
          <a:ln w="635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2" name="Text 22"/>
          <p:cNvSpPr/>
          <p:nvPr/>
        </p:nvSpPr>
        <p:spPr>
          <a:xfrm>
            <a:off x="457200" y="2788920"/>
            <a:ext cx="8228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5939e"/>
                </a:solidFill>
                <a:latin typeface="Calibri"/>
                <a:ea typeface="Calibri"/>
              </a:rPr>
              <a:t>ЦЕЛЕВАЯ ВОЗМОЖНОСТЬ 1 — генерируем 3+ решения: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23"/>
          <p:cNvSpPr/>
          <p:nvPr/>
        </p:nvSpPr>
        <p:spPr>
          <a:xfrm>
            <a:off x="457200" y="3035880"/>
            <a:ext cx="2651040" cy="566280"/>
          </a:xfrm>
          <a:prstGeom prst="rect">
            <a:avLst/>
          </a:prstGeom>
          <a:solidFill>
            <a:srgbClr val="f4f5ff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4" name="Text 24"/>
          <p:cNvSpPr/>
          <p:nvPr/>
        </p:nvSpPr>
        <p:spPr>
          <a:xfrm>
            <a:off x="457200" y="3035880"/>
            <a:ext cx="26510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Решение A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[Решение A: что именно строим и для кого]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25"/>
          <p:cNvSpPr/>
          <p:nvPr/>
        </p:nvSpPr>
        <p:spPr>
          <a:xfrm>
            <a:off x="1783080" y="3602520"/>
            <a:ext cx="360" cy="20124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6" name="Shape 26"/>
          <p:cNvSpPr/>
          <p:nvPr/>
        </p:nvSpPr>
        <p:spPr>
          <a:xfrm>
            <a:off x="640080" y="3803760"/>
            <a:ext cx="2285280" cy="502200"/>
          </a:xfrm>
          <a:prstGeom prst="rect">
            <a:avLst/>
          </a:prstGeom>
          <a:solidFill>
            <a:srgbClr val="e8eaf6"/>
          </a:solidFill>
          <a:ln w="63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7" name="Text 27"/>
          <p:cNvSpPr/>
          <p:nvPr/>
        </p:nvSpPr>
        <p:spPr>
          <a:xfrm>
            <a:off x="640080" y="380376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Exp A1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[Метод], [бюджет], [срок], критерий [метрика ≥ значение]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8"/>
          <p:cNvSpPr/>
          <p:nvPr/>
        </p:nvSpPr>
        <p:spPr>
          <a:xfrm>
            <a:off x="3383280" y="3035880"/>
            <a:ext cx="2651040" cy="566280"/>
          </a:xfrm>
          <a:prstGeom prst="rect">
            <a:avLst/>
          </a:prstGeom>
          <a:solidFill>
            <a:srgbClr val="f4f5ff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9" name="Text 29"/>
          <p:cNvSpPr/>
          <p:nvPr/>
        </p:nvSpPr>
        <p:spPr>
          <a:xfrm>
            <a:off x="3383280" y="3035880"/>
            <a:ext cx="26510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Решение B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[Решение B: что именно строим и для кого]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30"/>
          <p:cNvSpPr/>
          <p:nvPr/>
        </p:nvSpPr>
        <p:spPr>
          <a:xfrm>
            <a:off x="4709160" y="3602520"/>
            <a:ext cx="360" cy="20124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1" name="Shape 31"/>
          <p:cNvSpPr/>
          <p:nvPr/>
        </p:nvSpPr>
        <p:spPr>
          <a:xfrm>
            <a:off x="3566160" y="3803760"/>
            <a:ext cx="2285280" cy="502200"/>
          </a:xfrm>
          <a:prstGeom prst="rect">
            <a:avLst/>
          </a:prstGeom>
          <a:solidFill>
            <a:srgbClr val="e8eaf6"/>
          </a:solidFill>
          <a:ln w="63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2" name="Text 32"/>
          <p:cNvSpPr/>
          <p:nvPr/>
        </p:nvSpPr>
        <p:spPr>
          <a:xfrm>
            <a:off x="3566160" y="380376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Exp B1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[Метод], [бюджет], [срок], критерий [метрика ≥ значение]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33"/>
          <p:cNvSpPr/>
          <p:nvPr/>
        </p:nvSpPr>
        <p:spPr>
          <a:xfrm>
            <a:off x="6309360" y="3035880"/>
            <a:ext cx="2651040" cy="566280"/>
          </a:xfrm>
          <a:prstGeom prst="rect">
            <a:avLst/>
          </a:prstGeom>
          <a:solidFill>
            <a:srgbClr val="f4f5ff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4" name="Text 34"/>
          <p:cNvSpPr/>
          <p:nvPr/>
        </p:nvSpPr>
        <p:spPr>
          <a:xfrm>
            <a:off x="6309360" y="3035880"/>
            <a:ext cx="26510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Решение C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[Решение C: что именно строим и для кого]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35"/>
          <p:cNvSpPr/>
          <p:nvPr/>
        </p:nvSpPr>
        <p:spPr>
          <a:xfrm>
            <a:off x="7635240" y="3602520"/>
            <a:ext cx="360" cy="201240"/>
          </a:xfrm>
          <a:prstGeom prst="line">
            <a:avLst/>
          </a:prstGeom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6" name="Shape 36"/>
          <p:cNvSpPr/>
          <p:nvPr/>
        </p:nvSpPr>
        <p:spPr>
          <a:xfrm>
            <a:off x="6492240" y="3803760"/>
            <a:ext cx="2285280" cy="502200"/>
          </a:xfrm>
          <a:prstGeom prst="rect">
            <a:avLst/>
          </a:prstGeom>
          <a:solidFill>
            <a:srgbClr val="e8eaf6"/>
          </a:solidFill>
          <a:ln w="63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7" name="Text 37"/>
          <p:cNvSpPr/>
          <p:nvPr/>
        </p:nvSpPr>
        <p:spPr>
          <a:xfrm>
            <a:off x="6492240" y="3803760"/>
            <a:ext cx="2285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Exp C1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[Метод], [бюджет], [срок], критерий [метрика ≥ значение]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9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OST: уровни 3–4 — решения и эксперименты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94a3f6"/>
                </a:solidFill>
                <a:latin typeface="Calibri"/>
                <a:ea typeface="Calibri"/>
              </a:rPr>
              <a:t>OST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Opportunity"/>
          <p:cNvSpPr/>
          <p:nvPr/>
        </p:nvSpPr>
        <p:spPr>
          <a:xfrm>
            <a:off x="365760" y="868680"/>
            <a:ext cx="8412120" cy="4111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ЦЕЛЕВАЯ ВОЗМОЖНОСТЬ (RICE + OS=16): </a:t>
            </a: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«[Возможность из уровня 2 OST]»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olHead0"/>
          <p:cNvSpPr/>
          <p:nvPr/>
        </p:nvSpPr>
        <p:spPr>
          <a:xfrm>
            <a:off x="365760" y="1371600"/>
            <a:ext cx="2706120" cy="639720"/>
          </a:xfrm>
          <a:prstGeom prst="rect">
            <a:avLst/>
          </a:prstGeom>
          <a:solidFill>
            <a:srgbClr val="94a3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РЕШЕНИЕ 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[Название решения A]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olDesc0"/>
          <p:cNvSpPr/>
          <p:nvPr/>
        </p:nvSpPr>
        <p:spPr>
          <a:xfrm>
            <a:off x="365760" y="2011680"/>
            <a:ext cx="2706120" cy="868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[Описание решения A: что именно строим и для кого]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olExp0"/>
          <p:cNvSpPr/>
          <p:nvPr/>
        </p:nvSpPr>
        <p:spPr>
          <a:xfrm>
            <a:off x="365760" y="2953440"/>
            <a:ext cx="2706120" cy="91404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ЭКСПЕРИМЕНТ:</a:t>
            </a: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  Smoke Test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[Метод: Smoke Test / Pre-sale / Wizard of Oz + краткое описание]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olMetrics0"/>
          <p:cNvSpPr/>
          <p:nvPr/>
        </p:nvSpPr>
        <p:spPr>
          <a:xfrm>
            <a:off x="365760" y="3922920"/>
            <a:ext cx="2706120" cy="6944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КРИТЕРИЙ: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[Критерий успеха]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СРОК: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дн.]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БЮДЖЕТ: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руб.]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olHead1"/>
          <p:cNvSpPr/>
          <p:nvPr/>
        </p:nvSpPr>
        <p:spPr>
          <a:xfrm>
            <a:off x="3127320" y="1371600"/>
            <a:ext cx="2706120" cy="639720"/>
          </a:xfrm>
          <a:prstGeom prst="rect">
            <a:avLst/>
          </a:prstGeom>
          <a:solidFill>
            <a:srgbClr val="6b7f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РЕШЕНИЕ 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[Название решения B]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olDesc1"/>
          <p:cNvSpPr/>
          <p:nvPr/>
        </p:nvSpPr>
        <p:spPr>
          <a:xfrm>
            <a:off x="3127320" y="2011680"/>
            <a:ext cx="2706120" cy="868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[Описание решения B]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olExp1"/>
          <p:cNvSpPr/>
          <p:nvPr/>
        </p:nvSpPr>
        <p:spPr>
          <a:xfrm>
            <a:off x="3127320" y="2953440"/>
            <a:ext cx="2706120" cy="91404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ЭКСПЕРИМЕНТ:</a:t>
            </a: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  Pre-sale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[Метод + описание]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olMetrics1"/>
          <p:cNvSpPr/>
          <p:nvPr/>
        </p:nvSpPr>
        <p:spPr>
          <a:xfrm>
            <a:off x="3127320" y="3922920"/>
            <a:ext cx="2706120" cy="6944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КРИТЕРИЙ: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[Критерий успеха]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СРОК: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дн.]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БЮДЖЕТ: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руб.]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olHead2"/>
          <p:cNvSpPr/>
          <p:nvPr/>
        </p:nvSpPr>
        <p:spPr>
          <a:xfrm>
            <a:off x="5888880" y="1371600"/>
            <a:ext cx="2706120" cy="639720"/>
          </a:xfrm>
          <a:prstGeom prst="rect">
            <a:avLst/>
          </a:prstGeom>
          <a:solidFill>
            <a:srgbClr val="4a5e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РЕШЕНИЕ 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200" spc="-1" strike="noStrike">
                <a:solidFill>
                  <a:srgbClr val="ffffff"/>
                </a:solidFill>
                <a:latin typeface="Arial"/>
              </a:rPr>
              <a:t>[Название решения C]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SolDesc2"/>
          <p:cNvSpPr/>
          <p:nvPr/>
        </p:nvSpPr>
        <p:spPr>
          <a:xfrm>
            <a:off x="5888880" y="2011680"/>
            <a:ext cx="2706120" cy="868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[Описание решения C]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olExp2"/>
          <p:cNvSpPr/>
          <p:nvPr/>
        </p:nvSpPr>
        <p:spPr>
          <a:xfrm>
            <a:off x="5888880" y="2953440"/>
            <a:ext cx="2706120" cy="91404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ЭКСПЕРИМЕНТ:</a:t>
            </a: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  Wizard of Oz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[Метод + описание]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SolMetrics2"/>
          <p:cNvSpPr/>
          <p:nvPr/>
        </p:nvSpPr>
        <p:spPr>
          <a:xfrm>
            <a:off x="5888880" y="3922920"/>
            <a:ext cx="2706120" cy="69444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КРИТЕРИЙ: </a:t>
            </a:r>
            <a:r>
              <a:rPr b="1" lang="ru-RU" sz="800" spc="-1" strike="noStrike">
                <a:solidFill>
                  <a:srgbClr val="0f1020"/>
                </a:solidFill>
                <a:latin typeface="Arial"/>
              </a:rPr>
              <a:t>[Критерий успеха]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СРОК: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дн.]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700" spc="-1" strike="noStrike">
                <a:solidFill>
                  <a:srgbClr val="64748b"/>
                </a:solidFill>
                <a:latin typeface="Arial"/>
              </a:rPr>
              <a:t>БЮДЖЕТ: </a:t>
            </a:r>
            <a:r>
              <a:rPr b="0" lang="ru-RU" sz="800" spc="-1" strike="noStrike">
                <a:solidFill>
                  <a:srgbClr val="0f1020"/>
                </a:solidFill>
                <a:latin typeface="Arial"/>
              </a:rPr>
              <a:t>[X руб.]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Rule"/>
          <p:cNvSpPr/>
          <p:nvPr/>
        </p:nvSpPr>
        <p:spPr>
          <a:xfrm>
            <a:off x="365760" y="4663440"/>
            <a:ext cx="8412120" cy="22824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27360" bIns="27360" anchor="t">
            <a:noAutofit/>
          </a:bodyPr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▸ </a:t>
            </a: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Правило OST: ≥ 3 решения для целевой возможности (против confirmation bias)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6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8" name="Text 1"/>
          <p:cNvSpPr/>
          <p:nvPr/>
        </p:nvSpPr>
        <p:spPr>
          <a:xfrm>
            <a:off x="548640" y="1737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f5939e"/>
                </a:solidFill>
                <a:latin typeface="Calibri"/>
                <a:ea typeface="Calibri"/>
              </a:rPr>
              <a:t>РАЗДЕЛ 05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2"/>
          <p:cNvSpPr/>
          <p:nvPr/>
        </p:nvSpPr>
        <p:spPr>
          <a:xfrm>
            <a:off x="548640" y="214884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Альтернативный стратегический сценарий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1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Ключевые изменения сценария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f5939e"/>
                </a:solidFill>
                <a:latin typeface="Calibri"/>
                <a:ea typeface="Calibri"/>
              </a:rPr>
              <a:t>АЛЬТ.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4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альтернативный сценарий из задачи 13; скоринг из задачи 14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5"/>
          <p:cNvSpPr/>
          <p:nvPr/>
        </p:nvSpPr>
        <p:spPr>
          <a:xfrm>
            <a:off x="365760" y="822960"/>
            <a:ext cx="3794040" cy="346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6" name="Text 6"/>
          <p:cNvSpPr/>
          <p:nvPr/>
        </p:nvSpPr>
        <p:spPr>
          <a:xfrm>
            <a:off x="365760" y="822960"/>
            <a:ext cx="3794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ТЕКУЩИЙ СЦЕНАРИЙ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7"/>
          <p:cNvSpPr/>
          <p:nvPr/>
        </p:nvSpPr>
        <p:spPr>
          <a:xfrm>
            <a:off x="4983480" y="822960"/>
            <a:ext cx="3794040" cy="346680"/>
          </a:xfrm>
          <a:prstGeom prst="rect">
            <a:avLst/>
          </a:prstGeom>
          <a:solidFill>
            <a:srgbClr val="f5939e"/>
          </a:solidFill>
          <a:ln w="1270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8" name="Text 8"/>
          <p:cNvSpPr/>
          <p:nvPr/>
        </p:nvSpPr>
        <p:spPr>
          <a:xfrm>
            <a:off x="4983480" y="822960"/>
            <a:ext cx="3794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НОВЫЙ СЦЕНАРИЙ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9"/>
          <p:cNvSpPr/>
          <p:nvPr/>
        </p:nvSpPr>
        <p:spPr>
          <a:xfrm>
            <a:off x="365760" y="1234440"/>
            <a:ext cx="3794040" cy="749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0" name="Text 10"/>
          <p:cNvSpPr/>
          <p:nvPr/>
        </p:nvSpPr>
        <p:spPr>
          <a:xfrm>
            <a:off x="457200" y="1234440"/>
            <a:ext cx="10965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Сегмент потребителей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11"/>
          <p:cNvSpPr/>
          <p:nvPr/>
        </p:nvSpPr>
        <p:spPr>
          <a:xfrm>
            <a:off x="1554480" y="1234440"/>
            <a:ext cx="2559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[Сегмент в текущем сценарии]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12"/>
          <p:cNvSpPr/>
          <p:nvPr/>
        </p:nvSpPr>
        <p:spPr>
          <a:xfrm>
            <a:off x="4983480" y="1234440"/>
            <a:ext cx="3794040" cy="749160"/>
          </a:xfrm>
          <a:prstGeom prst="rect">
            <a:avLst/>
          </a:prstGeom>
          <a:solidFill>
            <a:srgbClr val="fff1f2"/>
          </a:solidFill>
          <a:ln w="1016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3" name="Text 13"/>
          <p:cNvSpPr/>
          <p:nvPr/>
        </p:nvSpPr>
        <p:spPr>
          <a:xfrm>
            <a:off x="5074920" y="1234440"/>
            <a:ext cx="36111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[Сегмент в альтернативном сценарии — что меняется]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14"/>
          <p:cNvSpPr/>
          <p:nvPr/>
        </p:nvSpPr>
        <p:spPr>
          <a:xfrm>
            <a:off x="4206240" y="1435680"/>
            <a:ext cx="730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5939e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5"/>
          <p:cNvSpPr/>
          <p:nvPr/>
        </p:nvSpPr>
        <p:spPr>
          <a:xfrm>
            <a:off x="365760" y="2130480"/>
            <a:ext cx="3794040" cy="749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6" name="Text 16"/>
          <p:cNvSpPr/>
          <p:nvPr/>
        </p:nvSpPr>
        <p:spPr>
          <a:xfrm>
            <a:off x="457200" y="2130480"/>
            <a:ext cx="10965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Ценностное предложение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17"/>
          <p:cNvSpPr/>
          <p:nvPr/>
        </p:nvSpPr>
        <p:spPr>
          <a:xfrm>
            <a:off x="1554480" y="2130480"/>
            <a:ext cx="2559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«[Ценностное предложение в текущем сценарии]»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18"/>
          <p:cNvSpPr/>
          <p:nvPr/>
        </p:nvSpPr>
        <p:spPr>
          <a:xfrm>
            <a:off x="4983480" y="2130480"/>
            <a:ext cx="3794040" cy="749160"/>
          </a:xfrm>
          <a:prstGeom prst="rect">
            <a:avLst/>
          </a:prstGeom>
          <a:solidFill>
            <a:srgbClr val="fff1f2"/>
          </a:solidFill>
          <a:ln w="1016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9" name="Text 19"/>
          <p:cNvSpPr/>
          <p:nvPr/>
        </p:nvSpPr>
        <p:spPr>
          <a:xfrm>
            <a:off x="5074920" y="2130480"/>
            <a:ext cx="36111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«[Ценностное предложение в альтернативном сценарии]»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20"/>
          <p:cNvSpPr/>
          <p:nvPr/>
        </p:nvSpPr>
        <p:spPr>
          <a:xfrm>
            <a:off x="4206240" y="2331720"/>
            <a:ext cx="730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5939e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21"/>
          <p:cNvSpPr/>
          <p:nvPr/>
        </p:nvSpPr>
        <p:spPr>
          <a:xfrm>
            <a:off x="365760" y="3026520"/>
            <a:ext cx="3794040" cy="749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2" name="Text 22"/>
          <p:cNvSpPr/>
          <p:nvPr/>
        </p:nvSpPr>
        <p:spPr>
          <a:xfrm>
            <a:off x="457200" y="3026520"/>
            <a:ext cx="10965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Job-to-be-Done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23"/>
          <p:cNvSpPr/>
          <p:nvPr/>
        </p:nvSpPr>
        <p:spPr>
          <a:xfrm>
            <a:off x="1554480" y="3026520"/>
            <a:ext cx="2559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[Job-to-be-Done в текущем сценарии]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24"/>
          <p:cNvSpPr/>
          <p:nvPr/>
        </p:nvSpPr>
        <p:spPr>
          <a:xfrm>
            <a:off x="4983480" y="3026520"/>
            <a:ext cx="3794040" cy="749160"/>
          </a:xfrm>
          <a:prstGeom prst="rect">
            <a:avLst/>
          </a:prstGeom>
          <a:solidFill>
            <a:srgbClr val="fff1f2"/>
          </a:solidFill>
          <a:ln w="1016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5" name="Text 25"/>
          <p:cNvSpPr/>
          <p:nvPr/>
        </p:nvSpPr>
        <p:spPr>
          <a:xfrm>
            <a:off x="5074920" y="3026520"/>
            <a:ext cx="36111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[Job-to-be-Done в альтернативном сценарии]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26"/>
          <p:cNvSpPr/>
          <p:nvPr/>
        </p:nvSpPr>
        <p:spPr>
          <a:xfrm>
            <a:off x="4206240" y="3227760"/>
            <a:ext cx="730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5939e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27"/>
          <p:cNvSpPr/>
          <p:nvPr/>
        </p:nvSpPr>
        <p:spPr>
          <a:xfrm>
            <a:off x="365760" y="3922920"/>
            <a:ext cx="3794040" cy="74916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8" name="Text 28"/>
          <p:cNvSpPr/>
          <p:nvPr/>
        </p:nvSpPr>
        <p:spPr>
          <a:xfrm>
            <a:off x="457200" y="3922920"/>
            <a:ext cx="10965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Бизнес-модель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 29"/>
          <p:cNvSpPr/>
          <p:nvPr/>
        </p:nvSpPr>
        <p:spPr>
          <a:xfrm>
            <a:off x="1554480" y="3922920"/>
            <a:ext cx="25596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[Бизнес-модель в текущем сценарии: монетизация, чек]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30"/>
          <p:cNvSpPr/>
          <p:nvPr/>
        </p:nvSpPr>
        <p:spPr>
          <a:xfrm>
            <a:off x="4983480" y="3922920"/>
            <a:ext cx="3794040" cy="749160"/>
          </a:xfrm>
          <a:prstGeom prst="rect">
            <a:avLst/>
          </a:prstGeom>
          <a:solidFill>
            <a:srgbClr val="fff1f2"/>
          </a:solidFill>
          <a:ln w="10160">
            <a:solidFill>
              <a:srgbClr val="f593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1" name="Text 31"/>
          <p:cNvSpPr/>
          <p:nvPr/>
        </p:nvSpPr>
        <p:spPr>
          <a:xfrm>
            <a:off x="5074920" y="3922920"/>
            <a:ext cx="36111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f1020"/>
                </a:solidFill>
                <a:latin typeface="Calibri"/>
                <a:ea typeface="Calibri"/>
              </a:rPr>
              <a:t>[Бизнес-модель в альтернативном сценарии: что меняется в экономике]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Text 32"/>
          <p:cNvSpPr/>
          <p:nvPr/>
        </p:nvSpPr>
        <p:spPr>
          <a:xfrm>
            <a:off x="4206240" y="4123800"/>
            <a:ext cx="7308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5939e"/>
                </a:solidFill>
                <a:latin typeface="Calibri"/>
                <a:ea typeface="Calibri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4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RICE-приоритизация возможностей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f5939e"/>
                </a:solidFill>
                <a:latin typeface="Calibri"/>
                <a:ea typeface="Calibri"/>
              </a:rPr>
              <a:t>АЛЬТ.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7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RICE = (Reach × Impact × Confidence) / Effort; задача 14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Text 37"/>
          <p:cNvSpPr/>
          <p:nvPr/>
        </p:nvSpPr>
        <p:spPr>
          <a:xfrm>
            <a:off x="365760" y="777240"/>
            <a:ext cx="8411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4" strike="noStrike">
                <a:solidFill>
                  <a:srgbClr val="64748b"/>
                </a:solidFill>
                <a:latin typeface="Calibri"/>
                <a:ea typeface="Calibri"/>
              </a:rPr>
              <a:t>RICE-ПРИОРИТИЗАЦИЯ ВОЗМОЖНОСТЕЙ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38"/>
          <p:cNvSpPr/>
          <p:nvPr/>
        </p:nvSpPr>
        <p:spPr>
          <a:xfrm>
            <a:off x="365760" y="1051560"/>
            <a:ext cx="319968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0" name="Text 39"/>
          <p:cNvSpPr/>
          <p:nvPr/>
        </p:nvSpPr>
        <p:spPr>
          <a:xfrm>
            <a:off x="365760" y="1051560"/>
            <a:ext cx="3199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Возможность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40"/>
          <p:cNvSpPr/>
          <p:nvPr/>
        </p:nvSpPr>
        <p:spPr>
          <a:xfrm>
            <a:off x="3602880" y="1051560"/>
            <a:ext cx="100512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2" name="Text 41"/>
          <p:cNvSpPr/>
          <p:nvPr/>
        </p:nvSpPr>
        <p:spPr>
          <a:xfrm>
            <a:off x="3602880" y="105156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Reach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42"/>
          <p:cNvSpPr/>
          <p:nvPr/>
        </p:nvSpPr>
        <p:spPr>
          <a:xfrm>
            <a:off x="4645080" y="1051560"/>
            <a:ext cx="100512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4" name="Text 43"/>
          <p:cNvSpPr/>
          <p:nvPr/>
        </p:nvSpPr>
        <p:spPr>
          <a:xfrm>
            <a:off x="4645080" y="1051560"/>
            <a:ext cx="10051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Impact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44"/>
          <p:cNvSpPr/>
          <p:nvPr/>
        </p:nvSpPr>
        <p:spPr>
          <a:xfrm>
            <a:off x="5687640" y="1051560"/>
            <a:ext cx="137088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6" name="Text 45"/>
          <p:cNvSpPr/>
          <p:nvPr/>
        </p:nvSpPr>
        <p:spPr>
          <a:xfrm>
            <a:off x="5687640" y="1051560"/>
            <a:ext cx="1370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Confidence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46"/>
          <p:cNvSpPr/>
          <p:nvPr/>
        </p:nvSpPr>
        <p:spPr>
          <a:xfrm>
            <a:off x="7095600" y="1051560"/>
            <a:ext cx="91368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8" name="Text 47"/>
          <p:cNvSpPr/>
          <p:nvPr/>
        </p:nvSpPr>
        <p:spPr>
          <a:xfrm>
            <a:off x="7095600" y="1051560"/>
            <a:ext cx="913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Effort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48"/>
          <p:cNvSpPr/>
          <p:nvPr/>
        </p:nvSpPr>
        <p:spPr>
          <a:xfrm>
            <a:off x="8046720" y="1051560"/>
            <a:ext cx="1462320" cy="31932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0" name="Text 49"/>
          <p:cNvSpPr/>
          <p:nvPr/>
        </p:nvSpPr>
        <p:spPr>
          <a:xfrm>
            <a:off x="8046720" y="1051560"/>
            <a:ext cx="1462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RICE Score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50"/>
          <p:cNvSpPr/>
          <p:nvPr/>
        </p:nvSpPr>
        <p:spPr>
          <a:xfrm>
            <a:off x="365760" y="1408320"/>
            <a:ext cx="31996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2" name="Text 51"/>
          <p:cNvSpPr/>
          <p:nvPr/>
        </p:nvSpPr>
        <p:spPr>
          <a:xfrm>
            <a:off x="365760" y="140832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Возможность A: [название] (OS=[N]) | R=[охват] × I=[impact] × C=[conf] / E=[effort] = [score] | 🔴 ТОП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52"/>
          <p:cNvSpPr/>
          <p:nvPr/>
        </p:nvSpPr>
        <p:spPr>
          <a:xfrm>
            <a:off x="3602880" y="1408320"/>
            <a:ext cx="10051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4" name="Text 53"/>
          <p:cNvSpPr/>
          <p:nvPr/>
        </p:nvSpPr>
        <p:spPr>
          <a:xfrm>
            <a:off x="3602880" y="140832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500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54"/>
          <p:cNvSpPr/>
          <p:nvPr/>
        </p:nvSpPr>
        <p:spPr>
          <a:xfrm>
            <a:off x="4645080" y="1408320"/>
            <a:ext cx="10051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6" name="Text 55"/>
          <p:cNvSpPr/>
          <p:nvPr/>
        </p:nvSpPr>
        <p:spPr>
          <a:xfrm>
            <a:off x="4645080" y="140832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56"/>
          <p:cNvSpPr/>
          <p:nvPr/>
        </p:nvSpPr>
        <p:spPr>
          <a:xfrm>
            <a:off x="5687640" y="1408320"/>
            <a:ext cx="13708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8" name="Text 57"/>
          <p:cNvSpPr/>
          <p:nvPr/>
        </p:nvSpPr>
        <p:spPr>
          <a:xfrm>
            <a:off x="5687640" y="14083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80%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58"/>
          <p:cNvSpPr/>
          <p:nvPr/>
        </p:nvSpPr>
        <p:spPr>
          <a:xfrm>
            <a:off x="7095600" y="1408320"/>
            <a:ext cx="9136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0" name="Text 59"/>
          <p:cNvSpPr/>
          <p:nvPr/>
        </p:nvSpPr>
        <p:spPr>
          <a:xfrm>
            <a:off x="7095600" y="14083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60"/>
          <p:cNvSpPr/>
          <p:nvPr/>
        </p:nvSpPr>
        <p:spPr>
          <a:xfrm>
            <a:off x="8046720" y="1408320"/>
            <a:ext cx="14623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2" name="Text 61"/>
          <p:cNvSpPr/>
          <p:nvPr/>
        </p:nvSpPr>
        <p:spPr>
          <a:xfrm>
            <a:off x="8046720" y="140832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94a3f6"/>
                </a:solidFill>
                <a:latin typeface="Calibri"/>
                <a:ea typeface="Calibri"/>
              </a:rPr>
              <a:t>400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62"/>
          <p:cNvSpPr/>
          <p:nvPr/>
        </p:nvSpPr>
        <p:spPr>
          <a:xfrm>
            <a:off x="365760" y="1719000"/>
            <a:ext cx="319968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4" name="Text 63"/>
          <p:cNvSpPr/>
          <p:nvPr/>
        </p:nvSpPr>
        <p:spPr>
          <a:xfrm>
            <a:off x="365760" y="171900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Возможность B: [название] (OS=[N]) | R=[охват] × I=[impact] × C=[conf] / E=[effort] = [score] | 🟠 ВЫСОКИЙ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64"/>
          <p:cNvSpPr/>
          <p:nvPr/>
        </p:nvSpPr>
        <p:spPr>
          <a:xfrm>
            <a:off x="3602880" y="1719000"/>
            <a:ext cx="100512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6" name="Text 65"/>
          <p:cNvSpPr/>
          <p:nvPr/>
        </p:nvSpPr>
        <p:spPr>
          <a:xfrm>
            <a:off x="3602880" y="171900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200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66"/>
          <p:cNvSpPr/>
          <p:nvPr/>
        </p:nvSpPr>
        <p:spPr>
          <a:xfrm>
            <a:off x="4645080" y="1719000"/>
            <a:ext cx="100512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8" name="Text 67"/>
          <p:cNvSpPr/>
          <p:nvPr/>
        </p:nvSpPr>
        <p:spPr>
          <a:xfrm>
            <a:off x="4645080" y="171900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68"/>
          <p:cNvSpPr/>
          <p:nvPr/>
        </p:nvSpPr>
        <p:spPr>
          <a:xfrm>
            <a:off x="5687640" y="1719000"/>
            <a:ext cx="137088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0" name="Text 69"/>
          <p:cNvSpPr/>
          <p:nvPr/>
        </p:nvSpPr>
        <p:spPr>
          <a:xfrm>
            <a:off x="5687640" y="171900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50%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70"/>
          <p:cNvSpPr/>
          <p:nvPr/>
        </p:nvSpPr>
        <p:spPr>
          <a:xfrm>
            <a:off x="7095600" y="1719000"/>
            <a:ext cx="91368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2" name="Text 71"/>
          <p:cNvSpPr/>
          <p:nvPr/>
        </p:nvSpPr>
        <p:spPr>
          <a:xfrm>
            <a:off x="7095600" y="171900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4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72"/>
          <p:cNvSpPr/>
          <p:nvPr/>
        </p:nvSpPr>
        <p:spPr>
          <a:xfrm>
            <a:off x="8046720" y="1719000"/>
            <a:ext cx="1462320" cy="273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4" name="Text 73"/>
          <p:cNvSpPr/>
          <p:nvPr/>
        </p:nvSpPr>
        <p:spPr>
          <a:xfrm>
            <a:off x="8046720" y="171900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94a3f6"/>
                </a:solidFill>
                <a:latin typeface="Calibri"/>
                <a:ea typeface="Calibri"/>
              </a:rPr>
              <a:t>75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74"/>
          <p:cNvSpPr/>
          <p:nvPr/>
        </p:nvSpPr>
        <p:spPr>
          <a:xfrm>
            <a:off x="365760" y="2030040"/>
            <a:ext cx="31996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6" name="Text 75"/>
          <p:cNvSpPr/>
          <p:nvPr/>
        </p:nvSpPr>
        <p:spPr>
          <a:xfrm>
            <a:off x="365760" y="2030040"/>
            <a:ext cx="3199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Возможность C: [название] (OS=[N]) | R=[охват] × I=[impact] × C=[conf] / E=[effort] = [score] | 🟡 СРЕДНИЙ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76"/>
          <p:cNvSpPr/>
          <p:nvPr/>
        </p:nvSpPr>
        <p:spPr>
          <a:xfrm>
            <a:off x="3602880" y="2030040"/>
            <a:ext cx="10051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8" name="Text 77"/>
          <p:cNvSpPr/>
          <p:nvPr/>
        </p:nvSpPr>
        <p:spPr>
          <a:xfrm>
            <a:off x="3602880" y="203004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800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78"/>
          <p:cNvSpPr/>
          <p:nvPr/>
        </p:nvSpPr>
        <p:spPr>
          <a:xfrm>
            <a:off x="4645080" y="2030040"/>
            <a:ext cx="10051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0" name="Text 79"/>
          <p:cNvSpPr/>
          <p:nvPr/>
        </p:nvSpPr>
        <p:spPr>
          <a:xfrm>
            <a:off x="4645080" y="2030040"/>
            <a:ext cx="100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80"/>
          <p:cNvSpPr/>
          <p:nvPr/>
        </p:nvSpPr>
        <p:spPr>
          <a:xfrm>
            <a:off x="5687640" y="2030040"/>
            <a:ext cx="13708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2" name="Text 81"/>
          <p:cNvSpPr/>
          <p:nvPr/>
        </p:nvSpPr>
        <p:spPr>
          <a:xfrm>
            <a:off x="5687640" y="203004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100%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82"/>
          <p:cNvSpPr/>
          <p:nvPr/>
        </p:nvSpPr>
        <p:spPr>
          <a:xfrm>
            <a:off x="7095600" y="2030040"/>
            <a:ext cx="91368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4" name="Text 83"/>
          <p:cNvSpPr/>
          <p:nvPr/>
        </p:nvSpPr>
        <p:spPr>
          <a:xfrm>
            <a:off x="7095600" y="203004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alibri"/>
                <a:ea typeface="Calibri"/>
              </a:rPr>
              <a:t>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84"/>
          <p:cNvSpPr/>
          <p:nvPr/>
        </p:nvSpPr>
        <p:spPr>
          <a:xfrm>
            <a:off x="8046720" y="2030040"/>
            <a:ext cx="1462320" cy="273600"/>
          </a:xfrm>
          <a:prstGeom prst="rect">
            <a:avLst/>
          </a:prstGeom>
          <a:solidFill>
            <a:srgbClr val="f4f5ff"/>
          </a:solidFill>
          <a:ln w="635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6" name="Text 85"/>
          <p:cNvSpPr/>
          <p:nvPr/>
        </p:nvSpPr>
        <p:spPr>
          <a:xfrm>
            <a:off x="8046720" y="203004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94a3f6"/>
                </a:solidFill>
                <a:latin typeface="Calibri"/>
                <a:ea typeface="Calibri"/>
              </a:rPr>
              <a:t>800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TextBox 87"/>
          <p:cNvSpPr/>
          <p:nvPr/>
        </p:nvSpPr>
        <p:spPr>
          <a:xfrm>
            <a:off x="365760" y="3154680"/>
            <a:ext cx="8411760" cy="1203480"/>
          </a:xfrm>
          <a:prstGeom prst="rect">
            <a:avLst/>
          </a:prstGeom>
          <a:solidFill>
            <a:srgbClr val="1a33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100" spc="-1" strike="noStrike">
                <a:solidFill>
                  <a:srgbClr val="94a3f6"/>
                </a:solidFill>
                <a:latin typeface="Calibri"/>
              </a:rPr>
              <a:t>RICE = (Reach × Impact × Confidence) / Effort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Reach — охват (чел./мес.) из целевого сегмента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Impact — используй OS из задачи 7: OS ≥ 15 → 3 | OS 10–14 → 2 | OS 6–9 → 1 | OS &lt; 6 → 0.5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Confidence — 100% (есть данные) / 80% (интервью) / 50% (гипотеза)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</a:rPr>
              <a:t>Effort — человеко-месяцы на реализацию решения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000" spc="-1" strike="noStrike">
                <a:solidFill>
                  <a:srgbClr val="457e4a"/>
                </a:solidFill>
                <a:latin typeface="Calibri"/>
              </a:rPr>
              <a:t>Возможность с наивысшим RICE Score — целевая для OST уровней 3–4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9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Пул гипотез + план тестирования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f5939e"/>
                </a:solidFill>
                <a:latin typeface="Calibri"/>
                <a:ea typeface="Calibri"/>
              </a:rPr>
              <a:t>АЛЬТ. СЦЕНАРИЙ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ubtitle"/>
          <p:cNvSpPr/>
          <p:nvPr/>
        </p:nvSpPr>
        <p:spPr>
          <a:xfrm>
            <a:off x="365760" y="868680"/>
            <a:ext cx="8412120" cy="36540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94a3f6"/>
                </a:solidFill>
                <a:latin typeface="Arial"/>
              </a:rPr>
              <a:t>ТОП-3 РИСКОВЫЕ ГИПОТЕЗЫ — порядок проверки перед запуском первых продаж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HypHead0"/>
          <p:cNvSpPr/>
          <p:nvPr/>
        </p:nvSpPr>
        <p:spPr>
          <a:xfrm>
            <a:off x="365760" y="1325880"/>
            <a:ext cx="2706120" cy="594000"/>
          </a:xfrm>
          <a:prstGeom prst="rect">
            <a:avLst/>
          </a:prstGeom>
          <a:solidFill>
            <a:srgbClr val="e57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ГИПОТЕЗА 1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  ·  Потребности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[РИСК]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HypBody0"/>
          <p:cNvSpPr/>
          <p:nvPr/>
        </p:nvSpPr>
        <p:spPr>
          <a:xfrm>
            <a:off x="365760" y="1920240"/>
            <a:ext cx="270612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ФОРМУЛИРОВКА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[Гипотеза 1 — формулировка в формате «Сегмент готов делать X за Y»]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МЕТОД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[Метод проверки: интервью / Smoke Test / Wizard of Oz / и т.д.]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4a8a4f"/>
                </a:solidFill>
                <a:latin typeface="Arial"/>
              </a:rPr>
              <a:t>КРИТЕРИЙ ✅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[Критерий успеха: количественный порог]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HypFoot0"/>
          <p:cNvSpPr/>
          <p:nvPr/>
        </p:nvSpPr>
        <p:spPr>
          <a:xfrm>
            <a:off x="365760" y="3931920"/>
            <a:ext cx="2706120" cy="4111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СРОК: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дн.]</a:t>
            </a:r>
            <a:r>
              <a:rPr b="0" lang="ru-RU" sz="900" spc="-1" strike="noStrike">
                <a:solidFill>
                  <a:srgbClr val="94a3f6"/>
                </a:solidFill>
                <a:latin typeface="Arial"/>
              </a:rPr>
              <a:t>   |   </a:t>
            </a: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БЮДЖЕТ: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HypHead1"/>
          <p:cNvSpPr/>
          <p:nvPr/>
        </p:nvSpPr>
        <p:spPr>
          <a:xfrm>
            <a:off x="3127320" y="1325880"/>
            <a:ext cx="2706120" cy="594000"/>
          </a:xfrm>
          <a:prstGeom prst="rect">
            <a:avLst/>
          </a:prstGeom>
          <a:solidFill>
            <a:srgbClr val="e57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ГИПОТЕЗА 2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  ·  Спроса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[РИСК]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HypBody1"/>
          <p:cNvSpPr/>
          <p:nvPr/>
        </p:nvSpPr>
        <p:spPr>
          <a:xfrm>
            <a:off x="3127320" y="1920240"/>
            <a:ext cx="270612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ФОРМУЛИРОВКА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[Гипотеза 2 — формулировка]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МЕТОД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[Метод проверки]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4a8a4f"/>
                </a:solidFill>
                <a:latin typeface="Arial"/>
              </a:rPr>
              <a:t>КРИТЕРИЙ ✅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[Критерий успеха]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HypFoot1"/>
          <p:cNvSpPr/>
          <p:nvPr/>
        </p:nvSpPr>
        <p:spPr>
          <a:xfrm>
            <a:off x="3127320" y="3931920"/>
            <a:ext cx="2706120" cy="4111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СРОК: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дн.]</a:t>
            </a:r>
            <a:r>
              <a:rPr b="0" lang="ru-RU" sz="900" spc="-1" strike="noStrike">
                <a:solidFill>
                  <a:srgbClr val="94a3f6"/>
                </a:solidFill>
                <a:latin typeface="Arial"/>
              </a:rPr>
              <a:t>   |   </a:t>
            </a: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БЮДЖЕТ: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HypHead2"/>
          <p:cNvSpPr/>
          <p:nvPr/>
        </p:nvSpPr>
        <p:spPr>
          <a:xfrm>
            <a:off x="5888880" y="1325880"/>
            <a:ext cx="2706120" cy="59400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e8eaf6"/>
                </a:solidFill>
                <a:latin typeface="Arial"/>
              </a:rPr>
              <a:t>ГИПОТЕЗА 3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  ·  Ценности / Канала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ffffff"/>
                </a:solidFill>
                <a:latin typeface="Arial"/>
              </a:rPr>
              <a:t>[РИСК]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HypBody2"/>
          <p:cNvSpPr/>
          <p:nvPr/>
        </p:nvSpPr>
        <p:spPr>
          <a:xfrm>
            <a:off x="5888880" y="1920240"/>
            <a:ext cx="2706120" cy="2011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91440" anchor="t">
            <a:noAutofit/>
          </a:bodyPr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ФОРМУЛИРОВКА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[Гипотеза 3 — формулировка]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94a3f6"/>
                </a:solidFill>
                <a:latin typeface="Arial"/>
              </a:rPr>
              <a:t>МЕТОД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[Метод проверки]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4a8a4f"/>
                </a:solidFill>
                <a:latin typeface="Arial"/>
              </a:rPr>
              <a:t>КРИТЕРИЙ ✅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[Критерий успеха]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HypFoot2"/>
          <p:cNvSpPr/>
          <p:nvPr/>
        </p:nvSpPr>
        <p:spPr>
          <a:xfrm>
            <a:off x="5888880" y="3931920"/>
            <a:ext cx="2706120" cy="41112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</a:pP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СРОК: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дн.]</a:t>
            </a:r>
            <a:r>
              <a:rPr b="0" lang="ru-RU" sz="900" spc="-1" strike="noStrike">
                <a:solidFill>
                  <a:srgbClr val="94a3f6"/>
                </a:solidFill>
                <a:latin typeface="Arial"/>
              </a:rPr>
              <a:t>   |   </a:t>
            </a: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БЮДЖЕТ: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[X руб.]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Rule"/>
          <p:cNvSpPr/>
          <p:nvPr/>
        </p:nvSpPr>
        <p:spPr>
          <a:xfrm>
            <a:off x="365760" y="4434840"/>
            <a:ext cx="8412120" cy="36540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▸ </a:t>
            </a: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ПОРЯДОК ПРОВЕРКИ: </a:t>
            </a: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[Порядок проверки: H1 → H2 → H3 с указанием зависимостей]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3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5" name="Text 1"/>
          <p:cNvSpPr/>
          <p:nvPr/>
        </p:nvSpPr>
        <p:spPr>
          <a:xfrm>
            <a:off x="548640" y="1737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395" strike="noStrike">
                <a:solidFill>
                  <a:srgbClr val="457e4a"/>
                </a:solidFill>
                <a:latin typeface="Calibri"/>
                <a:ea typeface="Calibri"/>
              </a:rPr>
              <a:t>РАЗДЕЛ 06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Text 2"/>
          <p:cNvSpPr/>
          <p:nvPr/>
        </p:nvSpPr>
        <p:spPr>
          <a:xfrm>
            <a:off x="548640" y="2148840"/>
            <a:ext cx="80460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PMF-метрики и следующие шаги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8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PMF-индикаторы по фазам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457e4a"/>
                </a:solidFill>
                <a:latin typeface="Calibri"/>
                <a:ea typeface="Calibri"/>
              </a:rPr>
              <a:t>PMF-МЕТРИКИ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1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Sean Ellis Test; отраслевые бенчмарки (a16z, B2B SaaS); задача 17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5"/>
          <p:cNvSpPr/>
          <p:nvPr/>
        </p:nvSpPr>
        <p:spPr>
          <a:xfrm>
            <a:off x="365760" y="7772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4" strike="noStrike">
                <a:solidFill>
                  <a:srgbClr val="457e4a"/>
                </a:solidFill>
                <a:latin typeface="Calibri"/>
                <a:ea typeface="Calibri"/>
              </a:rPr>
              <a:t>КРИТЕРИИ ПЕРЕХОДА МЕЖДУ ФАЗАМИ VERIFICATION → VALUE VALIDATION → SCALING VALIDATION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6"/>
          <p:cNvSpPr/>
          <p:nvPr/>
        </p:nvSpPr>
        <p:spPr>
          <a:xfrm>
            <a:off x="365760" y="1051560"/>
            <a:ext cx="2742480" cy="34668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4" name="Text 7"/>
          <p:cNvSpPr/>
          <p:nvPr/>
        </p:nvSpPr>
        <p:spPr>
          <a:xfrm>
            <a:off x="365760" y="105156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4" strike="noStrike">
                <a:solidFill>
                  <a:srgbClr val="ffffff"/>
                </a:solidFill>
                <a:latin typeface="Calibri"/>
                <a:ea typeface="Calibri"/>
              </a:rPr>
              <a:t>VERIFICATION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8"/>
          <p:cNvSpPr/>
          <p:nvPr/>
        </p:nvSpPr>
        <p:spPr>
          <a:xfrm>
            <a:off x="365760" y="144468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6" name="Shape 9"/>
          <p:cNvSpPr/>
          <p:nvPr/>
        </p:nvSpPr>
        <p:spPr>
          <a:xfrm>
            <a:off x="365760" y="1444680"/>
            <a:ext cx="2742480" cy="45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7" name="Text 10"/>
          <p:cNvSpPr/>
          <p:nvPr/>
        </p:nvSpPr>
        <p:spPr>
          <a:xfrm>
            <a:off x="457200" y="153612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Подтверждение боли (интервью)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Text 11"/>
          <p:cNvSpPr/>
          <p:nvPr/>
        </p:nvSpPr>
        <p:spPr>
          <a:xfrm>
            <a:off x="457200" y="190188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f6"/>
                </a:solidFill>
                <a:latin typeface="Calibri"/>
                <a:ea typeface="Calibri"/>
              </a:rPr>
              <a:t>7 из 10 описывают одну боль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12"/>
          <p:cNvSpPr/>
          <p:nvPr/>
        </p:nvSpPr>
        <p:spPr>
          <a:xfrm>
            <a:off x="365760" y="249624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0" name="Shape 13"/>
          <p:cNvSpPr/>
          <p:nvPr/>
        </p:nvSpPr>
        <p:spPr>
          <a:xfrm>
            <a:off x="365760" y="2496240"/>
            <a:ext cx="2742480" cy="45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1" name="Text 14"/>
          <p:cNvSpPr/>
          <p:nvPr/>
        </p:nvSpPr>
        <p:spPr>
          <a:xfrm>
            <a:off x="457200" y="258768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Конверсия smoke test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Text 15"/>
          <p:cNvSpPr/>
          <p:nvPr/>
        </p:nvSpPr>
        <p:spPr>
          <a:xfrm>
            <a:off x="457200" y="295344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f6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94a3f6"/>
                </a:solidFill>
                <a:latin typeface="Calibri"/>
                <a:ea typeface="Calibri"/>
              </a:rPr>
              <a:t>1–5% B2B / ≥ 3–8% B2C — см. задача 16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16"/>
          <p:cNvSpPr/>
          <p:nvPr/>
        </p:nvSpPr>
        <p:spPr>
          <a:xfrm>
            <a:off x="365760" y="354780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4" name="Shape 17"/>
          <p:cNvSpPr/>
          <p:nvPr/>
        </p:nvSpPr>
        <p:spPr>
          <a:xfrm>
            <a:off x="365760" y="3547800"/>
            <a:ext cx="2742480" cy="4500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5" name="Text 18"/>
          <p:cNvSpPr/>
          <p:nvPr/>
        </p:nvSpPr>
        <p:spPr>
          <a:xfrm>
            <a:off x="457200" y="363924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Opportunity Score топ-1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Text 19"/>
          <p:cNvSpPr/>
          <p:nvPr/>
        </p:nvSpPr>
        <p:spPr>
          <a:xfrm>
            <a:off x="457200" y="400500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4a3f6"/>
                </a:solidFill>
                <a:latin typeface="Calibri"/>
                <a:ea typeface="Calibri"/>
              </a:rPr>
              <a:t>OS ≥ 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Text 20"/>
          <p:cNvSpPr/>
          <p:nvPr/>
        </p:nvSpPr>
        <p:spPr>
          <a:xfrm>
            <a:off x="3108960" y="1828800"/>
            <a:ext cx="136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8eaf6"/>
                </a:solidFill>
                <a:latin typeface="Calibri"/>
                <a:ea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1"/>
          <p:cNvSpPr/>
          <p:nvPr/>
        </p:nvSpPr>
        <p:spPr>
          <a:xfrm>
            <a:off x="3246120" y="1051560"/>
            <a:ext cx="2742480" cy="346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9" name="Text 22"/>
          <p:cNvSpPr/>
          <p:nvPr/>
        </p:nvSpPr>
        <p:spPr>
          <a:xfrm>
            <a:off x="3246120" y="105156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4" strike="noStrike">
                <a:solidFill>
                  <a:srgbClr val="ffffff"/>
                </a:solidFill>
                <a:latin typeface="Calibri"/>
                <a:ea typeface="Calibri"/>
              </a:rPr>
              <a:t>VALUE VALIDATION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23"/>
          <p:cNvSpPr/>
          <p:nvPr/>
        </p:nvSpPr>
        <p:spPr>
          <a:xfrm>
            <a:off x="3246120" y="144468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1" name="Shape 24"/>
          <p:cNvSpPr/>
          <p:nvPr/>
        </p:nvSpPr>
        <p:spPr>
          <a:xfrm>
            <a:off x="3246120" y="1444680"/>
            <a:ext cx="2742480" cy="45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2" name="Text 25"/>
          <p:cNvSpPr/>
          <p:nvPr/>
        </p:nvSpPr>
        <p:spPr>
          <a:xfrm>
            <a:off x="3337560" y="153612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Sean Ellis Test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Text 26"/>
          <p:cNvSpPr/>
          <p:nvPr/>
        </p:nvSpPr>
        <p:spPr>
          <a:xfrm>
            <a:off x="3337560" y="190188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40% «очень разочарованы» без продукта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27"/>
          <p:cNvSpPr/>
          <p:nvPr/>
        </p:nvSpPr>
        <p:spPr>
          <a:xfrm>
            <a:off x="3246120" y="249624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5" name="Shape 28"/>
          <p:cNvSpPr/>
          <p:nvPr/>
        </p:nvSpPr>
        <p:spPr>
          <a:xfrm>
            <a:off x="3246120" y="2496240"/>
            <a:ext cx="2742480" cy="45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6" name="Text 29"/>
          <p:cNvSpPr/>
          <p:nvPr/>
        </p:nvSpPr>
        <p:spPr>
          <a:xfrm>
            <a:off x="3337560" y="258768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NPS первых пользователей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30"/>
          <p:cNvSpPr/>
          <p:nvPr/>
        </p:nvSpPr>
        <p:spPr>
          <a:xfrm>
            <a:off x="3337560" y="295344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40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31"/>
          <p:cNvSpPr/>
          <p:nvPr/>
        </p:nvSpPr>
        <p:spPr>
          <a:xfrm>
            <a:off x="3246120" y="354780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9" name="Shape 32"/>
          <p:cNvSpPr/>
          <p:nvPr/>
        </p:nvSpPr>
        <p:spPr>
          <a:xfrm>
            <a:off x="3246120" y="3547800"/>
            <a:ext cx="2742480" cy="45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0" name="Text 33"/>
          <p:cNvSpPr/>
          <p:nvPr/>
        </p:nvSpPr>
        <p:spPr>
          <a:xfrm>
            <a:off x="3337560" y="363924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Retention (мес. 1)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 34"/>
          <p:cNvSpPr/>
          <p:nvPr/>
        </p:nvSpPr>
        <p:spPr>
          <a:xfrm>
            <a:off x="3337560" y="400500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0d9488"/>
                </a:solidFill>
                <a:latin typeface="Calibri"/>
                <a:ea typeface="Calibri"/>
              </a:rPr>
              <a:t>25% consumer / ≥ 40% B2B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Text 35"/>
          <p:cNvSpPr/>
          <p:nvPr/>
        </p:nvSpPr>
        <p:spPr>
          <a:xfrm>
            <a:off x="5989320" y="1828800"/>
            <a:ext cx="136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e8eaf6"/>
                </a:solidFill>
                <a:latin typeface="Calibri"/>
                <a:ea typeface="Calibri"/>
              </a:rPr>
              <a:t>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36"/>
          <p:cNvSpPr/>
          <p:nvPr/>
        </p:nvSpPr>
        <p:spPr>
          <a:xfrm>
            <a:off x="6126480" y="1051560"/>
            <a:ext cx="2742480" cy="34668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4" name="Text 37"/>
          <p:cNvSpPr/>
          <p:nvPr/>
        </p:nvSpPr>
        <p:spPr>
          <a:xfrm>
            <a:off x="6126480" y="1051560"/>
            <a:ext cx="2742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4" strike="noStrike">
                <a:solidFill>
                  <a:srgbClr val="ffffff"/>
                </a:solidFill>
                <a:latin typeface="Calibri"/>
                <a:ea typeface="Calibri"/>
              </a:rPr>
              <a:t>SCALING VALIDATION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38"/>
          <p:cNvSpPr/>
          <p:nvPr/>
        </p:nvSpPr>
        <p:spPr>
          <a:xfrm>
            <a:off x="6126480" y="144468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6" name="Shape 39"/>
          <p:cNvSpPr/>
          <p:nvPr/>
        </p:nvSpPr>
        <p:spPr>
          <a:xfrm>
            <a:off x="6126480" y="1444680"/>
            <a:ext cx="2742480" cy="45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7" name="Text 40"/>
          <p:cNvSpPr/>
          <p:nvPr/>
        </p:nvSpPr>
        <p:spPr>
          <a:xfrm>
            <a:off x="6217920" y="153612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Retention (мес. 3)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 41"/>
          <p:cNvSpPr/>
          <p:nvPr/>
        </p:nvSpPr>
        <p:spPr>
          <a:xfrm>
            <a:off x="6217920" y="190188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30% consumer / ≥ 50% B2B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42"/>
          <p:cNvSpPr/>
          <p:nvPr/>
        </p:nvSpPr>
        <p:spPr>
          <a:xfrm>
            <a:off x="6126480" y="249624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0" name="Shape 43"/>
          <p:cNvSpPr/>
          <p:nvPr/>
        </p:nvSpPr>
        <p:spPr>
          <a:xfrm>
            <a:off x="6126480" y="2496240"/>
            <a:ext cx="2742480" cy="45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1" name="Text 44"/>
          <p:cNvSpPr/>
          <p:nvPr/>
        </p:nvSpPr>
        <p:spPr>
          <a:xfrm>
            <a:off x="6217920" y="258768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LTV / CAC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 45"/>
          <p:cNvSpPr/>
          <p:nvPr/>
        </p:nvSpPr>
        <p:spPr>
          <a:xfrm>
            <a:off x="6217920" y="295344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3x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46"/>
          <p:cNvSpPr/>
          <p:nvPr/>
        </p:nvSpPr>
        <p:spPr>
          <a:xfrm>
            <a:off x="6126480" y="3547800"/>
            <a:ext cx="2742480" cy="959400"/>
          </a:xfrm>
          <a:prstGeom prst="rect">
            <a:avLst/>
          </a:prstGeom>
          <a:solidFill>
            <a:srgbClr val="f4f5ff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4" name="Shape 47"/>
          <p:cNvSpPr/>
          <p:nvPr/>
        </p:nvSpPr>
        <p:spPr>
          <a:xfrm>
            <a:off x="6126480" y="3547800"/>
            <a:ext cx="2742480" cy="4500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5" name="Text 48"/>
          <p:cNvSpPr/>
          <p:nvPr/>
        </p:nvSpPr>
        <p:spPr>
          <a:xfrm>
            <a:off x="6217920" y="3639240"/>
            <a:ext cx="2559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f1020"/>
                </a:solidFill>
                <a:latin typeface="Calibri"/>
                <a:ea typeface="Calibri"/>
              </a:rPr>
              <a:t>Органический рост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 49"/>
          <p:cNvSpPr/>
          <p:nvPr/>
        </p:nvSpPr>
        <p:spPr>
          <a:xfrm>
            <a:off x="6217920" y="400500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≥ </a:t>
            </a:r>
            <a:r>
              <a:rPr b="1" lang="en-US" sz="1000" spc="-1" strike="noStrike">
                <a:solidFill>
                  <a:srgbClr val="457e4a"/>
                </a:solidFill>
                <a:latin typeface="Calibri"/>
                <a:ea typeface="Calibri"/>
              </a:rPr>
              <a:t>20% новых по рекомендации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50"/>
          <p:cNvSpPr/>
          <p:nvPr/>
        </p:nvSpPr>
        <p:spPr>
          <a:xfrm>
            <a:off x="365760" y="4544640"/>
            <a:ext cx="8411760" cy="31932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8" name="Text 51"/>
          <p:cNvSpPr/>
          <p:nvPr/>
        </p:nvSpPr>
        <p:spPr>
          <a:xfrm>
            <a:off x="457200" y="45446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0d9488"/>
                </a:solidFill>
                <a:latin typeface="Calibri"/>
                <a:ea typeface="Calibri"/>
              </a:rPr>
              <a:t>Sean Ellis Test: «Как вы себя почувствуете, если [продукт] станет недоступен?» → цель ≥ 40% «очень разочарован(а)» после 10–20 первых продаж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Shape 0"/>
          <p:cNvSpPr/>
          <p:nvPr/>
        </p:nvSpPr>
        <p:spPr>
          <a:xfrm>
            <a:off x="0" y="0"/>
            <a:ext cx="9143280" cy="685080"/>
          </a:xfrm>
          <a:prstGeom prst="rect">
            <a:avLst/>
          </a:prstGeom>
          <a:solidFill>
            <a:srgbClr val="0f1020"/>
          </a:solidFill>
          <a:ln w="12700">
            <a:solidFill>
              <a:srgbClr val="0f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0" name="Text 1"/>
          <p:cNvSpPr/>
          <p:nvPr/>
        </p:nvSpPr>
        <p:spPr>
          <a:xfrm>
            <a:off x="365760" y="0"/>
            <a:ext cx="7314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OS финальный — топ-10 outcomes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Text 2"/>
          <p:cNvSpPr/>
          <p:nvPr/>
        </p:nvSpPr>
        <p:spPr>
          <a:xfrm>
            <a:off x="7132320" y="0"/>
            <a:ext cx="1828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4" strike="noStrike">
                <a:solidFill>
                  <a:srgbClr val="0d9488"/>
                </a:solidFill>
                <a:latin typeface="Calibri"/>
                <a:ea typeface="Calibri"/>
              </a:rPr>
              <a:t>PMF-МЕТРИКИ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Formula"/>
          <p:cNvSpPr/>
          <p:nvPr/>
        </p:nvSpPr>
        <p:spPr>
          <a:xfrm>
            <a:off x="365760" y="868680"/>
            <a:ext cx="8412120" cy="54828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anchor="t">
            <a:noAutofit/>
          </a:bodyPr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OPPORTUNITY SCORE = </a:t>
            </a: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Важность + max(Важность − Удовлетворённость, 0)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e8eaf6"/>
                </a:solidFill>
                <a:latin typeface="Arial"/>
              </a:rPr>
              <a:t>Приоритет: OS ≥ 15 — 🔴 критический | 12–14 — 🟠 высокий | 9–11 — 🟡 средний | &lt; 9 — 🟢 низкий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blHead0"/>
          <p:cNvSpPr/>
          <p:nvPr/>
        </p:nvSpPr>
        <p:spPr>
          <a:xfrm>
            <a:off x="365760" y="1508760"/>
            <a:ext cx="31968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#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blHead1"/>
          <p:cNvSpPr/>
          <p:nvPr/>
        </p:nvSpPr>
        <p:spPr>
          <a:xfrm>
            <a:off x="685800" y="1508760"/>
            <a:ext cx="438876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Outcome (результат из Job Map)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TblHead2"/>
          <p:cNvSpPr/>
          <p:nvPr/>
        </p:nvSpPr>
        <p:spPr>
          <a:xfrm>
            <a:off x="5074920" y="1508760"/>
            <a:ext cx="68544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Важн.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TblHead3"/>
          <p:cNvSpPr/>
          <p:nvPr/>
        </p:nvSpPr>
        <p:spPr>
          <a:xfrm>
            <a:off x="5760720" y="1508760"/>
            <a:ext cx="68544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Удовл.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TblHead4"/>
          <p:cNvSpPr/>
          <p:nvPr/>
        </p:nvSpPr>
        <p:spPr>
          <a:xfrm>
            <a:off x="6446520" y="1508760"/>
            <a:ext cx="68544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OS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blHead5"/>
          <p:cNvSpPr/>
          <p:nvPr/>
        </p:nvSpPr>
        <p:spPr>
          <a:xfrm>
            <a:off x="7132320" y="1508760"/>
            <a:ext cx="1645560" cy="319680"/>
          </a:xfrm>
          <a:prstGeom prst="rect">
            <a:avLst/>
          </a:prstGeom>
          <a:solidFill>
            <a:srgbClr val="0f10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94a3f6"/>
                </a:solidFill>
                <a:latin typeface="Arial"/>
              </a:rPr>
              <a:t>Приоритет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blR0C0"/>
          <p:cNvSpPr/>
          <p:nvPr/>
        </p:nvSpPr>
        <p:spPr>
          <a:xfrm>
            <a:off x="365760" y="1828800"/>
            <a:ext cx="31968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1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TblR0C1"/>
          <p:cNvSpPr/>
          <p:nvPr/>
        </p:nvSpPr>
        <p:spPr>
          <a:xfrm>
            <a:off x="685800" y="1828800"/>
            <a:ext cx="43887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1 — описание]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blR0C2"/>
          <p:cNvSpPr/>
          <p:nvPr/>
        </p:nvSpPr>
        <p:spPr>
          <a:xfrm>
            <a:off x="5074920" y="182880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TblR0C3"/>
          <p:cNvSpPr/>
          <p:nvPr/>
        </p:nvSpPr>
        <p:spPr>
          <a:xfrm>
            <a:off x="5760720" y="182880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TblR0C4"/>
          <p:cNvSpPr/>
          <p:nvPr/>
        </p:nvSpPr>
        <p:spPr>
          <a:xfrm>
            <a:off x="6446520" y="1828800"/>
            <a:ext cx="685440" cy="273960"/>
          </a:xfrm>
          <a:prstGeom prst="rect">
            <a:avLst/>
          </a:prstGeom>
          <a:solidFill>
            <a:srgbClr val="e57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blR0C5"/>
          <p:cNvSpPr/>
          <p:nvPr/>
        </p:nvSpPr>
        <p:spPr>
          <a:xfrm>
            <a:off x="7132320" y="1828800"/>
            <a:ext cx="16455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🔴 </a:t>
            </a:r>
            <a:r>
              <a:rPr b="1" lang="ru-RU" sz="900" spc="-1" strike="noStrike">
                <a:solidFill>
                  <a:srgbClr val="e57373"/>
                </a:solidFill>
                <a:latin typeface="Arial"/>
              </a:rPr>
              <a:t>Критический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blR1C0"/>
          <p:cNvSpPr/>
          <p:nvPr/>
        </p:nvSpPr>
        <p:spPr>
          <a:xfrm>
            <a:off x="365760" y="2103120"/>
            <a:ext cx="31968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2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blR1C1"/>
          <p:cNvSpPr/>
          <p:nvPr/>
        </p:nvSpPr>
        <p:spPr>
          <a:xfrm>
            <a:off x="685800" y="2103120"/>
            <a:ext cx="43887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2]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TblR1C2"/>
          <p:cNvSpPr/>
          <p:nvPr/>
        </p:nvSpPr>
        <p:spPr>
          <a:xfrm>
            <a:off x="5074920" y="210312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9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TblR1C3"/>
          <p:cNvSpPr/>
          <p:nvPr/>
        </p:nvSpPr>
        <p:spPr>
          <a:xfrm>
            <a:off x="5760720" y="210312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TblR1C4"/>
          <p:cNvSpPr/>
          <p:nvPr/>
        </p:nvSpPr>
        <p:spPr>
          <a:xfrm>
            <a:off x="6446520" y="2103120"/>
            <a:ext cx="685440" cy="273960"/>
          </a:xfrm>
          <a:prstGeom prst="rect">
            <a:avLst/>
          </a:prstGeom>
          <a:solidFill>
            <a:srgbClr val="e5737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blR1C5"/>
          <p:cNvSpPr/>
          <p:nvPr/>
        </p:nvSpPr>
        <p:spPr>
          <a:xfrm>
            <a:off x="7132320" y="2103120"/>
            <a:ext cx="16455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🔴 </a:t>
            </a:r>
            <a:r>
              <a:rPr b="1" lang="ru-RU" sz="900" spc="-1" strike="noStrike">
                <a:solidFill>
                  <a:srgbClr val="e57373"/>
                </a:solidFill>
                <a:latin typeface="Arial"/>
              </a:rPr>
              <a:t>Критический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blR2C0"/>
          <p:cNvSpPr/>
          <p:nvPr/>
        </p:nvSpPr>
        <p:spPr>
          <a:xfrm>
            <a:off x="365760" y="2377440"/>
            <a:ext cx="31968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3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TblR2C1"/>
          <p:cNvSpPr/>
          <p:nvPr/>
        </p:nvSpPr>
        <p:spPr>
          <a:xfrm>
            <a:off x="685800" y="2377440"/>
            <a:ext cx="43887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3]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TblR2C2"/>
          <p:cNvSpPr/>
          <p:nvPr/>
        </p:nvSpPr>
        <p:spPr>
          <a:xfrm>
            <a:off x="5074920" y="237744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TblR2C3"/>
          <p:cNvSpPr/>
          <p:nvPr/>
        </p:nvSpPr>
        <p:spPr>
          <a:xfrm>
            <a:off x="5760720" y="237744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TblR2C4"/>
          <p:cNvSpPr/>
          <p:nvPr/>
        </p:nvSpPr>
        <p:spPr>
          <a:xfrm>
            <a:off x="6446520" y="2377440"/>
            <a:ext cx="685440" cy="27396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TblR2C5"/>
          <p:cNvSpPr/>
          <p:nvPr/>
        </p:nvSpPr>
        <p:spPr>
          <a:xfrm>
            <a:off x="7132320" y="2377440"/>
            <a:ext cx="16455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🟠 </a:t>
            </a:r>
            <a:r>
              <a:rPr b="1" lang="ru-RU" sz="900" spc="-1" strike="noStrike">
                <a:solidFill>
                  <a:srgbClr val="d68c3c"/>
                </a:solidFill>
                <a:latin typeface="Arial"/>
              </a:rPr>
              <a:t>Высокий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blR3C0"/>
          <p:cNvSpPr/>
          <p:nvPr/>
        </p:nvSpPr>
        <p:spPr>
          <a:xfrm>
            <a:off x="365760" y="2651760"/>
            <a:ext cx="31968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4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TblR3C1"/>
          <p:cNvSpPr/>
          <p:nvPr/>
        </p:nvSpPr>
        <p:spPr>
          <a:xfrm>
            <a:off x="685800" y="2651760"/>
            <a:ext cx="43887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4]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TblR3C2"/>
          <p:cNvSpPr/>
          <p:nvPr/>
        </p:nvSpPr>
        <p:spPr>
          <a:xfrm>
            <a:off x="5074920" y="265176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8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TblR3C3"/>
          <p:cNvSpPr/>
          <p:nvPr/>
        </p:nvSpPr>
        <p:spPr>
          <a:xfrm>
            <a:off x="5760720" y="265176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TblR3C4"/>
          <p:cNvSpPr/>
          <p:nvPr/>
        </p:nvSpPr>
        <p:spPr>
          <a:xfrm>
            <a:off x="6446520" y="2651760"/>
            <a:ext cx="685440" cy="27396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TblR3C5"/>
          <p:cNvSpPr/>
          <p:nvPr/>
        </p:nvSpPr>
        <p:spPr>
          <a:xfrm>
            <a:off x="7132320" y="2651760"/>
            <a:ext cx="16455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🟠 </a:t>
            </a:r>
            <a:r>
              <a:rPr b="1" lang="ru-RU" sz="900" spc="-1" strike="noStrike">
                <a:solidFill>
                  <a:srgbClr val="d68c3c"/>
                </a:solidFill>
                <a:latin typeface="Arial"/>
              </a:rPr>
              <a:t>Высокий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TblR4C0"/>
          <p:cNvSpPr/>
          <p:nvPr/>
        </p:nvSpPr>
        <p:spPr>
          <a:xfrm>
            <a:off x="365760" y="2926080"/>
            <a:ext cx="31968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5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TblR4C1"/>
          <p:cNvSpPr/>
          <p:nvPr/>
        </p:nvSpPr>
        <p:spPr>
          <a:xfrm>
            <a:off x="685800" y="2926080"/>
            <a:ext cx="43887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5]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blR4C2"/>
          <p:cNvSpPr/>
          <p:nvPr/>
        </p:nvSpPr>
        <p:spPr>
          <a:xfrm>
            <a:off x="5074920" y="292608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TblR4C3"/>
          <p:cNvSpPr/>
          <p:nvPr/>
        </p:nvSpPr>
        <p:spPr>
          <a:xfrm>
            <a:off x="5760720" y="292608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blR4C4"/>
          <p:cNvSpPr/>
          <p:nvPr/>
        </p:nvSpPr>
        <p:spPr>
          <a:xfrm>
            <a:off x="6446520" y="2926080"/>
            <a:ext cx="685440" cy="273960"/>
          </a:xfrm>
          <a:prstGeom prst="rect">
            <a:avLst/>
          </a:prstGeom>
          <a:solidFill>
            <a:srgbClr val="d68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blR4C5"/>
          <p:cNvSpPr/>
          <p:nvPr/>
        </p:nvSpPr>
        <p:spPr>
          <a:xfrm>
            <a:off x="7132320" y="2926080"/>
            <a:ext cx="16455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🟠 </a:t>
            </a:r>
            <a:r>
              <a:rPr b="1" lang="ru-RU" sz="900" spc="-1" strike="noStrike">
                <a:solidFill>
                  <a:srgbClr val="d68c3c"/>
                </a:solidFill>
                <a:latin typeface="Arial"/>
              </a:rPr>
              <a:t>Высокий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TblR5C0"/>
          <p:cNvSpPr/>
          <p:nvPr/>
        </p:nvSpPr>
        <p:spPr>
          <a:xfrm>
            <a:off x="365760" y="3200400"/>
            <a:ext cx="31968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6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TblR5C1"/>
          <p:cNvSpPr/>
          <p:nvPr/>
        </p:nvSpPr>
        <p:spPr>
          <a:xfrm>
            <a:off x="685800" y="3200400"/>
            <a:ext cx="43887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6]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TblR5C2"/>
          <p:cNvSpPr/>
          <p:nvPr/>
        </p:nvSpPr>
        <p:spPr>
          <a:xfrm>
            <a:off x="5074920" y="320040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TblR5C3"/>
          <p:cNvSpPr/>
          <p:nvPr/>
        </p:nvSpPr>
        <p:spPr>
          <a:xfrm>
            <a:off x="5760720" y="320040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TblR5C4"/>
          <p:cNvSpPr/>
          <p:nvPr/>
        </p:nvSpPr>
        <p:spPr>
          <a:xfrm>
            <a:off x="6446520" y="3200400"/>
            <a:ext cx="685440" cy="273960"/>
          </a:xfrm>
          <a:prstGeom prst="rect">
            <a:avLst/>
          </a:prstGeom>
          <a:solidFill>
            <a:srgbClr val="d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TblR5C5"/>
          <p:cNvSpPr/>
          <p:nvPr/>
        </p:nvSpPr>
        <p:spPr>
          <a:xfrm>
            <a:off x="7132320" y="3200400"/>
            <a:ext cx="16455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🟡 </a:t>
            </a:r>
            <a:r>
              <a:rPr b="1" lang="ru-RU" sz="900" spc="-1" strike="noStrike">
                <a:solidFill>
                  <a:srgbClr val="d4b942"/>
                </a:solidFill>
                <a:latin typeface="Arial"/>
              </a:rPr>
              <a:t>Средний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TblR6C0"/>
          <p:cNvSpPr/>
          <p:nvPr/>
        </p:nvSpPr>
        <p:spPr>
          <a:xfrm>
            <a:off x="365760" y="3474720"/>
            <a:ext cx="31968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7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TblR6C1"/>
          <p:cNvSpPr/>
          <p:nvPr/>
        </p:nvSpPr>
        <p:spPr>
          <a:xfrm>
            <a:off x="685800" y="3474720"/>
            <a:ext cx="43887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7]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TblR6C2"/>
          <p:cNvSpPr/>
          <p:nvPr/>
        </p:nvSpPr>
        <p:spPr>
          <a:xfrm>
            <a:off x="5074920" y="347472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TblR6C3"/>
          <p:cNvSpPr/>
          <p:nvPr/>
        </p:nvSpPr>
        <p:spPr>
          <a:xfrm>
            <a:off x="5760720" y="347472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blR6C4"/>
          <p:cNvSpPr/>
          <p:nvPr/>
        </p:nvSpPr>
        <p:spPr>
          <a:xfrm>
            <a:off x="6446520" y="3474720"/>
            <a:ext cx="685440" cy="273960"/>
          </a:xfrm>
          <a:prstGeom prst="rect">
            <a:avLst/>
          </a:prstGeom>
          <a:solidFill>
            <a:srgbClr val="d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TblR6C5"/>
          <p:cNvSpPr/>
          <p:nvPr/>
        </p:nvSpPr>
        <p:spPr>
          <a:xfrm>
            <a:off x="7132320" y="3474720"/>
            <a:ext cx="16455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🟡 </a:t>
            </a:r>
            <a:r>
              <a:rPr b="1" lang="ru-RU" sz="900" spc="-1" strike="noStrike">
                <a:solidFill>
                  <a:srgbClr val="d4b942"/>
                </a:solidFill>
                <a:latin typeface="Arial"/>
              </a:rPr>
              <a:t>Средний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TblR7C0"/>
          <p:cNvSpPr/>
          <p:nvPr/>
        </p:nvSpPr>
        <p:spPr>
          <a:xfrm>
            <a:off x="365760" y="3749040"/>
            <a:ext cx="31968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8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TblR7C1"/>
          <p:cNvSpPr/>
          <p:nvPr/>
        </p:nvSpPr>
        <p:spPr>
          <a:xfrm>
            <a:off x="685800" y="3749040"/>
            <a:ext cx="43887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8]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TblR7C2"/>
          <p:cNvSpPr/>
          <p:nvPr/>
        </p:nvSpPr>
        <p:spPr>
          <a:xfrm>
            <a:off x="5074920" y="374904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TblR7C3"/>
          <p:cNvSpPr/>
          <p:nvPr/>
        </p:nvSpPr>
        <p:spPr>
          <a:xfrm>
            <a:off x="5760720" y="374904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TblR7C4"/>
          <p:cNvSpPr/>
          <p:nvPr/>
        </p:nvSpPr>
        <p:spPr>
          <a:xfrm>
            <a:off x="6446520" y="3749040"/>
            <a:ext cx="685440" cy="273960"/>
          </a:xfrm>
          <a:prstGeom prst="rect">
            <a:avLst/>
          </a:prstGeom>
          <a:solidFill>
            <a:srgbClr val="d4b9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blR7C5"/>
          <p:cNvSpPr/>
          <p:nvPr/>
        </p:nvSpPr>
        <p:spPr>
          <a:xfrm>
            <a:off x="7132320" y="3749040"/>
            <a:ext cx="16455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🟡 </a:t>
            </a:r>
            <a:r>
              <a:rPr b="1" lang="ru-RU" sz="900" spc="-1" strike="noStrike">
                <a:solidFill>
                  <a:srgbClr val="d4b942"/>
                </a:solidFill>
                <a:latin typeface="Arial"/>
              </a:rPr>
              <a:t>Средний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TblR8C0"/>
          <p:cNvSpPr/>
          <p:nvPr/>
        </p:nvSpPr>
        <p:spPr>
          <a:xfrm>
            <a:off x="365760" y="4023360"/>
            <a:ext cx="31968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9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TblR8C1"/>
          <p:cNvSpPr/>
          <p:nvPr/>
        </p:nvSpPr>
        <p:spPr>
          <a:xfrm>
            <a:off x="685800" y="4023360"/>
            <a:ext cx="43887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9]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TblR8C2"/>
          <p:cNvSpPr/>
          <p:nvPr/>
        </p:nvSpPr>
        <p:spPr>
          <a:xfrm>
            <a:off x="5074920" y="402336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TblR8C3"/>
          <p:cNvSpPr/>
          <p:nvPr/>
        </p:nvSpPr>
        <p:spPr>
          <a:xfrm>
            <a:off x="5760720" y="4023360"/>
            <a:ext cx="68544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TblR8C4"/>
          <p:cNvSpPr/>
          <p:nvPr/>
        </p:nvSpPr>
        <p:spPr>
          <a:xfrm>
            <a:off x="6446520" y="4023360"/>
            <a:ext cx="685440" cy="27396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blR8C5"/>
          <p:cNvSpPr/>
          <p:nvPr/>
        </p:nvSpPr>
        <p:spPr>
          <a:xfrm>
            <a:off x="7132320" y="4023360"/>
            <a:ext cx="1645560" cy="273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🟢 </a:t>
            </a:r>
            <a:r>
              <a:rPr b="1" lang="ru-RU" sz="900" spc="-1" strike="noStrike">
                <a:solidFill>
                  <a:srgbClr val="4a8a4f"/>
                </a:solidFill>
                <a:latin typeface="Arial"/>
              </a:rPr>
              <a:t>Низкий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blR9C0"/>
          <p:cNvSpPr/>
          <p:nvPr/>
        </p:nvSpPr>
        <p:spPr>
          <a:xfrm>
            <a:off x="365760" y="4297680"/>
            <a:ext cx="31968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800" spc="-1" strike="noStrike">
                <a:solidFill>
                  <a:srgbClr val="64748b"/>
                </a:solidFill>
                <a:latin typeface="Arial"/>
              </a:rPr>
              <a:t>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TblR9C1"/>
          <p:cNvSpPr/>
          <p:nvPr/>
        </p:nvSpPr>
        <p:spPr>
          <a:xfrm>
            <a:off x="685800" y="4297680"/>
            <a:ext cx="43887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f1020"/>
                </a:solidFill>
                <a:latin typeface="Arial"/>
              </a:rPr>
              <a:t>[Outcome 10]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TblR9C2"/>
          <p:cNvSpPr/>
          <p:nvPr/>
        </p:nvSpPr>
        <p:spPr>
          <a:xfrm>
            <a:off x="5074920" y="429768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TblR9C3"/>
          <p:cNvSpPr/>
          <p:nvPr/>
        </p:nvSpPr>
        <p:spPr>
          <a:xfrm>
            <a:off x="5760720" y="4297680"/>
            <a:ext cx="68544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36720" bIns="3672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900" spc="-1" strike="noStrike">
                <a:solidFill>
                  <a:srgbClr val="0f1020"/>
                </a:solidFill>
                <a:latin typeface="Arial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TblR9C4"/>
          <p:cNvSpPr/>
          <p:nvPr/>
        </p:nvSpPr>
        <p:spPr>
          <a:xfrm>
            <a:off x="6446520" y="4297680"/>
            <a:ext cx="685440" cy="273960"/>
          </a:xfrm>
          <a:prstGeom prst="rect">
            <a:avLst/>
          </a:prstGeom>
          <a:solidFill>
            <a:srgbClr val="4a8a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noAutofit/>
          </a:bodyPr>
          <a:p>
            <a:pPr algn="ctr">
              <a:lnSpc>
                <a:spcPct val="100000"/>
              </a:lnSpc>
            </a:pPr>
            <a:r>
              <a:rPr b="1" lang="ru-RU" sz="1000" spc="-1" strike="noStrike">
                <a:solidFill>
                  <a:srgbClr val="ffffff"/>
                </a:solidFill>
                <a:latin typeface="Arial"/>
              </a:rPr>
              <a:t>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TblR9C5"/>
          <p:cNvSpPr/>
          <p:nvPr/>
        </p:nvSpPr>
        <p:spPr>
          <a:xfrm>
            <a:off x="7132320" y="4297680"/>
            <a:ext cx="1645560" cy="273960"/>
          </a:xfrm>
          <a:prstGeom prst="rect">
            <a:avLst/>
          </a:prstGeom>
          <a:solidFill>
            <a:srgbClr val="e8ea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🟢 </a:t>
            </a:r>
            <a:r>
              <a:rPr b="1" lang="ru-RU" sz="900" spc="-1" strike="noStrike">
                <a:solidFill>
                  <a:srgbClr val="4a8a4f"/>
                </a:solidFill>
                <a:latin typeface="Arial"/>
              </a:rPr>
              <a:t>Низкий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Conclusion"/>
          <p:cNvSpPr/>
          <p:nvPr/>
        </p:nvSpPr>
        <p:spPr>
          <a:xfrm>
            <a:off x="365760" y="4663440"/>
            <a:ext cx="8412120" cy="228240"/>
          </a:xfrm>
          <a:prstGeom prst="rect">
            <a:avLst/>
          </a:prstGeom>
          <a:solidFill>
            <a:srgbClr val="1a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36720" bIns="36720" anchor="t">
            <a:noAutofit/>
          </a:bodyPr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ffffff"/>
                </a:solidFill>
                <a:latin typeface="Arial"/>
              </a:rPr>
              <a:t>🔴 </a:t>
            </a:r>
            <a:r>
              <a:rPr b="1" lang="ru-RU" sz="900" spc="-1" strike="noStrike">
                <a:solidFill>
                  <a:srgbClr val="ffffff"/>
                </a:solidFill>
                <a:latin typeface="Arial"/>
              </a:rPr>
              <a:t>[Сколько outcomes с OS ≥ 15] — критически незакрытые потребности, </a:t>
            </a:r>
            <a:r>
              <a:rPr b="0" lang="ru-RU" sz="900" spc="-1" strike="noStrike">
                <a:solidFill>
                  <a:srgbClr val="ffffff"/>
                </a:solidFill>
                <a:latin typeface="Arial"/>
              </a:rPr>
              <a:t>[Вывод: что двигается в приоритет OST; остальные — в roadmap]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3"/>
          <p:cNvSpPr/>
          <p:nvPr/>
        </p:nvSpPr>
        <p:spPr>
          <a:xfrm>
            <a:off x="0" y="4937760"/>
            <a:ext cx="9143280" cy="205200"/>
          </a:xfrm>
          <a:prstGeom prst="rect">
            <a:avLst/>
          </a:prstGeom>
          <a:solidFill>
            <a:srgbClr val="e8eaf6"/>
          </a:solidFill>
          <a:ln w="12700">
            <a:solidFill>
              <a:srgbClr val="e8ea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1" name="Text 4"/>
          <p:cNvSpPr/>
          <p:nvPr/>
        </p:nvSpPr>
        <p:spPr>
          <a:xfrm>
            <a:off x="365760" y="4937760"/>
            <a:ext cx="6400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Источник: [указать источник]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Shape 0"/>
          <p:cNvSpPr/>
          <p:nvPr/>
        </p:nvSpPr>
        <p:spPr>
          <a:xfrm>
            <a:off x="0" y="0"/>
            <a:ext cx="319320" cy="514296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3" name="Text 1"/>
          <p:cNvSpPr/>
          <p:nvPr/>
        </p:nvSpPr>
        <p:spPr>
          <a:xfrm>
            <a:off x="548640" y="59436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95" strike="noStrike">
                <a:solidFill>
                  <a:srgbClr val="457e4a"/>
                </a:solidFill>
                <a:latin typeface="Calibri"/>
                <a:ea typeface="Calibri"/>
              </a:rPr>
              <a:t>СЛЕДУЮЩИЕ ШАГИ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Shape 2"/>
          <p:cNvSpPr/>
          <p:nvPr/>
        </p:nvSpPr>
        <p:spPr>
          <a:xfrm>
            <a:off x="548640" y="1051560"/>
            <a:ext cx="474840" cy="593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5" name="Text 3"/>
          <p:cNvSpPr/>
          <p:nvPr/>
        </p:nvSpPr>
        <p:spPr>
          <a:xfrm>
            <a:off x="548640" y="1051560"/>
            <a:ext cx="474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Text 4"/>
          <p:cNvSpPr/>
          <p:nvPr/>
        </p:nvSpPr>
        <p:spPr>
          <a:xfrm>
            <a:off x="1188720" y="108828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Провести интервью с потребителями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Text 5"/>
          <p:cNvSpPr/>
          <p:nvPr/>
        </p:nvSpPr>
        <p:spPr>
          <a:xfrm>
            <a:off x="1188720" y="1398960"/>
            <a:ext cx="7588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5–7 глубинных интервью (The Mom Test) с [сегмент] за [срок]. Цель: [N/M] подтверждают боль. [бюджет]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Shape 6"/>
          <p:cNvSpPr/>
          <p:nvPr/>
        </p:nvSpPr>
        <p:spPr>
          <a:xfrm>
            <a:off x="548640" y="1828800"/>
            <a:ext cx="474840" cy="593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9" name="Text 7"/>
          <p:cNvSpPr/>
          <p:nvPr/>
        </p:nvSpPr>
        <p:spPr>
          <a:xfrm>
            <a:off x="548640" y="1828800"/>
            <a:ext cx="474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Text 8"/>
          <p:cNvSpPr/>
          <p:nvPr/>
        </p:nvSpPr>
        <p:spPr>
          <a:xfrm>
            <a:off x="1188720" y="186552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Запустить Rapid Assumption Tests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Text 9"/>
          <p:cNvSpPr/>
          <p:nvPr/>
        </p:nvSpPr>
        <p:spPr>
          <a:xfrm>
            <a:off x="1188720" y="2176200"/>
            <a:ext cx="7588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Smoke Test [канал]: «[оффер]». [бюджет], [срок]. Критерий: [метрика ≥ значение]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Shape 10"/>
          <p:cNvSpPr/>
          <p:nvPr/>
        </p:nvSpPr>
        <p:spPr>
          <a:xfrm>
            <a:off x="548640" y="2606040"/>
            <a:ext cx="474840" cy="593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3" name="Text 11"/>
          <p:cNvSpPr/>
          <p:nvPr/>
        </p:nvSpPr>
        <p:spPr>
          <a:xfrm>
            <a:off x="548640" y="2606040"/>
            <a:ext cx="474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4" name="Text 12"/>
          <p:cNvSpPr/>
          <p:nvPr/>
        </p:nvSpPr>
        <p:spPr>
          <a:xfrm>
            <a:off x="1188720" y="264276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Верифицировать Opportunity Score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5" name="Text 13"/>
          <p:cNvSpPr/>
          <p:nvPr/>
        </p:nvSpPr>
        <p:spPr>
          <a:xfrm>
            <a:off x="1188720" y="2953440"/>
            <a:ext cx="7588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Опрос 30–50 респондентов [канал сбора] — верификация OS из задачи 7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Shape 14"/>
          <p:cNvSpPr/>
          <p:nvPr/>
        </p:nvSpPr>
        <p:spPr>
          <a:xfrm>
            <a:off x="548640" y="3383280"/>
            <a:ext cx="474840" cy="593640"/>
          </a:xfrm>
          <a:prstGeom prst="rect">
            <a:avLst/>
          </a:prstGeom>
          <a:solidFill>
            <a:srgbClr val="457e4a"/>
          </a:solidFill>
          <a:ln w="12700">
            <a:solidFill>
              <a:srgbClr val="457e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7" name="Text 15"/>
          <p:cNvSpPr/>
          <p:nvPr/>
        </p:nvSpPr>
        <p:spPr>
          <a:xfrm>
            <a:off x="548640" y="3383280"/>
            <a:ext cx="474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Text 16"/>
          <p:cNvSpPr/>
          <p:nvPr/>
        </p:nvSpPr>
        <p:spPr>
          <a:xfrm>
            <a:off x="1188720" y="342000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Выбрать целевую возможность в OST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9" name="Text 17"/>
          <p:cNvSpPr/>
          <p:nvPr/>
        </p:nvSpPr>
        <p:spPr>
          <a:xfrm>
            <a:off x="1188720" y="3730680"/>
            <a:ext cx="7588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Приоритет: «[возможность]» (OS=[N]). Решения: [решение 1] + [решение 2]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Shape 18"/>
          <p:cNvSpPr/>
          <p:nvPr/>
        </p:nvSpPr>
        <p:spPr>
          <a:xfrm>
            <a:off x="548640" y="4160520"/>
            <a:ext cx="474840" cy="593640"/>
          </a:xfrm>
          <a:prstGeom prst="rect">
            <a:avLst/>
          </a:prstGeom>
          <a:solidFill>
            <a:srgbClr val="94a3f6"/>
          </a:solidFill>
          <a:ln w="12700">
            <a:solidFill>
              <a:srgbClr val="94a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1" name="Text 19"/>
          <p:cNvSpPr/>
          <p:nvPr/>
        </p:nvSpPr>
        <p:spPr>
          <a:xfrm>
            <a:off x="548640" y="4160520"/>
            <a:ext cx="4748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Text 20"/>
          <p:cNvSpPr/>
          <p:nvPr/>
        </p:nvSpPr>
        <p:spPr>
          <a:xfrm>
            <a:off x="1188720" y="4197240"/>
            <a:ext cx="75888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Перейти к фазе Value Validation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Text 21"/>
          <p:cNvSpPr/>
          <p:nvPr/>
        </p:nvSpPr>
        <p:spPr>
          <a:xfrm>
            <a:off x="1188720" y="4507920"/>
            <a:ext cx="7588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Value Validation после [N] продаж: Sean Ellis Test (цель ≥ 40% «очень разочарованы»)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Text 22"/>
          <p:cNvSpPr/>
          <p:nvPr/>
        </p:nvSpPr>
        <p:spPr>
          <a:xfrm>
            <a:off x="548640" y="470916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  <a:ea typeface="Calibri"/>
              </a:rPr>
              <a:t>[Название проекта]  ·  [сайт]  ·  [месяц год]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2026-04-17T10:43:18Z</dcterms:created>
  <dc:creator>PptxGenJS</dc:creator>
  <dc:description/>
  <dc:language>en-US</dc:language>
  <cp:lastModifiedBy>PptxGenJS</cp:lastModifiedBy>
  <dcterms:modified xsi:type="dcterms:W3CDTF">2026-04-17T10:43:18Z</dcterms:modified>
  <cp:revision>1</cp:revision>
  <dc:subject>PptxGenJS Presentation</dc:subject>
  <dc:title>Product Discovery — Verification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28</vt:r8>
  </property>
  <property fmtid="{D5CDD505-2E9C-101B-9397-08002B2CF9AE}" pid="3" name="PresentationFormat">
    <vt:lpwstr>On-screen Show (16:9)</vt:lpwstr>
  </property>
  <property fmtid="{D5CDD505-2E9C-101B-9397-08002B2CF9AE}" pid="4" name="Slides">
    <vt:r8>28</vt:r8>
  </property>
</Properties>
</file>