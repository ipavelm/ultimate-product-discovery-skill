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15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27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34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9320" cy="514296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20040" y="3566160"/>
            <a:ext cx="8823240" cy="4968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0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94" strike="noStrike">
                <a:solidFill>
                  <a:srgbClr val="94a3f6"/>
                </a:solidFill>
                <a:latin typeface="Calibri"/>
                <a:ea typeface="Calibri"/>
              </a:rPr>
              <a:t>PRODUCT DISCOVERY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80460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[PROJECT NAME]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80460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8eaf6"/>
                </a:solidFill>
                <a:latin typeface="Calibri"/>
                <a:ea typeface="Calibri"/>
              </a:rPr>
              <a:t>[Short tagline: the product in one sentence]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3794760"/>
            <a:ext cx="80460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94" strike="noStrike">
                <a:solidFill>
                  <a:srgbClr val="64748b"/>
                </a:solidFill>
                <a:latin typeface="Calibri"/>
                <a:ea typeface="Calibri"/>
              </a:rPr>
              <a:t>[Market], [B2B / B2C]  ·  [month year]  ·  Stage: Verification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Contents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Product Discovery [project name], [month year]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365760" y="658440"/>
            <a:ext cx="474840" cy="52956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Text 5"/>
          <p:cNvSpPr/>
          <p:nvPr/>
        </p:nvSpPr>
        <p:spPr>
          <a:xfrm>
            <a:off x="365760" y="658440"/>
            <a:ext cx="4748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01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1005840" y="69480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020"/>
                </a:solidFill>
                <a:latin typeface="Calibri"/>
                <a:ea typeface="Calibri"/>
              </a:rPr>
              <a:t>Market analysis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1005840" y="969120"/>
            <a:ext cx="7771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TAM/SAM/SOM · Dynamics · Trends · Value chain · Competitors · PESTEL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365760" y="1371600"/>
            <a:ext cx="474840" cy="529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Text 9"/>
          <p:cNvSpPr/>
          <p:nvPr/>
        </p:nvSpPr>
        <p:spPr>
          <a:xfrm>
            <a:off x="365760" y="1371600"/>
            <a:ext cx="4748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1005840" y="140832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020"/>
                </a:solidFill>
                <a:latin typeface="Calibri"/>
                <a:ea typeface="Calibri"/>
              </a:rPr>
              <a:t>Customer research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005840" y="1682640"/>
            <a:ext cx="7771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JTBD · CJM · Insights · Opportunity Score · Personas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365760" y="2084760"/>
            <a:ext cx="474840" cy="52956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365760" y="2084760"/>
            <a:ext cx="4748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1005840" y="212148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020"/>
                </a:solidFill>
                <a:latin typeface="Calibri"/>
                <a:ea typeface="Calibri"/>
              </a:rPr>
              <a:t>Current strategic scenario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1005840" y="2395800"/>
            <a:ext cx="7771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Goals · Lean Canvas/BMC · PAC · SWOT · Consistency · Unit economics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365760" y="2797920"/>
            <a:ext cx="474840" cy="52956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365760" y="2797920"/>
            <a:ext cx="4748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Text 18"/>
          <p:cNvSpPr/>
          <p:nvPr/>
        </p:nvSpPr>
        <p:spPr>
          <a:xfrm>
            <a:off x="1005840" y="283464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020"/>
                </a:solidFill>
                <a:latin typeface="Calibri"/>
                <a:ea typeface="Calibri"/>
              </a:rPr>
              <a:t>Opportunity Solution Tree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1005840" y="3108960"/>
            <a:ext cx="7771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Levels 1-2: outcome + opportunities · Levels 3-4: solutions + experiments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365760" y="3511440"/>
            <a:ext cx="474840" cy="529560"/>
          </a:xfrm>
          <a:prstGeom prst="rect">
            <a:avLst/>
          </a:prstGeom>
          <a:solidFill>
            <a:srgbClr val="f5939e"/>
          </a:solidFill>
          <a:ln w="12700">
            <a:solidFill>
              <a:srgbClr val="f593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Text 21"/>
          <p:cNvSpPr/>
          <p:nvPr/>
        </p:nvSpPr>
        <p:spPr>
          <a:xfrm>
            <a:off x="365760" y="3511440"/>
            <a:ext cx="4748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05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1005840" y="354780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020"/>
                </a:solidFill>
                <a:latin typeface="Calibri"/>
                <a:ea typeface="Calibri"/>
              </a:rPr>
              <a:t>Alternative scenario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23"/>
          <p:cNvSpPr/>
          <p:nvPr/>
        </p:nvSpPr>
        <p:spPr>
          <a:xfrm>
            <a:off x="1005840" y="3822120"/>
            <a:ext cx="7771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Key changes · RICE · Hypothesis pool + testing plan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365760" y="4224600"/>
            <a:ext cx="474840" cy="52956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365760" y="4224600"/>
            <a:ext cx="4748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06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1005840" y="426096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f1020"/>
                </a:solidFill>
                <a:latin typeface="Calibri"/>
                <a:ea typeface="Calibri"/>
              </a:rPr>
              <a:t>PMF metrics and next steps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27"/>
          <p:cNvSpPr/>
          <p:nvPr/>
        </p:nvSpPr>
        <p:spPr>
          <a:xfrm>
            <a:off x="1005840" y="4535280"/>
            <a:ext cx="7771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PMF by phase · Final OS (top 10) · Next steps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Market sizing (TAM / SAM / SOM)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94a3f6"/>
                </a:solidFill>
                <a:latin typeface="Calibri"/>
                <a:ea typeface="Calibri"/>
              </a:rPr>
              <a:t>MARKET ANALYSIS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[industry reports and market statistics — tasks 1, 5]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Shape 5"/>
          <p:cNvSpPr/>
          <p:nvPr/>
        </p:nvSpPr>
        <p:spPr>
          <a:xfrm>
            <a:off x="365760" y="868680"/>
            <a:ext cx="8411760" cy="100512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Text 6"/>
          <p:cNvSpPr/>
          <p:nvPr/>
        </p:nvSpPr>
        <p:spPr>
          <a:xfrm>
            <a:off x="548640" y="941760"/>
            <a:ext cx="10965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TAM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7"/>
          <p:cNvSpPr/>
          <p:nvPr/>
        </p:nvSpPr>
        <p:spPr>
          <a:xfrm>
            <a:off x="548640" y="137160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e8eaf6"/>
                </a:solidFill>
                <a:latin typeface="Calibri"/>
                <a:ea typeface="Calibri"/>
              </a:rPr>
              <a:t>Total Addressable Market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8"/>
          <p:cNvSpPr/>
          <p:nvPr/>
        </p:nvSpPr>
        <p:spPr>
          <a:xfrm>
            <a:off x="5577840" y="868680"/>
            <a:ext cx="301680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Calibri"/>
                <a:ea typeface="Calibri"/>
              </a:rPr>
              <a:t>[X RUB bn]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9"/>
          <p:cNvSpPr/>
          <p:nvPr/>
        </p:nvSpPr>
        <p:spPr>
          <a:xfrm>
            <a:off x="1600200" y="2057400"/>
            <a:ext cx="5942880" cy="1005120"/>
          </a:xfrm>
          <a:prstGeom prst="rect">
            <a:avLst/>
          </a:prstGeom>
          <a:solidFill>
            <a:srgbClr val="6b7fe3"/>
          </a:solidFill>
          <a:ln w="12700">
            <a:solidFill>
              <a:srgbClr val="6b7f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Text 10"/>
          <p:cNvSpPr/>
          <p:nvPr/>
        </p:nvSpPr>
        <p:spPr>
          <a:xfrm>
            <a:off x="1783080" y="2130480"/>
            <a:ext cx="10965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SAM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11"/>
          <p:cNvSpPr/>
          <p:nvPr/>
        </p:nvSpPr>
        <p:spPr>
          <a:xfrm>
            <a:off x="1783080" y="256032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e8eaf6"/>
                </a:solidFill>
                <a:latin typeface="Calibri"/>
                <a:ea typeface="Calibri"/>
              </a:rPr>
              <a:t>Serviceable Available Market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12"/>
          <p:cNvSpPr/>
          <p:nvPr/>
        </p:nvSpPr>
        <p:spPr>
          <a:xfrm>
            <a:off x="4343400" y="2057400"/>
            <a:ext cx="301680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Calibri"/>
                <a:ea typeface="Calibri"/>
              </a:rPr>
              <a:t>[Y RUB bn]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Shape 13"/>
          <p:cNvSpPr/>
          <p:nvPr/>
        </p:nvSpPr>
        <p:spPr>
          <a:xfrm>
            <a:off x="2788920" y="3246120"/>
            <a:ext cx="3565440" cy="100512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0" name="Text 14"/>
          <p:cNvSpPr/>
          <p:nvPr/>
        </p:nvSpPr>
        <p:spPr>
          <a:xfrm>
            <a:off x="2971800" y="3319200"/>
            <a:ext cx="10965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SOM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15"/>
          <p:cNvSpPr/>
          <p:nvPr/>
        </p:nvSpPr>
        <p:spPr>
          <a:xfrm>
            <a:off x="2971800" y="374904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e8eaf6"/>
                </a:solidFill>
                <a:latin typeface="Calibri"/>
                <a:ea typeface="Calibri"/>
              </a:rPr>
              <a:t>Serviceable Obtainable Market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6"/>
          <p:cNvSpPr/>
          <p:nvPr/>
        </p:nvSpPr>
        <p:spPr>
          <a:xfrm>
            <a:off x="3154680" y="3246120"/>
            <a:ext cx="301680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Calibri"/>
                <a:ea typeface="Calibri"/>
              </a:rPr>
              <a:t>[Z RUB m]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17"/>
          <p:cNvSpPr/>
          <p:nvPr/>
        </p:nvSpPr>
        <p:spPr>
          <a:xfrm>
            <a:off x="365760" y="4544640"/>
            <a:ext cx="8411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Top-down: [share-of-segment calculation] = [Y]. Bottom-up: [customers x ticket x frequency] = [Y]. Divergence [N]x [✅ / ⚠️ revisit the assumptions]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Market dynamics (CAGR)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94a3f6"/>
                </a:solidFill>
                <a:latin typeface="Calibri"/>
                <a:ea typeface="Calibri"/>
              </a:rPr>
              <a:t>MARKET ANALYSIS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[sources on market dynamics and forecast — task 1]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5"/>
          <p:cNvSpPr/>
          <p:nvPr/>
        </p:nvSpPr>
        <p:spPr>
          <a:xfrm>
            <a:off x="365760" y="868680"/>
            <a:ext cx="2559600" cy="13251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0" name="Shape 6"/>
          <p:cNvSpPr/>
          <p:nvPr/>
        </p:nvSpPr>
        <p:spPr>
          <a:xfrm>
            <a:off x="365760" y="868680"/>
            <a:ext cx="2559600" cy="54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1" name="Text 7"/>
          <p:cNvSpPr/>
          <p:nvPr/>
        </p:nvSpPr>
        <p:spPr>
          <a:xfrm>
            <a:off x="365760" y="1051560"/>
            <a:ext cx="25596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94a3f6"/>
                </a:solidFill>
                <a:latin typeface="Calibri"/>
                <a:ea typeface="Calibri"/>
              </a:rPr>
              <a:t>Market dynamics (CAGR)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8"/>
          <p:cNvSpPr/>
          <p:nvPr/>
        </p:nvSpPr>
        <p:spPr>
          <a:xfrm>
            <a:off x="365760" y="1645920"/>
            <a:ext cx="2559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Market size (TAM)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9"/>
          <p:cNvSpPr/>
          <p:nvPr/>
        </p:nvSpPr>
        <p:spPr>
          <a:xfrm>
            <a:off x="3291840" y="868680"/>
            <a:ext cx="2559600" cy="13251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3291840" y="868680"/>
            <a:ext cx="2559600" cy="54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" name="Text 11"/>
          <p:cNvSpPr/>
          <p:nvPr/>
        </p:nvSpPr>
        <p:spPr>
          <a:xfrm>
            <a:off x="3291840" y="1051560"/>
            <a:ext cx="25596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457e4a"/>
                </a:solidFill>
                <a:latin typeface="Calibri"/>
                <a:ea typeface="Calibri"/>
              </a:rPr>
              <a:t>[X–Y%]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12"/>
          <p:cNvSpPr/>
          <p:nvPr/>
        </p:nvSpPr>
        <p:spPr>
          <a:xfrm>
            <a:off x="3291840" y="1645920"/>
            <a:ext cx="2559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CAGR (market growth)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3"/>
          <p:cNvSpPr/>
          <p:nvPr/>
        </p:nvSpPr>
        <p:spPr>
          <a:xfrm>
            <a:off x="6217920" y="868680"/>
            <a:ext cx="2559600" cy="13251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" name="Shape 14"/>
          <p:cNvSpPr/>
          <p:nvPr/>
        </p:nvSpPr>
        <p:spPr>
          <a:xfrm>
            <a:off x="6217920" y="868680"/>
            <a:ext cx="2559600" cy="54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9" name="Text 15"/>
          <p:cNvSpPr/>
          <p:nvPr/>
        </p:nvSpPr>
        <p:spPr>
          <a:xfrm>
            <a:off x="6217920" y="1051560"/>
            <a:ext cx="25596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94a3f6"/>
                </a:solidFill>
                <a:latin typeface="Calibri"/>
                <a:ea typeface="Calibri"/>
              </a:rPr>
              <a:t>[N] key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16"/>
          <p:cNvSpPr/>
          <p:nvPr/>
        </p:nvSpPr>
        <p:spPr>
          <a:xfrm>
            <a:off x="6217920" y="1645920"/>
            <a:ext cx="2559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Key players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7"/>
          <p:cNvSpPr/>
          <p:nvPr/>
        </p:nvSpPr>
        <p:spPr>
          <a:xfrm>
            <a:off x="365760" y="2377440"/>
            <a:ext cx="8411760" cy="233100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2" name="Shape 18"/>
          <p:cNvSpPr/>
          <p:nvPr/>
        </p:nvSpPr>
        <p:spPr>
          <a:xfrm>
            <a:off x="365760" y="2377440"/>
            <a:ext cx="8411760" cy="54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3" name="Text 19"/>
          <p:cNvSpPr/>
          <p:nvPr/>
        </p:nvSpPr>
        <p:spPr>
          <a:xfrm>
            <a:off x="502920" y="2468880"/>
            <a:ext cx="81374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Market dynamics and forecast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20"/>
          <p:cNvSpPr/>
          <p:nvPr/>
        </p:nvSpPr>
        <p:spPr>
          <a:xfrm>
            <a:off x="475560" y="2834640"/>
            <a:ext cx="8192160" cy="180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CAGR [X-Y%]/year over [period]. Source: [source]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Forecast: [year]: [size] → [year]: [size] (if [Z%] CAGR holds)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Drivers: [driver 1], [driver 2], [driver 3]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Risks: [risk 1], [risk 2], [risk 3]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6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Market trends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94a3f6"/>
                </a:solidFill>
                <a:latin typeface="Calibri"/>
                <a:ea typeface="Calibri"/>
              </a:rPr>
              <a:t>MARKET ANALYSIS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9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[sources on trends — task 2]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5"/>
          <p:cNvSpPr/>
          <p:nvPr/>
        </p:nvSpPr>
        <p:spPr>
          <a:xfrm>
            <a:off x="365760" y="868680"/>
            <a:ext cx="4205520" cy="169092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1" name="Shape 6"/>
          <p:cNvSpPr/>
          <p:nvPr/>
        </p:nvSpPr>
        <p:spPr>
          <a:xfrm>
            <a:off x="365760" y="868680"/>
            <a:ext cx="4205520" cy="54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2" name="Text 7"/>
          <p:cNvSpPr/>
          <p:nvPr/>
        </p:nvSpPr>
        <p:spPr>
          <a:xfrm>
            <a:off x="502920" y="96012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Technological trend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8"/>
          <p:cNvSpPr/>
          <p:nvPr/>
        </p:nvSpPr>
        <p:spPr>
          <a:xfrm>
            <a:off x="475560" y="1325880"/>
            <a:ext cx="3985920" cy="11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[Technological trend: the substance, a sourced number, the consequence for the product]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9"/>
          <p:cNvSpPr/>
          <p:nvPr/>
        </p:nvSpPr>
        <p:spPr>
          <a:xfrm>
            <a:off x="4754880" y="868680"/>
            <a:ext cx="4205520" cy="169092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5" name="Shape 10"/>
          <p:cNvSpPr/>
          <p:nvPr/>
        </p:nvSpPr>
        <p:spPr>
          <a:xfrm>
            <a:off x="4754880" y="868680"/>
            <a:ext cx="4205520" cy="54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6" name="Text 11"/>
          <p:cNvSpPr/>
          <p:nvPr/>
        </p:nvSpPr>
        <p:spPr>
          <a:xfrm>
            <a:off x="4892040" y="96012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Behavioural trend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12"/>
          <p:cNvSpPr/>
          <p:nvPr/>
        </p:nvSpPr>
        <p:spPr>
          <a:xfrm>
            <a:off x="4864680" y="1325880"/>
            <a:ext cx="3985920" cy="11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[Behavioural trend: the substance, a sourced number, the consequence for the product]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13"/>
          <p:cNvSpPr/>
          <p:nvPr/>
        </p:nvSpPr>
        <p:spPr>
          <a:xfrm>
            <a:off x="365760" y="2743200"/>
            <a:ext cx="4205520" cy="169092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9" name="Shape 14"/>
          <p:cNvSpPr/>
          <p:nvPr/>
        </p:nvSpPr>
        <p:spPr>
          <a:xfrm>
            <a:off x="365760" y="2743200"/>
            <a:ext cx="4205520" cy="54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0" name="Text 15"/>
          <p:cNvSpPr/>
          <p:nvPr/>
        </p:nvSpPr>
        <p:spPr>
          <a:xfrm>
            <a:off x="502920" y="283464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Regulatory trend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16"/>
          <p:cNvSpPr/>
          <p:nvPr/>
        </p:nvSpPr>
        <p:spPr>
          <a:xfrm>
            <a:off x="475560" y="3200400"/>
            <a:ext cx="3985920" cy="11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[Regulatory trend: the rule, when it takes effect, the consequence for the product]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Shape 17"/>
          <p:cNvSpPr/>
          <p:nvPr/>
        </p:nvSpPr>
        <p:spPr>
          <a:xfrm>
            <a:off x="4754880" y="2743200"/>
            <a:ext cx="4205520" cy="169092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3" name="Shape 18"/>
          <p:cNvSpPr/>
          <p:nvPr/>
        </p:nvSpPr>
        <p:spPr>
          <a:xfrm>
            <a:off x="4754880" y="2743200"/>
            <a:ext cx="4205520" cy="54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4" name="Text 19"/>
          <p:cNvSpPr/>
          <p:nvPr/>
        </p:nvSpPr>
        <p:spPr>
          <a:xfrm>
            <a:off x="4892040" y="283464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Economic trend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20"/>
          <p:cNvSpPr/>
          <p:nvPr/>
        </p:nvSpPr>
        <p:spPr>
          <a:xfrm>
            <a:off x="4864680" y="3200400"/>
            <a:ext cx="3985920" cy="11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[Economic trend: the substance, a sourced number, the consequence for the product]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7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Value chain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94a3f6"/>
                </a:solidFill>
                <a:latin typeface="Calibri"/>
                <a:ea typeface="Calibri"/>
              </a:rPr>
              <a:t>MARKET ANALYSIS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Questions"/>
          <p:cNvSpPr/>
          <p:nvPr/>
        </p:nvSpPr>
        <p:spPr>
          <a:xfrm>
            <a:off x="365760" y="868680"/>
            <a:ext cx="8412120" cy="868320"/>
          </a:xfrm>
          <a:prstGeom prst="rect">
            <a:avLst/>
          </a:prstGeom>
          <a:solidFill>
            <a:srgbClr val="1a1f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91440" bIns="91440" anchor="t">
            <a:noAutofit/>
          </a:bodyPr>
          <a:p>
            <a:pPr>
              <a:lnSpc>
                <a:spcPct val="100000"/>
              </a:lnSpc>
            </a:pPr>
            <a:r>
              <a:rPr b="1" lang="ru-RU" sz="1000" spc="-1" strike="noStrike">
                <a:solidFill>
                  <a:srgbClr val="94a3f6"/>
                </a:solidFill>
                <a:latin typeface="Arial"/>
              </a:rPr>
              <a:t>▸ </a:t>
            </a:r>
            <a:r>
              <a:rPr b="0" lang="ru-RU" sz="1000" spc="-1" strike="noStrike">
                <a:solidFill>
                  <a:srgbClr val="ffffff"/>
                </a:solidFill>
                <a:latin typeface="Arial"/>
              </a:rPr>
              <a:t>Participants: from raw material suppliers to the end customer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1000" spc="-1" strike="noStrike">
                <a:solidFill>
                  <a:srgbClr val="94a3f6"/>
                </a:solidFill>
                <a:latin typeface="Arial"/>
              </a:rPr>
              <a:t>▸ </a:t>
            </a:r>
            <a:r>
              <a:rPr b="0" lang="ru-RU" sz="1000" spc="-1" strike="noStrike">
                <a:solidFill>
                  <a:srgbClr val="ffffff"/>
                </a:solidFill>
                <a:latin typeface="Arial"/>
              </a:rPr>
              <a:t>Which link in the chain creates the most value and margin?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1000" spc="-1" strike="noStrike">
                <a:solidFill>
                  <a:srgbClr val="94a3f6"/>
                </a:solidFill>
                <a:latin typeface="Arial"/>
              </a:rPr>
              <a:t>▸ </a:t>
            </a:r>
            <a:r>
              <a:rPr b="0" lang="ru-RU" sz="1000" spc="-1" strike="noStrike">
                <a:solidFill>
                  <a:srgbClr val="ffffff"/>
                </a:solidFill>
                <a:latin typeface="Arial"/>
              </a:rPr>
              <a:t>Where does the product sit in the chain? Where are the openings for differentiation?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ChainCard0"/>
          <p:cNvSpPr/>
          <p:nvPr/>
        </p:nvSpPr>
        <p:spPr>
          <a:xfrm>
            <a:off x="466200" y="1874520"/>
            <a:ext cx="1554120" cy="1325520"/>
          </a:xfrm>
          <a:prstGeom prst="rect">
            <a:avLst/>
          </a:prstGeom>
          <a:solidFill>
            <a:srgbClr val="6b7f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109800" bIns="10980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100" spc="-1" strike="noStrike">
                <a:solidFill>
                  <a:srgbClr val="ffffff"/>
                </a:solidFill>
                <a:latin typeface="Arial"/>
              </a:rPr>
              <a:t>[Link 1]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[Players / who]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ChainMargin0"/>
          <p:cNvSpPr/>
          <p:nvPr/>
        </p:nvSpPr>
        <p:spPr>
          <a:xfrm>
            <a:off x="466200" y="3200400"/>
            <a:ext cx="1554120" cy="31968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Margin: [X%]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Arrow0"/>
          <p:cNvSpPr/>
          <p:nvPr/>
        </p:nvSpPr>
        <p:spPr>
          <a:xfrm>
            <a:off x="2025360" y="2423160"/>
            <a:ext cx="100080" cy="54828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800" spc="-1" strike="noStrike">
                <a:solidFill>
                  <a:srgbClr val="94a3f6"/>
                </a:solidFill>
                <a:latin typeface="Arial"/>
              </a:rPr>
              <a:t>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ChainCard1"/>
          <p:cNvSpPr/>
          <p:nvPr/>
        </p:nvSpPr>
        <p:spPr>
          <a:xfrm>
            <a:off x="2130480" y="1874520"/>
            <a:ext cx="1554120" cy="1325520"/>
          </a:xfrm>
          <a:prstGeom prst="rect">
            <a:avLst/>
          </a:prstGeom>
          <a:solidFill>
            <a:srgbClr val="6b7f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109800" bIns="10980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100" spc="-1" strike="noStrike">
                <a:solidFill>
                  <a:srgbClr val="ffffff"/>
                </a:solidFill>
                <a:latin typeface="Arial"/>
              </a:rPr>
              <a:t>[Link 2]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[Players / who]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ChainMargin1"/>
          <p:cNvSpPr/>
          <p:nvPr/>
        </p:nvSpPr>
        <p:spPr>
          <a:xfrm>
            <a:off x="2130480" y="3200400"/>
            <a:ext cx="1554120" cy="31968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Margin: [X%]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Arrow1"/>
          <p:cNvSpPr/>
          <p:nvPr/>
        </p:nvSpPr>
        <p:spPr>
          <a:xfrm>
            <a:off x="3689640" y="2423160"/>
            <a:ext cx="100080" cy="54828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800" spc="-1" strike="noStrike">
                <a:solidFill>
                  <a:srgbClr val="94a3f6"/>
                </a:solidFill>
                <a:latin typeface="Arial"/>
              </a:rPr>
              <a:t>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ChainCard2"/>
          <p:cNvSpPr/>
          <p:nvPr/>
        </p:nvSpPr>
        <p:spPr>
          <a:xfrm>
            <a:off x="3794760" y="1874520"/>
            <a:ext cx="1554120" cy="1325520"/>
          </a:xfrm>
          <a:prstGeom prst="rect">
            <a:avLst/>
          </a:prstGeom>
          <a:solidFill>
            <a:srgbClr val="4a5ec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109800" bIns="10980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100" spc="-1" strike="noStrike">
                <a:solidFill>
                  <a:srgbClr val="ffffff"/>
                </a:solidFill>
                <a:latin typeface="Arial"/>
              </a:rPr>
              <a:t>[Link 3]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[Players / who]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ChainMargin2"/>
          <p:cNvSpPr/>
          <p:nvPr/>
        </p:nvSpPr>
        <p:spPr>
          <a:xfrm>
            <a:off x="3794760" y="3200400"/>
            <a:ext cx="1554120" cy="31968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Margin: [X%]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Arrow2"/>
          <p:cNvSpPr/>
          <p:nvPr/>
        </p:nvSpPr>
        <p:spPr>
          <a:xfrm>
            <a:off x="5353920" y="2423160"/>
            <a:ext cx="100080" cy="54828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800" spc="-1" strike="noStrike">
                <a:solidFill>
                  <a:srgbClr val="94a3f6"/>
                </a:solidFill>
                <a:latin typeface="Arial"/>
              </a:rPr>
              <a:t>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hainCard3"/>
          <p:cNvSpPr/>
          <p:nvPr/>
        </p:nvSpPr>
        <p:spPr>
          <a:xfrm>
            <a:off x="5459040" y="1874520"/>
            <a:ext cx="1554120" cy="1325520"/>
          </a:xfrm>
          <a:prstGeom prst="rect">
            <a:avLst/>
          </a:prstGeom>
          <a:solidFill>
            <a:srgbClr val="e5737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109800" bIns="10980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100" spc="-1" strike="noStrike">
                <a:solidFill>
                  <a:srgbClr val="ffffff"/>
                </a:solidFill>
                <a:latin typeface="Arial"/>
              </a:rPr>
              <a:t>[Link 4]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[Players / who]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hainMargin3"/>
          <p:cNvSpPr/>
          <p:nvPr/>
        </p:nvSpPr>
        <p:spPr>
          <a:xfrm>
            <a:off x="5459040" y="3200400"/>
            <a:ext cx="1554120" cy="31968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Margin: [X%]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Arrow3"/>
          <p:cNvSpPr/>
          <p:nvPr/>
        </p:nvSpPr>
        <p:spPr>
          <a:xfrm>
            <a:off x="7017840" y="2423160"/>
            <a:ext cx="100080" cy="54828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800" spc="-1" strike="noStrike">
                <a:solidFill>
                  <a:srgbClr val="94a3f6"/>
                </a:solidFill>
                <a:latin typeface="Arial"/>
              </a:rPr>
              <a:t>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ChainCard4"/>
          <p:cNvSpPr/>
          <p:nvPr/>
        </p:nvSpPr>
        <p:spPr>
          <a:xfrm>
            <a:off x="7123320" y="1874520"/>
            <a:ext cx="1554120" cy="1325520"/>
          </a:xfrm>
          <a:prstGeom prst="rect">
            <a:avLst/>
          </a:prstGeom>
          <a:solidFill>
            <a:srgbClr val="94a3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109800" bIns="10980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100" spc="-1" strike="noStrike">
                <a:solidFill>
                  <a:srgbClr val="ffffff"/>
                </a:solidFill>
                <a:latin typeface="Arial"/>
              </a:rPr>
              <a:t>[Link 5]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[Value proposition / context]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ChainMargin4"/>
          <p:cNvSpPr/>
          <p:nvPr/>
        </p:nvSpPr>
        <p:spPr>
          <a:xfrm>
            <a:off x="7123320" y="3200400"/>
            <a:ext cx="1554120" cy="31968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Margin: —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Conclusion"/>
          <p:cNvSpPr/>
          <p:nvPr/>
        </p:nvSpPr>
        <p:spPr>
          <a:xfrm>
            <a:off x="365760" y="3840480"/>
            <a:ext cx="8412120" cy="639720"/>
          </a:xfrm>
          <a:prstGeom prst="rect">
            <a:avLst/>
          </a:prstGeom>
          <a:solidFill>
            <a:srgbClr val="1a1f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1100" spc="-1" strike="noStrike">
                <a:solidFill>
                  <a:srgbClr val="94a3f6"/>
                </a:solidFill>
                <a:latin typeface="Arial"/>
              </a:rPr>
              <a:t>Conclusion: </a:t>
            </a:r>
            <a:r>
              <a:rPr b="0" lang="ru-RU" sz="1000" spc="-1" strike="noStrike">
                <a:solidFill>
                  <a:srgbClr val="ffffff"/>
                </a:solidFill>
                <a:latin typeface="Arial"/>
              </a:rPr>
              <a:t>[Which link creates the most value? Where are the openings for differentiation?]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000" spc="-1" strike="noStrike">
                <a:solidFill>
                  <a:srgbClr val="ffffff"/>
                </a:solidFill>
                <a:latin typeface="Arial"/>
              </a:rPr>
              <a:t>[Conclusion: the unclosed link / the white space for the product]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6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[state the source]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8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Competitive landscape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94a3f6"/>
                </a:solidFill>
                <a:latin typeface="Calibri"/>
                <a:ea typeface="Calibri"/>
              </a:rPr>
              <a:t>MARKET ANALYSIS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1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[competitor sites, reviews, industry publications — task 3]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5"/>
          <p:cNvSpPr/>
          <p:nvPr/>
        </p:nvSpPr>
        <p:spPr>
          <a:xfrm>
            <a:off x="365760" y="868680"/>
            <a:ext cx="4205520" cy="169092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3" name="Shape 6"/>
          <p:cNvSpPr/>
          <p:nvPr/>
        </p:nvSpPr>
        <p:spPr>
          <a:xfrm>
            <a:off x="365760" y="868680"/>
            <a:ext cx="4205520" cy="54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4" name="Text 7"/>
          <p:cNvSpPr/>
          <p:nvPr/>
        </p:nvSpPr>
        <p:spPr>
          <a:xfrm>
            <a:off x="502920" y="96012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Direct competitors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8"/>
          <p:cNvSpPr/>
          <p:nvPr/>
        </p:nvSpPr>
        <p:spPr>
          <a:xfrm>
            <a:off x="475560" y="1325880"/>
            <a:ext cx="3985920" cy="11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[Direct 1] · [Direct 2] · [Direct 3]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9"/>
          <p:cNvSpPr/>
          <p:nvPr/>
        </p:nvSpPr>
        <p:spPr>
          <a:xfrm>
            <a:off x="4754880" y="868680"/>
            <a:ext cx="4205520" cy="169092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7" name="Shape 10"/>
          <p:cNvSpPr/>
          <p:nvPr/>
        </p:nvSpPr>
        <p:spPr>
          <a:xfrm>
            <a:off x="4754880" y="868680"/>
            <a:ext cx="4205520" cy="54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8" name="Text 11"/>
          <p:cNvSpPr/>
          <p:nvPr/>
        </p:nvSpPr>
        <p:spPr>
          <a:xfrm>
            <a:off x="4892040" y="96012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Indirect competitors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12"/>
          <p:cNvSpPr/>
          <p:nvPr/>
        </p:nvSpPr>
        <p:spPr>
          <a:xfrm>
            <a:off x="4864680" y="1325880"/>
            <a:ext cx="3985920" cy="11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[Indirect 1] · [Indirect 2]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13"/>
          <p:cNvSpPr/>
          <p:nvPr/>
        </p:nvSpPr>
        <p:spPr>
          <a:xfrm>
            <a:off x="365760" y="2743200"/>
            <a:ext cx="4205520" cy="169092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1" name="Shape 14"/>
          <p:cNvSpPr/>
          <p:nvPr/>
        </p:nvSpPr>
        <p:spPr>
          <a:xfrm>
            <a:off x="365760" y="2743200"/>
            <a:ext cx="4205520" cy="54000"/>
          </a:xfrm>
          <a:prstGeom prst="rect">
            <a:avLst/>
          </a:prstGeom>
          <a:solidFill>
            <a:srgbClr val="f5939e"/>
          </a:solidFill>
          <a:ln w="12700">
            <a:solidFill>
              <a:srgbClr val="f593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2" name="Text 15"/>
          <p:cNvSpPr/>
          <p:nvPr/>
        </p:nvSpPr>
        <p:spPr>
          <a:xfrm>
            <a:off x="502920" y="283464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Displacers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 16"/>
          <p:cNvSpPr/>
          <p:nvPr/>
        </p:nvSpPr>
        <p:spPr>
          <a:xfrm>
            <a:off x="475560" y="3200400"/>
            <a:ext cx="3985920" cy="11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[Displacer 1] · [Displacer 2]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7"/>
          <p:cNvSpPr/>
          <p:nvPr/>
        </p:nvSpPr>
        <p:spPr>
          <a:xfrm>
            <a:off x="4754880" y="2743200"/>
            <a:ext cx="4205520" cy="169092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5" name="Shape 18"/>
          <p:cNvSpPr/>
          <p:nvPr/>
        </p:nvSpPr>
        <p:spPr>
          <a:xfrm>
            <a:off x="4754880" y="2743200"/>
            <a:ext cx="4205520" cy="54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6" name="Text 19"/>
          <p:cNvSpPr/>
          <p:nvPr/>
        </p:nvSpPr>
        <p:spPr>
          <a:xfrm>
            <a:off x="4892040" y="283464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Channel-based competitors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20"/>
          <p:cNvSpPr/>
          <p:nvPr/>
        </p:nvSpPr>
        <p:spPr>
          <a:xfrm>
            <a:off x="4864680" y="3200400"/>
            <a:ext cx="3985920" cy="11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[Channel-based competitor: reach, distribution channels, market share]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"/>
          <p:cNvSpPr/>
          <p:nvPr/>
        </p:nvSpPr>
        <p:spPr>
          <a:xfrm>
            <a:off x="365760" y="228600"/>
            <a:ext cx="8411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400" spc="-1" strike="noStrike">
                <a:solidFill>
                  <a:srgbClr val="1f3864"/>
                </a:solidFill>
                <a:latin typeface="Arial"/>
              </a:rPr>
              <a:t>Competitor comparison: financials and product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2"/>
          <p:cNvSpPr/>
          <p:nvPr/>
        </p:nvSpPr>
        <p:spPr>
          <a:xfrm>
            <a:off x="365760" y="777240"/>
            <a:ext cx="841176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595959"/>
                </a:solidFill>
                <a:latin typeface="Arial"/>
              </a:rPr>
              <a:t>Financial and product parameters of the main players. The numbers are estimates from public sources — state the confidence level.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0" name="Table 3"/>
          <p:cNvGraphicFramePr/>
          <p:nvPr/>
        </p:nvGraphicFramePr>
        <p:xfrm>
          <a:off x="365760" y="1280160"/>
          <a:ext cx="8411040" cy="3473280"/>
        </p:xfrm>
        <a:graphic>
          <a:graphicData uri="http://schemas.openxmlformats.org/drawingml/2006/table">
            <a:tbl>
              <a:tblPr/>
              <a:tblGrid>
                <a:gridCol w="1364040"/>
                <a:gridCol w="1023120"/>
                <a:gridCol w="1136520"/>
                <a:gridCol w="1023120"/>
                <a:gridCol w="1023120"/>
                <a:gridCol w="1704960"/>
                <a:gridCol w="1136520"/>
              </a:tblGrid>
              <a:tr h="5788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Competitor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Market / geo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Price / subscription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Customers (est.)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Revenue (est.)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Key features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Weakness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5788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[Competitor 1]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[market / geo]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[price]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[customers]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[revenue]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[key features]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[weakness]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5788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[Competitor 2]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[market / geo]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[price]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[customers]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[revenue]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[key features]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[weakness]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5788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[Competitor 3]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[market / geo]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[price]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[customers]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[revenue]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[key features]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[weakness]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5788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[Competitor 4]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[market / geo]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[price]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[customers]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[revenue]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[key features]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[weakness]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5788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[Our product]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[market / geo]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[price]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[customers]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[revenue]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[key features]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900" spc="-1" strike="noStrike">
                          <a:solidFill>
                            <a:srgbClr val="404040"/>
                          </a:solidFill>
                          <a:latin typeface="Arial"/>
                        </a:rPr>
                        <a:t>[weakness]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sp>
        <p:nvSpPr>
          <p:cNvPr id="141" name="TextBox 4"/>
          <p:cNvSpPr/>
          <p:nvPr/>
        </p:nvSpPr>
        <p:spPr>
          <a:xfrm>
            <a:off x="2743200" y="4846320"/>
            <a:ext cx="3656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US" sz="800" spc="-1" strike="noStrike">
                <a:solidFill>
                  <a:srgbClr val="808080"/>
                </a:solidFill>
                <a:latin typeface="Arial"/>
              </a:rPr>
              <a:t>Sources: G2, Crunchbase, SimilarWeb, company reports (tasks 3, 4)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3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Key competitor: [name]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94a3f6"/>
                </a:solidFill>
                <a:latin typeface="Calibri"/>
                <a:ea typeface="Calibri"/>
              </a:rPr>
              <a:t>MARKET ANALYSIS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6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[the competitor's site, reviews, analytics — task 4]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5"/>
          <p:cNvSpPr/>
          <p:nvPr/>
        </p:nvSpPr>
        <p:spPr>
          <a:xfrm>
            <a:off x="365760" y="777240"/>
            <a:ext cx="8411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4" strike="noStrike">
                <a:solidFill>
                  <a:srgbClr val="64748b"/>
                </a:solidFill>
                <a:latin typeface="Calibri"/>
                <a:ea typeface="Calibri"/>
              </a:rPr>
              <a:t>AARRR FUNNEL ANALYSIS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6"/>
          <p:cNvSpPr/>
          <p:nvPr/>
        </p:nvSpPr>
        <p:spPr>
          <a:xfrm>
            <a:off x="365760" y="1097280"/>
            <a:ext cx="1096560" cy="58464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9" name="Text 7"/>
          <p:cNvSpPr/>
          <p:nvPr/>
        </p:nvSpPr>
        <p:spPr>
          <a:xfrm>
            <a:off x="365760" y="1097280"/>
            <a:ext cx="109656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Acquisition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8"/>
          <p:cNvSpPr/>
          <p:nvPr/>
        </p:nvSpPr>
        <p:spPr>
          <a:xfrm>
            <a:off x="1600200" y="1207080"/>
            <a:ext cx="7177320" cy="4017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1" name="Text 9"/>
          <p:cNvSpPr/>
          <p:nvPr/>
        </p:nvSpPr>
        <p:spPr>
          <a:xfrm>
            <a:off x="1737360" y="1207080"/>
            <a:ext cx="69944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Acquisition: [channels with traffic shares]. Estimated CAC / CPC: [value]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10"/>
          <p:cNvSpPr/>
          <p:nvPr/>
        </p:nvSpPr>
        <p:spPr>
          <a:xfrm>
            <a:off x="365760" y="1819800"/>
            <a:ext cx="1096560" cy="58464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3" name="Text 11"/>
          <p:cNvSpPr/>
          <p:nvPr/>
        </p:nvSpPr>
        <p:spPr>
          <a:xfrm>
            <a:off x="365760" y="1819800"/>
            <a:ext cx="109656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Activation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12"/>
          <p:cNvSpPr/>
          <p:nvPr/>
        </p:nvSpPr>
        <p:spPr>
          <a:xfrm>
            <a:off x="1600200" y="1929240"/>
            <a:ext cx="7177320" cy="4017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5" name="Text 13"/>
          <p:cNvSpPr/>
          <p:nvPr/>
        </p:nvSpPr>
        <p:spPr>
          <a:xfrm>
            <a:off x="1737360" y="1929240"/>
            <a:ext cx="69944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Activation: [onboarding mechanics]. Aha moment: [the moment]. Time to first value: [value]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14"/>
          <p:cNvSpPr/>
          <p:nvPr/>
        </p:nvSpPr>
        <p:spPr>
          <a:xfrm>
            <a:off x="365760" y="2541960"/>
            <a:ext cx="1096560" cy="58464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7" name="Text 15"/>
          <p:cNvSpPr/>
          <p:nvPr/>
        </p:nvSpPr>
        <p:spPr>
          <a:xfrm>
            <a:off x="365760" y="2541960"/>
            <a:ext cx="109656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Retention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16"/>
          <p:cNvSpPr/>
          <p:nvPr/>
        </p:nvSpPr>
        <p:spPr>
          <a:xfrm>
            <a:off x="1600200" y="2651760"/>
            <a:ext cx="7177320" cy="4017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9" name="Text 17"/>
          <p:cNvSpPr/>
          <p:nvPr/>
        </p:nvSpPr>
        <p:spPr>
          <a:xfrm>
            <a:off x="1737360" y="2651760"/>
            <a:ext cx="69944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Retention: [retention mechanics]. Estimated retention / repeat rate: [value]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18"/>
          <p:cNvSpPr/>
          <p:nvPr/>
        </p:nvSpPr>
        <p:spPr>
          <a:xfrm>
            <a:off x="365760" y="3264480"/>
            <a:ext cx="1096560" cy="58464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1" name="Text 19"/>
          <p:cNvSpPr/>
          <p:nvPr/>
        </p:nvSpPr>
        <p:spPr>
          <a:xfrm>
            <a:off x="365760" y="3264480"/>
            <a:ext cx="109656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Revenue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20"/>
          <p:cNvSpPr/>
          <p:nvPr/>
        </p:nvSpPr>
        <p:spPr>
          <a:xfrm>
            <a:off x="1600200" y="3374280"/>
            <a:ext cx="7177320" cy="4017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3" name="Text 21"/>
          <p:cNvSpPr/>
          <p:nvPr/>
        </p:nvSpPr>
        <p:spPr>
          <a:xfrm>
            <a:off x="1737360" y="3374280"/>
            <a:ext cx="69944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Revenue: [monetisation model]. Average ticket: [value]. Estimated revenue: [value]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22"/>
          <p:cNvSpPr/>
          <p:nvPr/>
        </p:nvSpPr>
        <p:spPr>
          <a:xfrm>
            <a:off x="365760" y="3986640"/>
            <a:ext cx="1096560" cy="584640"/>
          </a:xfrm>
          <a:prstGeom prst="rect">
            <a:avLst/>
          </a:prstGeom>
          <a:solidFill>
            <a:srgbClr val="f5939e"/>
          </a:solidFill>
          <a:ln w="12700">
            <a:solidFill>
              <a:srgbClr val="f593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5" name="Text 23"/>
          <p:cNvSpPr/>
          <p:nvPr/>
        </p:nvSpPr>
        <p:spPr>
          <a:xfrm>
            <a:off x="365760" y="3986640"/>
            <a:ext cx="109656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Referral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24"/>
          <p:cNvSpPr/>
          <p:nvPr/>
        </p:nvSpPr>
        <p:spPr>
          <a:xfrm>
            <a:off x="1600200" y="4096440"/>
            <a:ext cx="7177320" cy="4017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7" name="Text 25"/>
          <p:cNvSpPr/>
          <p:nvPr/>
        </p:nvSpPr>
        <p:spPr>
          <a:xfrm>
            <a:off x="1737360" y="4096440"/>
            <a:ext cx="69944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Referral: [programmes and mechanics]. NPS: [value, or "not disclosed"]. Weakness: [the key vulnerability]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9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PESTEL analysis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94a3f6"/>
                </a:solidFill>
                <a:latin typeface="Calibri"/>
                <a:ea typeface="Calibri"/>
              </a:rPr>
              <a:t>MARKET ANALYSIS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2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[regulators, industry associations, statistics — task 6]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5"/>
          <p:cNvSpPr/>
          <p:nvPr/>
        </p:nvSpPr>
        <p:spPr>
          <a:xfrm>
            <a:off x="365760" y="868680"/>
            <a:ext cx="54000" cy="59364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4" name="Text 6"/>
          <p:cNvSpPr/>
          <p:nvPr/>
        </p:nvSpPr>
        <p:spPr>
          <a:xfrm>
            <a:off x="594360" y="887040"/>
            <a:ext cx="18280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P — Political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7"/>
          <p:cNvSpPr/>
          <p:nvPr/>
        </p:nvSpPr>
        <p:spPr>
          <a:xfrm>
            <a:off x="594360" y="1161360"/>
            <a:ext cx="82288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POLITICAL: [factor]: [significance]x[probability]=[score] [⚠️ / ✅] [consequence]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8"/>
          <p:cNvSpPr/>
          <p:nvPr/>
        </p:nvSpPr>
        <p:spPr>
          <a:xfrm>
            <a:off x="365760" y="1664280"/>
            <a:ext cx="54000" cy="59364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7" name="Text 9"/>
          <p:cNvSpPr/>
          <p:nvPr/>
        </p:nvSpPr>
        <p:spPr>
          <a:xfrm>
            <a:off x="594360" y="1682640"/>
            <a:ext cx="18280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E — Economic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10"/>
          <p:cNvSpPr/>
          <p:nvPr/>
        </p:nvSpPr>
        <p:spPr>
          <a:xfrm>
            <a:off x="594360" y="1956960"/>
            <a:ext cx="82288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ECONOMIC: [factor]: [significance]x[probability]=[score] [⚠️ / ✅] [consequence]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11"/>
          <p:cNvSpPr/>
          <p:nvPr/>
        </p:nvSpPr>
        <p:spPr>
          <a:xfrm>
            <a:off x="365760" y="2459880"/>
            <a:ext cx="54000" cy="59364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0" name="Text 12"/>
          <p:cNvSpPr/>
          <p:nvPr/>
        </p:nvSpPr>
        <p:spPr>
          <a:xfrm>
            <a:off x="594360" y="2477880"/>
            <a:ext cx="18280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S — Social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13"/>
          <p:cNvSpPr/>
          <p:nvPr/>
        </p:nvSpPr>
        <p:spPr>
          <a:xfrm>
            <a:off x="594360" y="2752200"/>
            <a:ext cx="82288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SOCIAL: [factor]: [significance]x[probability]=[score] [⚠️ / ✅] [consequence]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14"/>
          <p:cNvSpPr/>
          <p:nvPr/>
        </p:nvSpPr>
        <p:spPr>
          <a:xfrm>
            <a:off x="365760" y="3255120"/>
            <a:ext cx="54000" cy="59364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3" name="Text 15"/>
          <p:cNvSpPr/>
          <p:nvPr/>
        </p:nvSpPr>
        <p:spPr>
          <a:xfrm>
            <a:off x="594360" y="3273480"/>
            <a:ext cx="18280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T — Technological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16"/>
          <p:cNvSpPr/>
          <p:nvPr/>
        </p:nvSpPr>
        <p:spPr>
          <a:xfrm>
            <a:off x="594360" y="3547800"/>
            <a:ext cx="82288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TECHNOLOGICAL: [factor]: [significance]x[probability]=[score] [⚠️ / ✅] [consequence]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17"/>
          <p:cNvSpPr/>
          <p:nvPr/>
        </p:nvSpPr>
        <p:spPr>
          <a:xfrm>
            <a:off x="365760" y="4050720"/>
            <a:ext cx="54000" cy="593640"/>
          </a:xfrm>
          <a:prstGeom prst="rect">
            <a:avLst/>
          </a:prstGeom>
          <a:solidFill>
            <a:srgbClr val="f5939e"/>
          </a:solidFill>
          <a:ln w="12700">
            <a:solidFill>
              <a:srgbClr val="f593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6" name="Text 18"/>
          <p:cNvSpPr/>
          <p:nvPr/>
        </p:nvSpPr>
        <p:spPr>
          <a:xfrm>
            <a:off x="594360" y="4069080"/>
            <a:ext cx="18280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E/L — Environmental + Legal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19"/>
          <p:cNvSpPr/>
          <p:nvPr/>
        </p:nvSpPr>
        <p:spPr>
          <a:xfrm>
            <a:off x="594360" y="4343400"/>
            <a:ext cx="82288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ENVIRONMENTAL / LEGAL: [factor]: [significance]x[probability]=[score] [⚠️ / ✅] [consequence]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0"/>
          <p:cNvSpPr/>
          <p:nvPr/>
        </p:nvSpPr>
        <p:spPr>
          <a:xfrm>
            <a:off x="0" y="0"/>
            <a:ext cx="319320" cy="5142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9" name="Text 1"/>
          <p:cNvSpPr/>
          <p:nvPr/>
        </p:nvSpPr>
        <p:spPr>
          <a:xfrm>
            <a:off x="548640" y="1737360"/>
            <a:ext cx="80460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395" strike="noStrike">
                <a:solidFill>
                  <a:srgbClr val="0d9488"/>
                </a:solidFill>
                <a:latin typeface="Calibri"/>
                <a:ea typeface="Calibri"/>
              </a:rPr>
              <a:t>SECTION 02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2"/>
          <p:cNvSpPr/>
          <p:nvPr/>
        </p:nvSpPr>
        <p:spPr>
          <a:xfrm>
            <a:off x="548640" y="2148840"/>
            <a:ext cx="804600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  <a:ea typeface="Calibri"/>
              </a:rPr>
              <a:t>Customer research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2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Jobs-to-be-Done: the customer's jobs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0d9488"/>
                </a:solidFill>
                <a:latin typeface="Calibri"/>
                <a:ea typeface="Calibri"/>
              </a:rPr>
              <a:t>RESEARCH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5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Jobs-to-be-Done (Ulwick/Christensen); task 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5"/>
          <p:cNvSpPr/>
          <p:nvPr/>
        </p:nvSpPr>
        <p:spPr>
          <a:xfrm>
            <a:off x="365760" y="777240"/>
            <a:ext cx="8411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4" strike="noStrike">
                <a:solidFill>
                  <a:srgbClr val="0d9488"/>
                </a:solidFill>
                <a:latin typeface="Calibri"/>
                <a:ea typeface="Calibri"/>
              </a:rPr>
              <a:t>WHAT "JOB" DO CUSTOMERS HIRE OUR PRODUCT TO DO?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6"/>
          <p:cNvSpPr/>
          <p:nvPr/>
        </p:nvSpPr>
        <p:spPr>
          <a:xfrm>
            <a:off x="365760" y="1078920"/>
            <a:ext cx="2651040" cy="100512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8" name="Shape 7"/>
          <p:cNvSpPr/>
          <p:nvPr/>
        </p:nvSpPr>
        <p:spPr>
          <a:xfrm>
            <a:off x="365760" y="1078920"/>
            <a:ext cx="2651040" cy="54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9" name="Text 8"/>
          <p:cNvSpPr/>
          <p:nvPr/>
        </p:nvSpPr>
        <p:spPr>
          <a:xfrm>
            <a:off x="502920" y="1170360"/>
            <a:ext cx="2376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Functional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9"/>
          <p:cNvSpPr/>
          <p:nvPr/>
        </p:nvSpPr>
        <p:spPr>
          <a:xfrm>
            <a:off x="475560" y="1536120"/>
            <a:ext cx="24314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[Functional jobs: what the customer does in practice — 2-3 statements]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0"/>
          <p:cNvSpPr/>
          <p:nvPr/>
        </p:nvSpPr>
        <p:spPr>
          <a:xfrm>
            <a:off x="3200400" y="1078920"/>
            <a:ext cx="2651040" cy="100512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2" name="Shape 11"/>
          <p:cNvSpPr/>
          <p:nvPr/>
        </p:nvSpPr>
        <p:spPr>
          <a:xfrm>
            <a:off x="3200400" y="1078920"/>
            <a:ext cx="2651040" cy="54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3" name="Text 12"/>
          <p:cNvSpPr/>
          <p:nvPr/>
        </p:nvSpPr>
        <p:spPr>
          <a:xfrm>
            <a:off x="3337560" y="1170360"/>
            <a:ext cx="2376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Emotional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13"/>
          <p:cNvSpPr/>
          <p:nvPr/>
        </p:nvSpPr>
        <p:spPr>
          <a:xfrm>
            <a:off x="3310200" y="1536120"/>
            <a:ext cx="24314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[Emotional jobs: how the customer wants to feel]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14"/>
          <p:cNvSpPr/>
          <p:nvPr/>
        </p:nvSpPr>
        <p:spPr>
          <a:xfrm>
            <a:off x="6035040" y="1078920"/>
            <a:ext cx="2651040" cy="100512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6" name="Shape 15"/>
          <p:cNvSpPr/>
          <p:nvPr/>
        </p:nvSpPr>
        <p:spPr>
          <a:xfrm>
            <a:off x="6035040" y="1078920"/>
            <a:ext cx="2651040" cy="54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7" name="Text 16"/>
          <p:cNvSpPr/>
          <p:nvPr/>
        </p:nvSpPr>
        <p:spPr>
          <a:xfrm>
            <a:off x="6172200" y="1170360"/>
            <a:ext cx="2376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Social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17"/>
          <p:cNvSpPr/>
          <p:nvPr/>
        </p:nvSpPr>
        <p:spPr>
          <a:xfrm>
            <a:off x="6144840" y="1536120"/>
            <a:ext cx="24314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[Social jobs: how the customer wants to be seen by others]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18"/>
          <p:cNvSpPr/>
          <p:nvPr/>
        </p:nvSpPr>
        <p:spPr>
          <a:xfrm>
            <a:off x="365760" y="2212920"/>
            <a:ext cx="8411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94" strike="noStrike">
                <a:solidFill>
                  <a:srgbClr val="64748b"/>
                </a:solidFill>
                <a:latin typeface="Calibri"/>
                <a:ea typeface="Calibri"/>
              </a:rPr>
              <a:t>TOP JOB STORIES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19"/>
          <p:cNvSpPr/>
          <p:nvPr/>
        </p:nvSpPr>
        <p:spPr>
          <a:xfrm>
            <a:off x="365760" y="2514600"/>
            <a:ext cx="8411760" cy="59364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1" name="Shape 20"/>
          <p:cNvSpPr/>
          <p:nvPr/>
        </p:nvSpPr>
        <p:spPr>
          <a:xfrm>
            <a:off x="365760" y="2514600"/>
            <a:ext cx="54000" cy="593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2" name="Text 21"/>
          <p:cNvSpPr/>
          <p:nvPr/>
        </p:nvSpPr>
        <p:spPr>
          <a:xfrm>
            <a:off x="594360" y="2514600"/>
            <a:ext cx="80460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When [situation], I want to [job], so that [outcome].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22"/>
          <p:cNvSpPr/>
          <p:nvPr/>
        </p:nvSpPr>
        <p:spPr>
          <a:xfrm>
            <a:off x="365760" y="3246120"/>
            <a:ext cx="8411760" cy="59364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4" name="Shape 23"/>
          <p:cNvSpPr/>
          <p:nvPr/>
        </p:nvSpPr>
        <p:spPr>
          <a:xfrm>
            <a:off x="365760" y="3246120"/>
            <a:ext cx="54000" cy="593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5" name="Text 24"/>
          <p:cNvSpPr/>
          <p:nvPr/>
        </p:nvSpPr>
        <p:spPr>
          <a:xfrm>
            <a:off x="594360" y="3246120"/>
            <a:ext cx="80460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When [situation], I want to [job], so that [outcome].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25"/>
          <p:cNvSpPr/>
          <p:nvPr/>
        </p:nvSpPr>
        <p:spPr>
          <a:xfrm>
            <a:off x="365760" y="3977640"/>
            <a:ext cx="8411760" cy="59364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7" name="Shape 26"/>
          <p:cNvSpPr/>
          <p:nvPr/>
        </p:nvSpPr>
        <p:spPr>
          <a:xfrm>
            <a:off x="365760" y="3977640"/>
            <a:ext cx="54000" cy="593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8" name="Text 27"/>
          <p:cNvSpPr/>
          <p:nvPr/>
        </p:nvSpPr>
        <p:spPr>
          <a:xfrm>
            <a:off x="594360" y="3977640"/>
            <a:ext cx="80460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When [situation], I want to [job], so that [outcome].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Customer Journey Map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0d9488"/>
                </a:solidFill>
                <a:latin typeface="Calibri"/>
                <a:ea typeface="Calibri"/>
              </a:rPr>
              <a:t>RESEARCH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3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[state the source]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365760" y="777240"/>
            <a:ext cx="8411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4" strike="noStrike">
                <a:solidFill>
                  <a:srgbClr val="0d9488"/>
                </a:solidFill>
                <a:latin typeface="Calibri"/>
                <a:ea typeface="Calibri"/>
              </a:rPr>
              <a:t>THE CUSTOMER JOURNEY FROM PROBLEM AWARENESS TO LOYALTY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6"/>
          <p:cNvSpPr/>
          <p:nvPr/>
        </p:nvSpPr>
        <p:spPr>
          <a:xfrm>
            <a:off x="1188720" y="1078920"/>
            <a:ext cx="1051200" cy="3466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6" name="Text 7"/>
          <p:cNvSpPr/>
          <p:nvPr/>
        </p:nvSpPr>
        <p:spPr>
          <a:xfrm>
            <a:off x="1188720" y="1078920"/>
            <a:ext cx="1051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Awareness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8"/>
          <p:cNvSpPr/>
          <p:nvPr/>
        </p:nvSpPr>
        <p:spPr>
          <a:xfrm>
            <a:off x="2277000" y="1078920"/>
            <a:ext cx="1051200" cy="3466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8" name="Text 9"/>
          <p:cNvSpPr/>
          <p:nvPr/>
        </p:nvSpPr>
        <p:spPr>
          <a:xfrm>
            <a:off x="2277000" y="1078920"/>
            <a:ext cx="1051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Search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10"/>
          <p:cNvSpPr/>
          <p:nvPr/>
        </p:nvSpPr>
        <p:spPr>
          <a:xfrm>
            <a:off x="3355920" y="1078920"/>
            <a:ext cx="1051200" cy="3466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0" name="Text 11"/>
          <p:cNvSpPr/>
          <p:nvPr/>
        </p:nvSpPr>
        <p:spPr>
          <a:xfrm>
            <a:off x="3355920" y="1078920"/>
            <a:ext cx="1051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Score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12"/>
          <p:cNvSpPr/>
          <p:nvPr/>
        </p:nvSpPr>
        <p:spPr>
          <a:xfrm>
            <a:off x="4443840" y="1078920"/>
            <a:ext cx="1051200" cy="3466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2" name="Text 13"/>
          <p:cNvSpPr/>
          <p:nvPr/>
        </p:nvSpPr>
        <p:spPr>
          <a:xfrm>
            <a:off x="4443840" y="1078920"/>
            <a:ext cx="1051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Purchase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14"/>
          <p:cNvSpPr/>
          <p:nvPr/>
        </p:nvSpPr>
        <p:spPr>
          <a:xfrm>
            <a:off x="5523120" y="1078920"/>
            <a:ext cx="1051200" cy="346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4" name="Text 15"/>
          <p:cNvSpPr/>
          <p:nvPr/>
        </p:nvSpPr>
        <p:spPr>
          <a:xfrm>
            <a:off x="5523120" y="1078920"/>
            <a:ext cx="1051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Onboarding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16"/>
          <p:cNvSpPr/>
          <p:nvPr/>
        </p:nvSpPr>
        <p:spPr>
          <a:xfrm>
            <a:off x="6611040" y="1078920"/>
            <a:ext cx="1051200" cy="3466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6" name="Text 17"/>
          <p:cNvSpPr/>
          <p:nvPr/>
        </p:nvSpPr>
        <p:spPr>
          <a:xfrm>
            <a:off x="6611040" y="1078920"/>
            <a:ext cx="1051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Usage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18"/>
          <p:cNvSpPr/>
          <p:nvPr/>
        </p:nvSpPr>
        <p:spPr>
          <a:xfrm>
            <a:off x="7689960" y="1078920"/>
            <a:ext cx="1051200" cy="3466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8" name="Text 19"/>
          <p:cNvSpPr/>
          <p:nvPr/>
        </p:nvSpPr>
        <p:spPr>
          <a:xfrm>
            <a:off x="7689960" y="1078920"/>
            <a:ext cx="1051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Loyalty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20"/>
          <p:cNvSpPr/>
          <p:nvPr/>
        </p:nvSpPr>
        <p:spPr>
          <a:xfrm>
            <a:off x="365760" y="1481400"/>
            <a:ext cx="822240" cy="74916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0" name="Text 21"/>
          <p:cNvSpPr/>
          <p:nvPr/>
        </p:nvSpPr>
        <p:spPr>
          <a:xfrm>
            <a:off x="365760" y="1481400"/>
            <a:ext cx="82224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Actions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22"/>
          <p:cNvSpPr/>
          <p:nvPr/>
        </p:nvSpPr>
        <p:spPr>
          <a:xfrm>
            <a:off x="1188720" y="1481400"/>
            <a:ext cx="1046880" cy="749160"/>
          </a:xfrm>
          <a:prstGeom prst="rect">
            <a:avLst/>
          </a:prstGeom>
          <a:solidFill>
            <a:srgbClr val="e8eaf6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2" name="Text 23"/>
          <p:cNvSpPr/>
          <p:nvPr/>
        </p:nvSpPr>
        <p:spPr>
          <a:xfrm>
            <a:off x="1234440" y="15271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24"/>
          <p:cNvSpPr/>
          <p:nvPr/>
        </p:nvSpPr>
        <p:spPr>
          <a:xfrm>
            <a:off x="2273040" y="1481400"/>
            <a:ext cx="1046880" cy="749160"/>
          </a:xfrm>
          <a:prstGeom prst="rect">
            <a:avLst/>
          </a:prstGeom>
          <a:solidFill>
            <a:srgbClr val="e8eaf6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4" name="Text 25"/>
          <p:cNvSpPr/>
          <p:nvPr/>
        </p:nvSpPr>
        <p:spPr>
          <a:xfrm>
            <a:off x="2318760" y="15271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26"/>
          <p:cNvSpPr/>
          <p:nvPr/>
        </p:nvSpPr>
        <p:spPr>
          <a:xfrm>
            <a:off x="3357000" y="1481400"/>
            <a:ext cx="1046880" cy="749160"/>
          </a:xfrm>
          <a:prstGeom prst="rect">
            <a:avLst/>
          </a:prstGeom>
          <a:solidFill>
            <a:srgbClr val="e8eaf6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6" name="Text 27"/>
          <p:cNvSpPr/>
          <p:nvPr/>
        </p:nvSpPr>
        <p:spPr>
          <a:xfrm>
            <a:off x="3402720" y="15271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28"/>
          <p:cNvSpPr/>
          <p:nvPr/>
        </p:nvSpPr>
        <p:spPr>
          <a:xfrm>
            <a:off x="4441320" y="1481400"/>
            <a:ext cx="1046880" cy="749160"/>
          </a:xfrm>
          <a:prstGeom prst="rect">
            <a:avLst/>
          </a:prstGeom>
          <a:solidFill>
            <a:srgbClr val="e8eaf6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8" name="Text 29"/>
          <p:cNvSpPr/>
          <p:nvPr/>
        </p:nvSpPr>
        <p:spPr>
          <a:xfrm>
            <a:off x="4487040" y="15271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30"/>
          <p:cNvSpPr/>
          <p:nvPr/>
        </p:nvSpPr>
        <p:spPr>
          <a:xfrm>
            <a:off x="5525640" y="1481400"/>
            <a:ext cx="1046880" cy="749160"/>
          </a:xfrm>
          <a:prstGeom prst="rect">
            <a:avLst/>
          </a:prstGeom>
          <a:solidFill>
            <a:srgbClr val="e8eaf6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0" name="Text 31"/>
          <p:cNvSpPr/>
          <p:nvPr/>
        </p:nvSpPr>
        <p:spPr>
          <a:xfrm>
            <a:off x="5571360" y="15271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32"/>
          <p:cNvSpPr/>
          <p:nvPr/>
        </p:nvSpPr>
        <p:spPr>
          <a:xfrm>
            <a:off x="6609960" y="1481400"/>
            <a:ext cx="1046880" cy="749160"/>
          </a:xfrm>
          <a:prstGeom prst="rect">
            <a:avLst/>
          </a:prstGeom>
          <a:solidFill>
            <a:srgbClr val="e8eaf6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2" name="Text 33"/>
          <p:cNvSpPr/>
          <p:nvPr/>
        </p:nvSpPr>
        <p:spPr>
          <a:xfrm>
            <a:off x="6655680" y="15271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34"/>
          <p:cNvSpPr/>
          <p:nvPr/>
        </p:nvSpPr>
        <p:spPr>
          <a:xfrm>
            <a:off x="7693920" y="1481400"/>
            <a:ext cx="1046880" cy="749160"/>
          </a:xfrm>
          <a:prstGeom prst="rect">
            <a:avLst/>
          </a:prstGeom>
          <a:solidFill>
            <a:srgbClr val="e8eaf6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4" name="Text 35"/>
          <p:cNvSpPr/>
          <p:nvPr/>
        </p:nvSpPr>
        <p:spPr>
          <a:xfrm>
            <a:off x="7739640" y="15271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36"/>
          <p:cNvSpPr/>
          <p:nvPr/>
        </p:nvSpPr>
        <p:spPr>
          <a:xfrm>
            <a:off x="365760" y="2286000"/>
            <a:ext cx="822240" cy="74916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6" name="Text 37"/>
          <p:cNvSpPr/>
          <p:nvPr/>
        </p:nvSpPr>
        <p:spPr>
          <a:xfrm>
            <a:off x="365760" y="2286000"/>
            <a:ext cx="82224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Emotions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38"/>
          <p:cNvSpPr/>
          <p:nvPr/>
        </p:nvSpPr>
        <p:spPr>
          <a:xfrm>
            <a:off x="1188720" y="2286000"/>
            <a:ext cx="1046880" cy="749160"/>
          </a:xfrm>
          <a:prstGeom prst="rect">
            <a:avLst/>
          </a:prstGeom>
          <a:solidFill>
            <a:srgbClr val="eef2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8" name="Text 39"/>
          <p:cNvSpPr/>
          <p:nvPr/>
        </p:nvSpPr>
        <p:spPr>
          <a:xfrm>
            <a:off x="1234440" y="23317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40"/>
          <p:cNvSpPr/>
          <p:nvPr/>
        </p:nvSpPr>
        <p:spPr>
          <a:xfrm>
            <a:off x="2273040" y="2286000"/>
            <a:ext cx="1046880" cy="749160"/>
          </a:xfrm>
          <a:prstGeom prst="rect">
            <a:avLst/>
          </a:prstGeom>
          <a:solidFill>
            <a:srgbClr val="eef2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0" name="Text 41"/>
          <p:cNvSpPr/>
          <p:nvPr/>
        </p:nvSpPr>
        <p:spPr>
          <a:xfrm>
            <a:off x="2318760" y="23317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42"/>
          <p:cNvSpPr/>
          <p:nvPr/>
        </p:nvSpPr>
        <p:spPr>
          <a:xfrm>
            <a:off x="3357000" y="2286000"/>
            <a:ext cx="1046880" cy="749160"/>
          </a:xfrm>
          <a:prstGeom prst="rect">
            <a:avLst/>
          </a:prstGeom>
          <a:solidFill>
            <a:srgbClr val="eef2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2" name="Text 43"/>
          <p:cNvSpPr/>
          <p:nvPr/>
        </p:nvSpPr>
        <p:spPr>
          <a:xfrm>
            <a:off x="3402720" y="23317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44"/>
          <p:cNvSpPr/>
          <p:nvPr/>
        </p:nvSpPr>
        <p:spPr>
          <a:xfrm>
            <a:off x="4441320" y="2286000"/>
            <a:ext cx="1046880" cy="749160"/>
          </a:xfrm>
          <a:prstGeom prst="rect">
            <a:avLst/>
          </a:prstGeom>
          <a:solidFill>
            <a:srgbClr val="eef2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4" name="Text 45"/>
          <p:cNvSpPr/>
          <p:nvPr/>
        </p:nvSpPr>
        <p:spPr>
          <a:xfrm>
            <a:off x="4487040" y="23317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46"/>
          <p:cNvSpPr/>
          <p:nvPr/>
        </p:nvSpPr>
        <p:spPr>
          <a:xfrm>
            <a:off x="5525640" y="2286000"/>
            <a:ext cx="1046880" cy="749160"/>
          </a:xfrm>
          <a:prstGeom prst="rect">
            <a:avLst/>
          </a:prstGeom>
          <a:solidFill>
            <a:srgbClr val="eef2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6" name="Text 47"/>
          <p:cNvSpPr/>
          <p:nvPr/>
        </p:nvSpPr>
        <p:spPr>
          <a:xfrm>
            <a:off x="5571360" y="23317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48"/>
          <p:cNvSpPr/>
          <p:nvPr/>
        </p:nvSpPr>
        <p:spPr>
          <a:xfrm>
            <a:off x="6609960" y="2286000"/>
            <a:ext cx="1046880" cy="749160"/>
          </a:xfrm>
          <a:prstGeom prst="rect">
            <a:avLst/>
          </a:prstGeom>
          <a:solidFill>
            <a:srgbClr val="eef2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8" name="Text 49"/>
          <p:cNvSpPr/>
          <p:nvPr/>
        </p:nvSpPr>
        <p:spPr>
          <a:xfrm>
            <a:off x="6655680" y="23317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50"/>
          <p:cNvSpPr/>
          <p:nvPr/>
        </p:nvSpPr>
        <p:spPr>
          <a:xfrm>
            <a:off x="7693920" y="2286000"/>
            <a:ext cx="1046880" cy="749160"/>
          </a:xfrm>
          <a:prstGeom prst="rect">
            <a:avLst/>
          </a:prstGeom>
          <a:solidFill>
            <a:srgbClr val="eef2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0" name="Text 51"/>
          <p:cNvSpPr/>
          <p:nvPr/>
        </p:nvSpPr>
        <p:spPr>
          <a:xfrm>
            <a:off x="7739640" y="23317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52"/>
          <p:cNvSpPr/>
          <p:nvPr/>
        </p:nvSpPr>
        <p:spPr>
          <a:xfrm>
            <a:off x="365760" y="3090600"/>
            <a:ext cx="822240" cy="74916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2" name="Text 53"/>
          <p:cNvSpPr/>
          <p:nvPr/>
        </p:nvSpPr>
        <p:spPr>
          <a:xfrm>
            <a:off x="365760" y="3090600"/>
            <a:ext cx="82224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Pains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54"/>
          <p:cNvSpPr/>
          <p:nvPr/>
        </p:nvSpPr>
        <p:spPr>
          <a:xfrm>
            <a:off x="1188720" y="3090600"/>
            <a:ext cx="1046880" cy="749160"/>
          </a:xfrm>
          <a:prstGeom prst="rect">
            <a:avLst/>
          </a:prstGeom>
          <a:solidFill>
            <a:srgbClr val="fff1f2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4" name="Text 55"/>
          <p:cNvSpPr/>
          <p:nvPr/>
        </p:nvSpPr>
        <p:spPr>
          <a:xfrm>
            <a:off x="1234440" y="31363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56"/>
          <p:cNvSpPr/>
          <p:nvPr/>
        </p:nvSpPr>
        <p:spPr>
          <a:xfrm>
            <a:off x="2273040" y="3090600"/>
            <a:ext cx="1046880" cy="749160"/>
          </a:xfrm>
          <a:prstGeom prst="rect">
            <a:avLst/>
          </a:prstGeom>
          <a:solidFill>
            <a:srgbClr val="fff1f2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6" name="Text 57"/>
          <p:cNvSpPr/>
          <p:nvPr/>
        </p:nvSpPr>
        <p:spPr>
          <a:xfrm>
            <a:off x="2318760" y="31363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58"/>
          <p:cNvSpPr/>
          <p:nvPr/>
        </p:nvSpPr>
        <p:spPr>
          <a:xfrm>
            <a:off x="3357000" y="3090600"/>
            <a:ext cx="1046880" cy="749160"/>
          </a:xfrm>
          <a:prstGeom prst="rect">
            <a:avLst/>
          </a:prstGeom>
          <a:solidFill>
            <a:srgbClr val="fff1f2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8" name="Text 59"/>
          <p:cNvSpPr/>
          <p:nvPr/>
        </p:nvSpPr>
        <p:spPr>
          <a:xfrm>
            <a:off x="3402720" y="31363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60"/>
          <p:cNvSpPr/>
          <p:nvPr/>
        </p:nvSpPr>
        <p:spPr>
          <a:xfrm>
            <a:off x="4441320" y="3090600"/>
            <a:ext cx="1046880" cy="749160"/>
          </a:xfrm>
          <a:prstGeom prst="rect">
            <a:avLst/>
          </a:prstGeom>
          <a:solidFill>
            <a:srgbClr val="fff1f2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0" name="Text 61"/>
          <p:cNvSpPr/>
          <p:nvPr/>
        </p:nvSpPr>
        <p:spPr>
          <a:xfrm>
            <a:off x="4487040" y="31363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62"/>
          <p:cNvSpPr/>
          <p:nvPr/>
        </p:nvSpPr>
        <p:spPr>
          <a:xfrm>
            <a:off x="5525640" y="3090600"/>
            <a:ext cx="1046880" cy="749160"/>
          </a:xfrm>
          <a:prstGeom prst="rect">
            <a:avLst/>
          </a:prstGeom>
          <a:solidFill>
            <a:srgbClr val="fff1f2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2" name="Text 63"/>
          <p:cNvSpPr/>
          <p:nvPr/>
        </p:nvSpPr>
        <p:spPr>
          <a:xfrm>
            <a:off x="5571360" y="31363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64"/>
          <p:cNvSpPr/>
          <p:nvPr/>
        </p:nvSpPr>
        <p:spPr>
          <a:xfrm>
            <a:off x="6609960" y="3090600"/>
            <a:ext cx="1046880" cy="749160"/>
          </a:xfrm>
          <a:prstGeom prst="rect">
            <a:avLst/>
          </a:prstGeom>
          <a:solidFill>
            <a:srgbClr val="fff1f2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4" name="Text 65"/>
          <p:cNvSpPr/>
          <p:nvPr/>
        </p:nvSpPr>
        <p:spPr>
          <a:xfrm>
            <a:off x="6655680" y="31363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66"/>
          <p:cNvSpPr/>
          <p:nvPr/>
        </p:nvSpPr>
        <p:spPr>
          <a:xfrm>
            <a:off x="7693920" y="3090600"/>
            <a:ext cx="1046880" cy="749160"/>
          </a:xfrm>
          <a:prstGeom prst="rect">
            <a:avLst/>
          </a:prstGeom>
          <a:solidFill>
            <a:srgbClr val="fff1f2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6" name="Text 67"/>
          <p:cNvSpPr/>
          <p:nvPr/>
        </p:nvSpPr>
        <p:spPr>
          <a:xfrm>
            <a:off x="7739640" y="31363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68"/>
          <p:cNvSpPr/>
          <p:nvPr/>
        </p:nvSpPr>
        <p:spPr>
          <a:xfrm>
            <a:off x="365760" y="3895200"/>
            <a:ext cx="822240" cy="74916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8" name="Text 69"/>
          <p:cNvSpPr/>
          <p:nvPr/>
        </p:nvSpPr>
        <p:spPr>
          <a:xfrm>
            <a:off x="365760" y="3895200"/>
            <a:ext cx="82224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Opportun.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70"/>
          <p:cNvSpPr/>
          <p:nvPr/>
        </p:nvSpPr>
        <p:spPr>
          <a:xfrm>
            <a:off x="1188720" y="3895200"/>
            <a:ext cx="1046880" cy="749160"/>
          </a:xfrm>
          <a:prstGeom prst="rect">
            <a:avLst/>
          </a:prstGeom>
          <a:solidFill>
            <a:srgbClr val="f0fdf4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0" name="Text 71"/>
          <p:cNvSpPr/>
          <p:nvPr/>
        </p:nvSpPr>
        <p:spPr>
          <a:xfrm>
            <a:off x="1234440" y="39409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72"/>
          <p:cNvSpPr/>
          <p:nvPr/>
        </p:nvSpPr>
        <p:spPr>
          <a:xfrm>
            <a:off x="2273040" y="3895200"/>
            <a:ext cx="1046880" cy="749160"/>
          </a:xfrm>
          <a:prstGeom prst="rect">
            <a:avLst/>
          </a:prstGeom>
          <a:solidFill>
            <a:srgbClr val="f0fdf4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2" name="Text 73"/>
          <p:cNvSpPr/>
          <p:nvPr/>
        </p:nvSpPr>
        <p:spPr>
          <a:xfrm>
            <a:off x="2318760" y="39409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74"/>
          <p:cNvSpPr/>
          <p:nvPr/>
        </p:nvSpPr>
        <p:spPr>
          <a:xfrm>
            <a:off x="3357000" y="3895200"/>
            <a:ext cx="1046880" cy="749160"/>
          </a:xfrm>
          <a:prstGeom prst="rect">
            <a:avLst/>
          </a:prstGeom>
          <a:solidFill>
            <a:srgbClr val="f0fdf4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4" name="Text 75"/>
          <p:cNvSpPr/>
          <p:nvPr/>
        </p:nvSpPr>
        <p:spPr>
          <a:xfrm>
            <a:off x="3402720" y="39409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76"/>
          <p:cNvSpPr/>
          <p:nvPr/>
        </p:nvSpPr>
        <p:spPr>
          <a:xfrm>
            <a:off x="4441320" y="3895200"/>
            <a:ext cx="1046880" cy="749160"/>
          </a:xfrm>
          <a:prstGeom prst="rect">
            <a:avLst/>
          </a:prstGeom>
          <a:solidFill>
            <a:srgbClr val="f0fdf4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6" name="Text 77"/>
          <p:cNvSpPr/>
          <p:nvPr/>
        </p:nvSpPr>
        <p:spPr>
          <a:xfrm>
            <a:off x="4487040" y="39409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78"/>
          <p:cNvSpPr/>
          <p:nvPr/>
        </p:nvSpPr>
        <p:spPr>
          <a:xfrm>
            <a:off x="5525640" y="3895200"/>
            <a:ext cx="1046880" cy="749160"/>
          </a:xfrm>
          <a:prstGeom prst="rect">
            <a:avLst/>
          </a:prstGeom>
          <a:solidFill>
            <a:srgbClr val="f0fdf4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8" name="Text 79"/>
          <p:cNvSpPr/>
          <p:nvPr/>
        </p:nvSpPr>
        <p:spPr>
          <a:xfrm>
            <a:off x="5571360" y="39409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80"/>
          <p:cNvSpPr/>
          <p:nvPr/>
        </p:nvSpPr>
        <p:spPr>
          <a:xfrm>
            <a:off x="6609960" y="3895200"/>
            <a:ext cx="1046880" cy="749160"/>
          </a:xfrm>
          <a:prstGeom prst="rect">
            <a:avLst/>
          </a:prstGeom>
          <a:solidFill>
            <a:srgbClr val="f0fdf4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0" name="Text 81"/>
          <p:cNvSpPr/>
          <p:nvPr/>
        </p:nvSpPr>
        <p:spPr>
          <a:xfrm>
            <a:off x="6655680" y="39409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82"/>
          <p:cNvSpPr/>
          <p:nvPr/>
        </p:nvSpPr>
        <p:spPr>
          <a:xfrm>
            <a:off x="7693920" y="3895200"/>
            <a:ext cx="1046880" cy="749160"/>
          </a:xfrm>
          <a:prstGeom prst="rect">
            <a:avLst/>
          </a:prstGeom>
          <a:solidFill>
            <a:srgbClr val="f0fdf4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2" name="Text 83"/>
          <p:cNvSpPr/>
          <p:nvPr/>
        </p:nvSpPr>
        <p:spPr>
          <a:xfrm>
            <a:off x="7739640" y="3940920"/>
            <a:ext cx="9554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[...]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4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Interview insights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0d9488"/>
                </a:solidFill>
                <a:latin typeface="Calibri"/>
                <a:ea typeface="Calibri"/>
              </a:rPr>
              <a:t>RESEARCH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7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[interviews or surrogate data — reviews, forums; task 9]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 5"/>
          <p:cNvSpPr/>
          <p:nvPr/>
        </p:nvSpPr>
        <p:spPr>
          <a:xfrm>
            <a:off x="365760" y="777240"/>
            <a:ext cx="8411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4" strike="noStrike">
                <a:solidFill>
                  <a:srgbClr val="0d9488"/>
                </a:solidFill>
                <a:latin typeface="Calibri"/>
                <a:ea typeface="Calibri"/>
              </a:rPr>
              <a:t>TOP 5 PATTERNS FROM THE STORY-BASED INTERVIEWS (N RESPONDENTS)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6"/>
          <p:cNvSpPr/>
          <p:nvPr/>
        </p:nvSpPr>
        <p:spPr>
          <a:xfrm>
            <a:off x="365760" y="1097280"/>
            <a:ext cx="776520" cy="621000"/>
          </a:xfrm>
          <a:prstGeom prst="rect">
            <a:avLst/>
          </a:prstGeom>
          <a:solidFill>
            <a:srgbClr val="f5939e"/>
          </a:solidFill>
          <a:ln w="12700">
            <a:solidFill>
              <a:srgbClr val="f593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0" name="Text 7"/>
          <p:cNvSpPr/>
          <p:nvPr/>
        </p:nvSpPr>
        <p:spPr>
          <a:xfrm>
            <a:off x="365760" y="1097280"/>
            <a:ext cx="77652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[N/M]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8"/>
          <p:cNvSpPr/>
          <p:nvPr/>
        </p:nvSpPr>
        <p:spPr>
          <a:xfrm>
            <a:off x="1234440" y="1097280"/>
            <a:ext cx="6674400" cy="62100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2" name="Text 9"/>
          <p:cNvSpPr/>
          <p:nvPr/>
        </p:nvSpPr>
        <p:spPr>
          <a:xfrm>
            <a:off x="1234440" y="1152000"/>
            <a:ext cx="913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94" strike="noStrike">
                <a:solidFill>
                  <a:srgbClr val="f5939e"/>
                </a:solidFill>
                <a:latin typeface="Calibri"/>
                <a:ea typeface="Calibri"/>
              </a:rPr>
              <a:t>PAIN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 10"/>
          <p:cNvSpPr/>
          <p:nvPr/>
        </p:nvSpPr>
        <p:spPr>
          <a:xfrm>
            <a:off x="1234440" y="1353240"/>
            <a:ext cx="66286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[Pattern 1: what respondents do or feel]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11"/>
          <p:cNvSpPr/>
          <p:nvPr/>
        </p:nvSpPr>
        <p:spPr>
          <a:xfrm>
            <a:off x="365760" y="1856160"/>
            <a:ext cx="776520" cy="621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5" name="Text 12"/>
          <p:cNvSpPr/>
          <p:nvPr/>
        </p:nvSpPr>
        <p:spPr>
          <a:xfrm>
            <a:off x="365760" y="1856160"/>
            <a:ext cx="77652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[N/M]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13"/>
          <p:cNvSpPr/>
          <p:nvPr/>
        </p:nvSpPr>
        <p:spPr>
          <a:xfrm>
            <a:off x="1234440" y="1856160"/>
            <a:ext cx="6674400" cy="62100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7" name="Text 14"/>
          <p:cNvSpPr/>
          <p:nvPr/>
        </p:nvSpPr>
        <p:spPr>
          <a:xfrm>
            <a:off x="1234440" y="1911240"/>
            <a:ext cx="913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94" strike="noStrike">
                <a:solidFill>
                  <a:srgbClr val="0d9488"/>
                </a:solidFill>
                <a:latin typeface="Calibri"/>
                <a:ea typeface="Calibri"/>
              </a:rPr>
              <a:t>JOB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 15"/>
          <p:cNvSpPr/>
          <p:nvPr/>
        </p:nvSpPr>
        <p:spPr>
          <a:xfrm>
            <a:off x="1234440" y="2112120"/>
            <a:ext cx="66286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[Pattern 2: what respondents do or feel]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16"/>
          <p:cNvSpPr/>
          <p:nvPr/>
        </p:nvSpPr>
        <p:spPr>
          <a:xfrm>
            <a:off x="365760" y="2615040"/>
            <a:ext cx="776520" cy="621000"/>
          </a:xfrm>
          <a:prstGeom prst="rect">
            <a:avLst/>
          </a:prstGeom>
          <a:solidFill>
            <a:srgbClr val="f5939e"/>
          </a:solidFill>
          <a:ln w="12700">
            <a:solidFill>
              <a:srgbClr val="f593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0" name="Text 17"/>
          <p:cNvSpPr/>
          <p:nvPr/>
        </p:nvSpPr>
        <p:spPr>
          <a:xfrm>
            <a:off x="365760" y="2615040"/>
            <a:ext cx="77652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[N/M]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18"/>
          <p:cNvSpPr/>
          <p:nvPr/>
        </p:nvSpPr>
        <p:spPr>
          <a:xfrm>
            <a:off x="1234440" y="2615040"/>
            <a:ext cx="6674400" cy="62100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2" name="Text 19"/>
          <p:cNvSpPr/>
          <p:nvPr/>
        </p:nvSpPr>
        <p:spPr>
          <a:xfrm>
            <a:off x="1234440" y="2670120"/>
            <a:ext cx="913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94" strike="noStrike">
                <a:solidFill>
                  <a:srgbClr val="f5939e"/>
                </a:solidFill>
                <a:latin typeface="Calibri"/>
                <a:ea typeface="Calibri"/>
              </a:rPr>
              <a:t>PAIN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 20"/>
          <p:cNvSpPr/>
          <p:nvPr/>
        </p:nvSpPr>
        <p:spPr>
          <a:xfrm>
            <a:off x="1234440" y="2871360"/>
            <a:ext cx="66286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[Pattern 3: what respondents do or feel]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21"/>
          <p:cNvSpPr/>
          <p:nvPr/>
        </p:nvSpPr>
        <p:spPr>
          <a:xfrm>
            <a:off x="365760" y="3374280"/>
            <a:ext cx="776520" cy="621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5" name="Text 22"/>
          <p:cNvSpPr/>
          <p:nvPr/>
        </p:nvSpPr>
        <p:spPr>
          <a:xfrm>
            <a:off x="365760" y="3374280"/>
            <a:ext cx="77652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[N/M]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23"/>
          <p:cNvSpPr/>
          <p:nvPr/>
        </p:nvSpPr>
        <p:spPr>
          <a:xfrm>
            <a:off x="1234440" y="3374280"/>
            <a:ext cx="6674400" cy="62100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7" name="Text 24"/>
          <p:cNvSpPr/>
          <p:nvPr/>
        </p:nvSpPr>
        <p:spPr>
          <a:xfrm>
            <a:off x="1234440" y="3429000"/>
            <a:ext cx="913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94" strike="noStrike">
                <a:solidFill>
                  <a:srgbClr val="0d9488"/>
                </a:solidFill>
                <a:latin typeface="Calibri"/>
                <a:ea typeface="Calibri"/>
              </a:rPr>
              <a:t>JOB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 25"/>
          <p:cNvSpPr/>
          <p:nvPr/>
        </p:nvSpPr>
        <p:spPr>
          <a:xfrm>
            <a:off x="1234440" y="3630240"/>
            <a:ext cx="66286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[Pattern 4: what respondents do or feel]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26"/>
          <p:cNvSpPr/>
          <p:nvPr/>
        </p:nvSpPr>
        <p:spPr>
          <a:xfrm>
            <a:off x="365760" y="4133160"/>
            <a:ext cx="776520" cy="621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30" name="Text 27"/>
          <p:cNvSpPr/>
          <p:nvPr/>
        </p:nvSpPr>
        <p:spPr>
          <a:xfrm>
            <a:off x="365760" y="4133160"/>
            <a:ext cx="77652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[N/M]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28"/>
          <p:cNvSpPr/>
          <p:nvPr/>
        </p:nvSpPr>
        <p:spPr>
          <a:xfrm>
            <a:off x="1234440" y="4133160"/>
            <a:ext cx="6674400" cy="62100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32" name="Text 29"/>
          <p:cNvSpPr/>
          <p:nvPr/>
        </p:nvSpPr>
        <p:spPr>
          <a:xfrm>
            <a:off x="1234440" y="4187880"/>
            <a:ext cx="913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94" strike="noStrike">
                <a:solidFill>
                  <a:srgbClr val="457e4a"/>
                </a:solidFill>
                <a:latin typeface="Calibri"/>
                <a:ea typeface="Calibri"/>
              </a:rPr>
              <a:t>INSIGHT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 30"/>
          <p:cNvSpPr/>
          <p:nvPr/>
        </p:nvSpPr>
        <p:spPr>
          <a:xfrm>
            <a:off x="1234440" y="4389120"/>
            <a:ext cx="66286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[Pattern 5: what respondents do or feel]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35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Opportunity Score — underserved needs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0d9488"/>
                </a:solidFill>
                <a:latin typeface="Calibri"/>
                <a:ea typeface="Calibri"/>
              </a:rPr>
              <a:t>RESEARCH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38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Opportunity Score (Ulwick); tasks 7, 17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 5"/>
          <p:cNvSpPr/>
          <p:nvPr/>
        </p:nvSpPr>
        <p:spPr>
          <a:xfrm>
            <a:off x="365760" y="777240"/>
            <a:ext cx="8411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4" strike="noStrike">
                <a:solidFill>
                  <a:srgbClr val="0d9488"/>
                </a:solidFill>
                <a:latin typeface="Calibri"/>
                <a:ea typeface="Calibri"/>
              </a:rPr>
              <a:t>OPPORTUNITY SCORE = IMPORTANCE + max(IMPORTANCE - SATISFACTION, 0)  |  Priority: OS &gt;= 15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hape 6"/>
          <p:cNvSpPr/>
          <p:nvPr/>
        </p:nvSpPr>
        <p:spPr>
          <a:xfrm>
            <a:off x="365760" y="1051560"/>
            <a:ext cx="4114080" cy="3466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1" name="Text 7"/>
          <p:cNvSpPr/>
          <p:nvPr/>
        </p:nvSpPr>
        <p:spPr>
          <a:xfrm>
            <a:off x="365760" y="1051560"/>
            <a:ext cx="4114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Outcome (from the Job Map)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Shape 8"/>
          <p:cNvSpPr/>
          <p:nvPr/>
        </p:nvSpPr>
        <p:spPr>
          <a:xfrm>
            <a:off x="4517280" y="1051560"/>
            <a:ext cx="1188000" cy="3466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3" name="Text 9"/>
          <p:cNvSpPr/>
          <p:nvPr/>
        </p:nvSpPr>
        <p:spPr>
          <a:xfrm>
            <a:off x="4517280" y="1051560"/>
            <a:ext cx="1188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Importance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10"/>
          <p:cNvSpPr/>
          <p:nvPr/>
        </p:nvSpPr>
        <p:spPr>
          <a:xfrm>
            <a:off x="5742360" y="1051560"/>
            <a:ext cx="1188000" cy="3466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5" name="Text 11"/>
          <p:cNvSpPr/>
          <p:nvPr/>
        </p:nvSpPr>
        <p:spPr>
          <a:xfrm>
            <a:off x="5742360" y="1051560"/>
            <a:ext cx="1188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Satisf.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12"/>
          <p:cNvSpPr/>
          <p:nvPr/>
        </p:nvSpPr>
        <p:spPr>
          <a:xfrm>
            <a:off x="6967800" y="1051560"/>
            <a:ext cx="913680" cy="3466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7" name="Text 13"/>
          <p:cNvSpPr/>
          <p:nvPr/>
        </p:nvSpPr>
        <p:spPr>
          <a:xfrm>
            <a:off x="6967800" y="1051560"/>
            <a:ext cx="913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OS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14"/>
          <p:cNvSpPr/>
          <p:nvPr/>
        </p:nvSpPr>
        <p:spPr>
          <a:xfrm>
            <a:off x="7918560" y="1051560"/>
            <a:ext cx="1005120" cy="3466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9" name="Text 15"/>
          <p:cNvSpPr/>
          <p:nvPr/>
        </p:nvSpPr>
        <p:spPr>
          <a:xfrm>
            <a:off x="7918560" y="1051560"/>
            <a:ext cx="10051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Priority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16"/>
          <p:cNvSpPr/>
          <p:nvPr/>
        </p:nvSpPr>
        <p:spPr>
          <a:xfrm>
            <a:off x="365760" y="1444680"/>
            <a:ext cx="4114080" cy="6210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1" name="Text 17"/>
          <p:cNvSpPr/>
          <p:nvPr/>
        </p:nvSpPr>
        <p:spPr>
          <a:xfrm>
            <a:off x="365760" y="1444680"/>
            <a:ext cx="41140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f1020"/>
                </a:solidFill>
                <a:latin typeface="Calibri"/>
                <a:ea typeface="Calibri"/>
              </a:rPr>
              <a:t>[Outcome 1 from the Job Map]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18"/>
          <p:cNvSpPr/>
          <p:nvPr/>
        </p:nvSpPr>
        <p:spPr>
          <a:xfrm>
            <a:off x="4517280" y="1444680"/>
            <a:ext cx="1188000" cy="6210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3" name="Text 19"/>
          <p:cNvSpPr/>
          <p:nvPr/>
        </p:nvSpPr>
        <p:spPr>
          <a:xfrm>
            <a:off x="4517280" y="1444680"/>
            <a:ext cx="118800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9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20"/>
          <p:cNvSpPr/>
          <p:nvPr/>
        </p:nvSpPr>
        <p:spPr>
          <a:xfrm>
            <a:off x="5742360" y="1444680"/>
            <a:ext cx="1188000" cy="6210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5" name="Text 21"/>
          <p:cNvSpPr/>
          <p:nvPr/>
        </p:nvSpPr>
        <p:spPr>
          <a:xfrm>
            <a:off x="5742360" y="1444680"/>
            <a:ext cx="118800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3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22"/>
          <p:cNvSpPr/>
          <p:nvPr/>
        </p:nvSpPr>
        <p:spPr>
          <a:xfrm>
            <a:off x="6967800" y="1444680"/>
            <a:ext cx="913680" cy="621000"/>
          </a:xfrm>
          <a:prstGeom prst="rect">
            <a:avLst/>
          </a:prstGeom>
          <a:solidFill>
            <a:srgbClr val="fff1f2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7" name="Text 23"/>
          <p:cNvSpPr/>
          <p:nvPr/>
        </p:nvSpPr>
        <p:spPr>
          <a:xfrm>
            <a:off x="6967800" y="1444680"/>
            <a:ext cx="9136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5939e"/>
                </a:solidFill>
                <a:latin typeface="Calibri"/>
                <a:ea typeface="Calibri"/>
              </a:rPr>
              <a:t>15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24"/>
          <p:cNvSpPr/>
          <p:nvPr/>
        </p:nvSpPr>
        <p:spPr>
          <a:xfrm>
            <a:off x="7918560" y="1444680"/>
            <a:ext cx="1005120" cy="6210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9" name="Text 25"/>
          <p:cNvSpPr/>
          <p:nvPr/>
        </p:nvSpPr>
        <p:spPr>
          <a:xfrm>
            <a:off x="7918560" y="1444680"/>
            <a:ext cx="100512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🔴 </a:t>
            </a: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Critical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26"/>
          <p:cNvSpPr/>
          <p:nvPr/>
        </p:nvSpPr>
        <p:spPr>
          <a:xfrm>
            <a:off x="365760" y="2121480"/>
            <a:ext cx="4114080" cy="6210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1" name="Text 27"/>
          <p:cNvSpPr/>
          <p:nvPr/>
        </p:nvSpPr>
        <p:spPr>
          <a:xfrm>
            <a:off x="365760" y="2121480"/>
            <a:ext cx="41140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f1020"/>
                </a:solidFill>
                <a:latin typeface="Calibri"/>
                <a:ea typeface="Calibri"/>
              </a:rPr>
              <a:t>[Outcome 2 from the Job Map]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28"/>
          <p:cNvSpPr/>
          <p:nvPr/>
        </p:nvSpPr>
        <p:spPr>
          <a:xfrm>
            <a:off x="4517280" y="2121480"/>
            <a:ext cx="1188000" cy="6210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3" name="Text 29"/>
          <p:cNvSpPr/>
          <p:nvPr/>
        </p:nvSpPr>
        <p:spPr>
          <a:xfrm>
            <a:off x="4517280" y="2121480"/>
            <a:ext cx="118800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8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30"/>
          <p:cNvSpPr/>
          <p:nvPr/>
        </p:nvSpPr>
        <p:spPr>
          <a:xfrm>
            <a:off x="5742360" y="2121480"/>
            <a:ext cx="1188000" cy="6210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5" name="Text 31"/>
          <p:cNvSpPr/>
          <p:nvPr/>
        </p:nvSpPr>
        <p:spPr>
          <a:xfrm>
            <a:off x="5742360" y="2121480"/>
            <a:ext cx="118800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4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32"/>
          <p:cNvSpPr/>
          <p:nvPr/>
        </p:nvSpPr>
        <p:spPr>
          <a:xfrm>
            <a:off x="6967800" y="2121480"/>
            <a:ext cx="913680" cy="6210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7" name="Text 33"/>
          <p:cNvSpPr/>
          <p:nvPr/>
        </p:nvSpPr>
        <p:spPr>
          <a:xfrm>
            <a:off x="6967800" y="2121480"/>
            <a:ext cx="9136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97706"/>
                </a:solidFill>
                <a:latin typeface="Calibri"/>
                <a:ea typeface="Calibri"/>
              </a:rPr>
              <a:t>12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hape 34"/>
          <p:cNvSpPr/>
          <p:nvPr/>
        </p:nvSpPr>
        <p:spPr>
          <a:xfrm>
            <a:off x="7918560" y="2121480"/>
            <a:ext cx="1005120" cy="6210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9" name="Text 35"/>
          <p:cNvSpPr/>
          <p:nvPr/>
        </p:nvSpPr>
        <p:spPr>
          <a:xfrm>
            <a:off x="7918560" y="2121480"/>
            <a:ext cx="100512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🟠 </a:t>
            </a: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High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36"/>
          <p:cNvSpPr/>
          <p:nvPr/>
        </p:nvSpPr>
        <p:spPr>
          <a:xfrm>
            <a:off x="365760" y="2797920"/>
            <a:ext cx="4114080" cy="6210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1" name="Text 37"/>
          <p:cNvSpPr/>
          <p:nvPr/>
        </p:nvSpPr>
        <p:spPr>
          <a:xfrm>
            <a:off x="365760" y="2797920"/>
            <a:ext cx="41140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f1020"/>
                </a:solidFill>
                <a:latin typeface="Calibri"/>
                <a:ea typeface="Calibri"/>
              </a:rPr>
              <a:t>[Outcome 3 from the Job Map]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38"/>
          <p:cNvSpPr/>
          <p:nvPr/>
        </p:nvSpPr>
        <p:spPr>
          <a:xfrm>
            <a:off x="4517280" y="2797920"/>
            <a:ext cx="1188000" cy="6210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3" name="Text 39"/>
          <p:cNvSpPr/>
          <p:nvPr/>
        </p:nvSpPr>
        <p:spPr>
          <a:xfrm>
            <a:off x="4517280" y="2797920"/>
            <a:ext cx="118800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7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40"/>
          <p:cNvSpPr/>
          <p:nvPr/>
        </p:nvSpPr>
        <p:spPr>
          <a:xfrm>
            <a:off x="5742360" y="2797920"/>
            <a:ext cx="1188000" cy="6210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5" name="Text 41"/>
          <p:cNvSpPr/>
          <p:nvPr/>
        </p:nvSpPr>
        <p:spPr>
          <a:xfrm>
            <a:off x="5742360" y="2797920"/>
            <a:ext cx="118800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5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42"/>
          <p:cNvSpPr/>
          <p:nvPr/>
        </p:nvSpPr>
        <p:spPr>
          <a:xfrm>
            <a:off x="6967800" y="2797920"/>
            <a:ext cx="913680" cy="6210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7" name="Text 43"/>
          <p:cNvSpPr/>
          <p:nvPr/>
        </p:nvSpPr>
        <p:spPr>
          <a:xfrm>
            <a:off x="6967800" y="2797920"/>
            <a:ext cx="9136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457e4a"/>
                </a:solidFill>
                <a:latin typeface="Calibri"/>
                <a:ea typeface="Calibri"/>
              </a:rPr>
              <a:t>9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44"/>
          <p:cNvSpPr/>
          <p:nvPr/>
        </p:nvSpPr>
        <p:spPr>
          <a:xfrm>
            <a:off x="7918560" y="2797920"/>
            <a:ext cx="1005120" cy="6210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9" name="Text 45"/>
          <p:cNvSpPr/>
          <p:nvPr/>
        </p:nvSpPr>
        <p:spPr>
          <a:xfrm>
            <a:off x="7918560" y="2797920"/>
            <a:ext cx="100512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🟡 </a:t>
            </a: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Medium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46"/>
          <p:cNvSpPr/>
          <p:nvPr/>
        </p:nvSpPr>
        <p:spPr>
          <a:xfrm>
            <a:off x="365760" y="3474720"/>
            <a:ext cx="4114080" cy="6210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1" name="Text 47"/>
          <p:cNvSpPr/>
          <p:nvPr/>
        </p:nvSpPr>
        <p:spPr>
          <a:xfrm>
            <a:off x="365760" y="3474720"/>
            <a:ext cx="41140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f1020"/>
                </a:solidFill>
                <a:latin typeface="Calibri"/>
                <a:ea typeface="Calibri"/>
              </a:rPr>
              <a:t>[Outcome 4 from the Job Map]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48"/>
          <p:cNvSpPr/>
          <p:nvPr/>
        </p:nvSpPr>
        <p:spPr>
          <a:xfrm>
            <a:off x="4517280" y="3474720"/>
            <a:ext cx="1188000" cy="6210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3" name="Text 49"/>
          <p:cNvSpPr/>
          <p:nvPr/>
        </p:nvSpPr>
        <p:spPr>
          <a:xfrm>
            <a:off x="4517280" y="3474720"/>
            <a:ext cx="118800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9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50"/>
          <p:cNvSpPr/>
          <p:nvPr/>
        </p:nvSpPr>
        <p:spPr>
          <a:xfrm>
            <a:off x="5742360" y="3474720"/>
            <a:ext cx="1188000" cy="6210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5" name="Text 51"/>
          <p:cNvSpPr/>
          <p:nvPr/>
        </p:nvSpPr>
        <p:spPr>
          <a:xfrm>
            <a:off x="5742360" y="3474720"/>
            <a:ext cx="118800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7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52"/>
          <p:cNvSpPr/>
          <p:nvPr/>
        </p:nvSpPr>
        <p:spPr>
          <a:xfrm>
            <a:off x="6967800" y="3474720"/>
            <a:ext cx="913680" cy="6210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7" name="Text 53"/>
          <p:cNvSpPr/>
          <p:nvPr/>
        </p:nvSpPr>
        <p:spPr>
          <a:xfrm>
            <a:off x="6967800" y="3474720"/>
            <a:ext cx="9136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97706"/>
                </a:solidFill>
                <a:latin typeface="Calibri"/>
                <a:ea typeface="Calibri"/>
              </a:rPr>
              <a:t>11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Shape 54"/>
          <p:cNvSpPr/>
          <p:nvPr/>
        </p:nvSpPr>
        <p:spPr>
          <a:xfrm>
            <a:off x="7918560" y="3474720"/>
            <a:ext cx="1005120" cy="6210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9" name="Text 55"/>
          <p:cNvSpPr/>
          <p:nvPr/>
        </p:nvSpPr>
        <p:spPr>
          <a:xfrm>
            <a:off x="7918560" y="3474720"/>
            <a:ext cx="100512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🟠 </a:t>
            </a: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High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56"/>
          <p:cNvSpPr/>
          <p:nvPr/>
        </p:nvSpPr>
        <p:spPr>
          <a:xfrm>
            <a:off x="365760" y="4151520"/>
            <a:ext cx="4114080" cy="6210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1" name="Text 57"/>
          <p:cNvSpPr/>
          <p:nvPr/>
        </p:nvSpPr>
        <p:spPr>
          <a:xfrm>
            <a:off x="365760" y="4151520"/>
            <a:ext cx="41140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f1020"/>
                </a:solidFill>
                <a:latin typeface="Calibri"/>
                <a:ea typeface="Calibri"/>
              </a:rPr>
              <a:t>[Outcome 5 from the Job Map]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58"/>
          <p:cNvSpPr/>
          <p:nvPr/>
        </p:nvSpPr>
        <p:spPr>
          <a:xfrm>
            <a:off x="4517280" y="4151520"/>
            <a:ext cx="1188000" cy="6210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3" name="Text 59"/>
          <p:cNvSpPr/>
          <p:nvPr/>
        </p:nvSpPr>
        <p:spPr>
          <a:xfrm>
            <a:off x="4517280" y="4151520"/>
            <a:ext cx="118800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6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Shape 60"/>
          <p:cNvSpPr/>
          <p:nvPr/>
        </p:nvSpPr>
        <p:spPr>
          <a:xfrm>
            <a:off x="5742360" y="4151520"/>
            <a:ext cx="1188000" cy="6210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5" name="Text 61"/>
          <p:cNvSpPr/>
          <p:nvPr/>
        </p:nvSpPr>
        <p:spPr>
          <a:xfrm>
            <a:off x="5742360" y="4151520"/>
            <a:ext cx="118800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6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62"/>
          <p:cNvSpPr/>
          <p:nvPr/>
        </p:nvSpPr>
        <p:spPr>
          <a:xfrm>
            <a:off x="6967800" y="4151520"/>
            <a:ext cx="913680" cy="6210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7" name="Text 63"/>
          <p:cNvSpPr/>
          <p:nvPr/>
        </p:nvSpPr>
        <p:spPr>
          <a:xfrm>
            <a:off x="6967800" y="4151520"/>
            <a:ext cx="9136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457e4a"/>
                </a:solidFill>
                <a:latin typeface="Calibri"/>
                <a:ea typeface="Calibri"/>
              </a:rPr>
              <a:t>6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64"/>
          <p:cNvSpPr/>
          <p:nvPr/>
        </p:nvSpPr>
        <p:spPr>
          <a:xfrm>
            <a:off x="7918560" y="4151520"/>
            <a:ext cx="1005120" cy="6210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9" name="Text 65"/>
          <p:cNvSpPr/>
          <p:nvPr/>
        </p:nvSpPr>
        <p:spPr>
          <a:xfrm>
            <a:off x="7918560" y="4151520"/>
            <a:ext cx="100512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🟢 </a:t>
            </a: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Low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66"/>
          <p:cNvSpPr/>
          <p:nvPr/>
        </p:nvSpPr>
        <p:spPr>
          <a:xfrm>
            <a:off x="365760" y="4590360"/>
            <a:ext cx="8411760" cy="273600"/>
          </a:xfrm>
          <a:prstGeom prst="rect">
            <a:avLst/>
          </a:prstGeom>
          <a:solidFill>
            <a:srgbClr val="fff1f2"/>
          </a:solidFill>
          <a:ln w="6350">
            <a:solidFill>
              <a:srgbClr val="f593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1" name="Text 67"/>
          <p:cNvSpPr/>
          <p:nvPr/>
        </p:nvSpPr>
        <p:spPr>
          <a:xfrm>
            <a:off x="457200" y="459036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5939e"/>
                </a:solidFill>
                <a:latin typeface="Calibri"/>
                <a:ea typeface="Calibri"/>
              </a:rPr>
              <a:t>🔴 </a:t>
            </a:r>
            <a:r>
              <a:rPr b="1" lang="en-US" sz="900" spc="-1" strike="noStrike">
                <a:solidFill>
                  <a:srgbClr val="f5939e"/>
                </a:solidFill>
                <a:latin typeface="Calibri"/>
                <a:ea typeface="Calibri"/>
              </a:rPr>
              <a:t>[The outcome with the highest OS] — a critically underserved need → the priority opportunity for the 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3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Customer segments / personas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0d9488"/>
                </a:solidFill>
                <a:latin typeface="Calibri"/>
                <a:ea typeface="Calibri"/>
              </a:rPr>
              <a:t>RESEARCH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ubtitle"/>
          <p:cNvSpPr/>
          <p:nvPr/>
        </p:nvSpPr>
        <p:spPr>
          <a:xfrm>
            <a:off x="365760" y="868680"/>
            <a:ext cx="8412120" cy="36540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1000" spc="-1" strike="noStrike">
                <a:solidFill>
                  <a:srgbClr val="94a3f6"/>
                </a:solidFill>
                <a:latin typeface="Arial"/>
              </a:rPr>
              <a:t>Persona cards from task 7 — the primary audience and the secondary segments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PersonaHead0"/>
          <p:cNvSpPr/>
          <p:nvPr/>
        </p:nvSpPr>
        <p:spPr>
          <a:xfrm>
            <a:off x="365760" y="1280160"/>
            <a:ext cx="2706120" cy="502560"/>
          </a:xfrm>
          <a:prstGeom prst="rect">
            <a:avLst/>
          </a:prstGeom>
          <a:solidFill>
            <a:srgbClr val="94a3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1200" spc="-1" strike="noStrike">
                <a:solidFill>
                  <a:srgbClr val="ffffff"/>
                </a:solidFill>
                <a:latin typeface="Arial"/>
              </a:rPr>
              <a:t>[PERSONA 1 NAME]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e8eaf6"/>
                </a:solidFill>
                <a:latin typeface="Arial"/>
              </a:rPr>
              <a:t>[Age]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ersonaBody0"/>
          <p:cNvSpPr/>
          <p:nvPr/>
        </p:nvSpPr>
        <p:spPr>
          <a:xfrm>
            <a:off x="365760" y="1783080"/>
            <a:ext cx="2706120" cy="2559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91440" bIns="91440" anchor="t">
            <a:noAutofit/>
          </a:bodyPr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CONTEXT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64748b"/>
                </a:solidFill>
                <a:latin typeface="Arial"/>
              </a:rPr>
              <a:t>Income: </a:t>
            </a:r>
            <a:r>
              <a:rPr b="1" lang="ru-RU" sz="800" spc="-1" strike="noStrike">
                <a:solidFill>
                  <a:srgbClr val="0f1020"/>
                </a:solidFill>
                <a:latin typeface="Arial"/>
              </a:rPr>
              <a:t>[X RUB/mo]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64748b"/>
                </a:solidFill>
                <a:latin typeface="Arial"/>
              </a:rPr>
              <a:t>City: </a:t>
            </a:r>
            <a:r>
              <a:rPr b="1" lang="ru-RU" sz="800" spc="-1" strike="noStrike">
                <a:solidFill>
                  <a:srgbClr val="0f1020"/>
                </a:solidFill>
                <a:latin typeface="Arial"/>
              </a:rPr>
              <a:t>[City]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64748b"/>
                </a:solidFill>
                <a:latin typeface="Arial"/>
              </a:rPr>
              <a:t>Role: </a:t>
            </a:r>
            <a:r>
              <a:rPr b="1" lang="ru-RU" sz="800" spc="-1" strike="noStrike">
                <a:solidFill>
                  <a:srgbClr val="0f1020"/>
                </a:solidFill>
                <a:latin typeface="Arial"/>
              </a:rPr>
              <a:t>[Title, situation]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JOBS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• </a:t>
            </a: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[Job 1]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• </a:t>
            </a: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[Job 2]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• </a:t>
            </a: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[Job 3]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e57373"/>
                </a:solidFill>
                <a:latin typeface="Arial"/>
              </a:rPr>
              <a:t>PAIN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[The top pain from the Job Map]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ersonaFoot0"/>
          <p:cNvSpPr/>
          <p:nvPr/>
        </p:nvSpPr>
        <p:spPr>
          <a:xfrm>
            <a:off x="365760" y="4343400"/>
            <a:ext cx="2706120" cy="45684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54720" bIns="54720" anchor="t">
            <a:noAutofit/>
          </a:bodyPr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"[Key quote from an interview]"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900" spc="-1" strike="noStrike">
                <a:solidFill>
                  <a:srgbClr val="94a3f6"/>
                </a:solidFill>
                <a:latin typeface="Arial"/>
              </a:rPr>
              <a:t>OS=[X]  |  [X RUB]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" name="PersonaHead1"/>
          <p:cNvSpPr/>
          <p:nvPr/>
        </p:nvSpPr>
        <p:spPr>
          <a:xfrm>
            <a:off x="3127320" y="1280160"/>
            <a:ext cx="2706120" cy="502560"/>
          </a:xfrm>
          <a:prstGeom prst="rect">
            <a:avLst/>
          </a:prstGeom>
          <a:solidFill>
            <a:srgbClr val="6b7f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1200" spc="-1" strike="noStrike">
                <a:solidFill>
                  <a:srgbClr val="ffffff"/>
                </a:solidFill>
                <a:latin typeface="Arial"/>
              </a:rPr>
              <a:t>[PERSONA 2 NAME]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e8eaf6"/>
                </a:solidFill>
                <a:latin typeface="Arial"/>
              </a:rPr>
              <a:t>[Age]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PersonaBody1"/>
          <p:cNvSpPr/>
          <p:nvPr/>
        </p:nvSpPr>
        <p:spPr>
          <a:xfrm>
            <a:off x="3127320" y="1783080"/>
            <a:ext cx="2706120" cy="2559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91440" bIns="91440" anchor="t">
            <a:noAutofit/>
          </a:bodyPr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CONTEXT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64748b"/>
                </a:solidFill>
                <a:latin typeface="Arial"/>
              </a:rPr>
              <a:t>Income: </a:t>
            </a:r>
            <a:r>
              <a:rPr b="1" lang="ru-RU" sz="800" spc="-1" strike="noStrike">
                <a:solidFill>
                  <a:srgbClr val="0f1020"/>
                </a:solidFill>
                <a:latin typeface="Arial"/>
              </a:rPr>
              <a:t>[X RUB/mo]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64748b"/>
                </a:solidFill>
                <a:latin typeface="Arial"/>
              </a:rPr>
              <a:t>City: </a:t>
            </a:r>
            <a:r>
              <a:rPr b="1" lang="ru-RU" sz="800" spc="-1" strike="noStrike">
                <a:solidFill>
                  <a:srgbClr val="0f1020"/>
                </a:solidFill>
                <a:latin typeface="Arial"/>
              </a:rPr>
              <a:t>[City]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64748b"/>
                </a:solidFill>
                <a:latin typeface="Arial"/>
              </a:rPr>
              <a:t>Role: </a:t>
            </a:r>
            <a:r>
              <a:rPr b="1" lang="ru-RU" sz="800" spc="-1" strike="noStrike">
                <a:solidFill>
                  <a:srgbClr val="0f1020"/>
                </a:solidFill>
                <a:latin typeface="Arial"/>
              </a:rPr>
              <a:t>[Title, situation]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JOBS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• </a:t>
            </a: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[Job 1]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• </a:t>
            </a: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[Job 2]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• </a:t>
            </a: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[Job 3]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e57373"/>
                </a:solidFill>
                <a:latin typeface="Arial"/>
              </a:rPr>
              <a:t>PAIN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[The top pain from the Job Map]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ersonaFoot1"/>
          <p:cNvSpPr/>
          <p:nvPr/>
        </p:nvSpPr>
        <p:spPr>
          <a:xfrm>
            <a:off x="3127320" y="4343400"/>
            <a:ext cx="2706120" cy="45684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54720" bIns="54720" anchor="t">
            <a:noAutofit/>
          </a:bodyPr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"[Key quote from an interview]"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900" spc="-1" strike="noStrike">
                <a:solidFill>
                  <a:srgbClr val="94a3f6"/>
                </a:solidFill>
                <a:latin typeface="Arial"/>
              </a:rPr>
              <a:t>OS=[X]  |  [X RUB]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PersonaHead2"/>
          <p:cNvSpPr/>
          <p:nvPr/>
        </p:nvSpPr>
        <p:spPr>
          <a:xfrm>
            <a:off x="5888880" y="1280160"/>
            <a:ext cx="2706120" cy="502560"/>
          </a:xfrm>
          <a:prstGeom prst="rect">
            <a:avLst/>
          </a:prstGeom>
          <a:solidFill>
            <a:srgbClr val="b8c5f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1200" spc="-1" strike="noStrike">
                <a:solidFill>
                  <a:srgbClr val="ffffff"/>
                </a:solidFill>
                <a:latin typeface="Arial"/>
              </a:rPr>
              <a:t>[PERSONA 3 NAME]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e8eaf6"/>
                </a:solidFill>
                <a:latin typeface="Arial"/>
              </a:rPr>
              <a:t>[Age]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ersonaBody2"/>
          <p:cNvSpPr/>
          <p:nvPr/>
        </p:nvSpPr>
        <p:spPr>
          <a:xfrm>
            <a:off x="5888880" y="1783080"/>
            <a:ext cx="2706120" cy="2559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91440" bIns="91440" anchor="t">
            <a:noAutofit/>
          </a:bodyPr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CONTEXT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64748b"/>
                </a:solidFill>
                <a:latin typeface="Arial"/>
              </a:rPr>
              <a:t>Income: </a:t>
            </a:r>
            <a:r>
              <a:rPr b="1" lang="ru-RU" sz="800" spc="-1" strike="noStrike">
                <a:solidFill>
                  <a:srgbClr val="0f1020"/>
                </a:solidFill>
                <a:latin typeface="Arial"/>
              </a:rPr>
              <a:t>[X RUB/mo]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64748b"/>
                </a:solidFill>
                <a:latin typeface="Arial"/>
              </a:rPr>
              <a:t>City: </a:t>
            </a:r>
            <a:r>
              <a:rPr b="1" lang="ru-RU" sz="800" spc="-1" strike="noStrike">
                <a:solidFill>
                  <a:srgbClr val="0f1020"/>
                </a:solidFill>
                <a:latin typeface="Arial"/>
              </a:rPr>
              <a:t>[City]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64748b"/>
                </a:solidFill>
                <a:latin typeface="Arial"/>
              </a:rPr>
              <a:t>Role: </a:t>
            </a:r>
            <a:r>
              <a:rPr b="1" lang="ru-RU" sz="800" spc="-1" strike="noStrike">
                <a:solidFill>
                  <a:srgbClr val="0f1020"/>
                </a:solidFill>
                <a:latin typeface="Arial"/>
              </a:rPr>
              <a:t>[Title, situation]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JOBS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• </a:t>
            </a: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[Job 1]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• </a:t>
            </a: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[Job 2]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• </a:t>
            </a: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[Job 3]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e57373"/>
                </a:solidFill>
                <a:latin typeface="Arial"/>
              </a:rPr>
              <a:t>PAIN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[The top pain from the Job Map]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ersonaFoot2"/>
          <p:cNvSpPr/>
          <p:nvPr/>
        </p:nvSpPr>
        <p:spPr>
          <a:xfrm>
            <a:off x="5888880" y="4343400"/>
            <a:ext cx="2706120" cy="45684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54720" bIns="54720" anchor="t">
            <a:noAutofit/>
          </a:bodyPr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"[Key quote from an interview]"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900" spc="-1" strike="noStrike">
                <a:solidFill>
                  <a:srgbClr val="94a3f6"/>
                </a:solidFill>
                <a:latin typeface="Arial"/>
              </a:rPr>
              <a:t>OS=[X]  |  [X RUB]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6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[state the source]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Shape 0"/>
          <p:cNvSpPr/>
          <p:nvPr/>
        </p:nvSpPr>
        <p:spPr>
          <a:xfrm>
            <a:off x="0" y="0"/>
            <a:ext cx="319320" cy="514296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8" name="Text 1"/>
          <p:cNvSpPr/>
          <p:nvPr/>
        </p:nvSpPr>
        <p:spPr>
          <a:xfrm>
            <a:off x="548640" y="1737360"/>
            <a:ext cx="80460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395" strike="noStrike">
                <a:solidFill>
                  <a:srgbClr val="457e4a"/>
                </a:solidFill>
                <a:latin typeface="Calibri"/>
                <a:ea typeface="Calibri"/>
              </a:rPr>
              <a:t>SECTION 03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 2"/>
          <p:cNvSpPr/>
          <p:nvPr/>
        </p:nvSpPr>
        <p:spPr>
          <a:xfrm>
            <a:off x="548640" y="2148840"/>
            <a:ext cx="804600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  <a:ea typeface="Calibri"/>
              </a:rPr>
              <a:t>Current strategic scenario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1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Company goals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457e4a"/>
                </a:solidFill>
                <a:latin typeface="Calibri"/>
                <a:ea typeface="Calibri"/>
              </a:rPr>
              <a:t>STRATEGIC SCENARIO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4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task 12; the financial model (base scenario)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5"/>
          <p:cNvSpPr/>
          <p:nvPr/>
        </p:nvSpPr>
        <p:spPr>
          <a:xfrm>
            <a:off x="365760" y="868680"/>
            <a:ext cx="2559600" cy="13251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6" name="Shape 6"/>
          <p:cNvSpPr/>
          <p:nvPr/>
        </p:nvSpPr>
        <p:spPr>
          <a:xfrm>
            <a:off x="365760" y="868680"/>
            <a:ext cx="2559600" cy="54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7" name="Text 7"/>
          <p:cNvSpPr/>
          <p:nvPr/>
        </p:nvSpPr>
        <p:spPr>
          <a:xfrm>
            <a:off x="365760" y="1051560"/>
            <a:ext cx="25596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94a3f6"/>
                </a:solidFill>
                <a:latin typeface="Calibri"/>
                <a:ea typeface="Calibri"/>
              </a:rPr>
              <a:t>[N]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 8"/>
          <p:cNvSpPr/>
          <p:nvPr/>
        </p:nvSpPr>
        <p:spPr>
          <a:xfrm>
            <a:off x="365760" y="1645920"/>
            <a:ext cx="2559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Years to payback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9"/>
          <p:cNvSpPr/>
          <p:nvPr/>
        </p:nvSpPr>
        <p:spPr>
          <a:xfrm>
            <a:off x="3291840" y="868680"/>
            <a:ext cx="2559600" cy="13251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0" name="Shape 10"/>
          <p:cNvSpPr/>
          <p:nvPr/>
        </p:nvSpPr>
        <p:spPr>
          <a:xfrm>
            <a:off x="3291840" y="868680"/>
            <a:ext cx="2559600" cy="54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1" name="Text 11"/>
          <p:cNvSpPr/>
          <p:nvPr/>
        </p:nvSpPr>
        <p:spPr>
          <a:xfrm>
            <a:off x="3291840" y="1051560"/>
            <a:ext cx="25596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457e4a"/>
                </a:solidFill>
                <a:latin typeface="Calibri"/>
                <a:ea typeface="Calibri"/>
              </a:rPr>
              <a:t>[X RUB m]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 12"/>
          <p:cNvSpPr/>
          <p:nvPr/>
        </p:nvSpPr>
        <p:spPr>
          <a:xfrm>
            <a:off x="3291840" y="1645920"/>
            <a:ext cx="2559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Revenue target (Y1)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13"/>
          <p:cNvSpPr/>
          <p:nvPr/>
        </p:nvSpPr>
        <p:spPr>
          <a:xfrm>
            <a:off x="6217920" y="868680"/>
            <a:ext cx="2559600" cy="13251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4" name="Shape 14"/>
          <p:cNvSpPr/>
          <p:nvPr/>
        </p:nvSpPr>
        <p:spPr>
          <a:xfrm>
            <a:off x="6217920" y="868680"/>
            <a:ext cx="2559600" cy="54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5" name="Text 15"/>
          <p:cNvSpPr/>
          <p:nvPr/>
        </p:nvSpPr>
        <p:spPr>
          <a:xfrm>
            <a:off x="6217920" y="1051560"/>
            <a:ext cx="25596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94a3f6"/>
                </a:solidFill>
                <a:latin typeface="Calibri"/>
                <a:ea typeface="Calibri"/>
              </a:rPr>
              <a:t>[Y%]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 16"/>
          <p:cNvSpPr/>
          <p:nvPr/>
        </p:nvSpPr>
        <p:spPr>
          <a:xfrm>
            <a:off x="6217920" y="1645920"/>
            <a:ext cx="2559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Target market share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17"/>
          <p:cNvSpPr/>
          <p:nvPr/>
        </p:nvSpPr>
        <p:spPr>
          <a:xfrm>
            <a:off x="365760" y="2377440"/>
            <a:ext cx="8411760" cy="233100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8" name="Shape 18"/>
          <p:cNvSpPr/>
          <p:nvPr/>
        </p:nvSpPr>
        <p:spPr>
          <a:xfrm>
            <a:off x="365760" y="2377440"/>
            <a:ext cx="8411760" cy="54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9" name="Text 19"/>
          <p:cNvSpPr/>
          <p:nvPr/>
        </p:nvSpPr>
        <p:spPr>
          <a:xfrm>
            <a:off x="502920" y="2468880"/>
            <a:ext cx="81374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Strategic goals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 20"/>
          <p:cNvSpPr/>
          <p:nvPr/>
        </p:nvSpPr>
        <p:spPr>
          <a:xfrm>
            <a:off x="475560" y="2834640"/>
            <a:ext cx="8192160" cy="180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Goal 1 (6-12 months): [a measurable goal with a number and a deadline]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Goal 2 (1-2 years): [a measurable goal with a number and a deadline]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Goal 3 (3-5 years): [a measurable goal with a number and a deadline]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KPI: [the key metrics progress is tracked by]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42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Lean Canvas / BMC — the business model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457e4a"/>
                </a:solidFill>
                <a:latin typeface="Calibri"/>
                <a:ea typeface="Calibri"/>
              </a:rPr>
              <a:t>STRATEGIC SCENARIO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45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[state the source]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 5"/>
          <p:cNvSpPr/>
          <p:nvPr/>
        </p:nvSpPr>
        <p:spPr>
          <a:xfrm>
            <a:off x="365760" y="777240"/>
            <a:ext cx="8411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4" strike="noStrike">
                <a:solidFill>
                  <a:srgbClr val="64748b"/>
                </a:solidFill>
                <a:latin typeface="Calibri"/>
                <a:ea typeface="Calibri"/>
              </a:rPr>
              <a:t>LEAN CANVAS / BMC — 9 BLOCKS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Shape 6"/>
          <p:cNvSpPr/>
          <p:nvPr/>
        </p:nvSpPr>
        <p:spPr>
          <a:xfrm>
            <a:off x="365760" y="960120"/>
            <a:ext cx="1553760" cy="41112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48" name="Text 7"/>
          <p:cNvSpPr/>
          <p:nvPr/>
        </p:nvSpPr>
        <p:spPr>
          <a:xfrm>
            <a:off x="365760" y="960120"/>
            <a:ext cx="1553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1. Problem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 8"/>
          <p:cNvSpPr/>
          <p:nvPr/>
        </p:nvSpPr>
        <p:spPr>
          <a:xfrm>
            <a:off x="365760" y="1389960"/>
            <a:ext cx="1553760" cy="114264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750" spc="-1" strike="noStrike">
                <a:solidFill>
                  <a:srgbClr val="0f1020"/>
                </a:solidFill>
                <a:latin typeface="Calibri"/>
                <a:ea typeface="Calibri"/>
              </a:rPr>
              <a:t>[Top 3 problems of the target customers]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7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9"/>
          <p:cNvSpPr/>
          <p:nvPr/>
        </p:nvSpPr>
        <p:spPr>
          <a:xfrm>
            <a:off x="1974960" y="960120"/>
            <a:ext cx="1553760" cy="41112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51" name="Text 10"/>
          <p:cNvSpPr/>
          <p:nvPr/>
        </p:nvSpPr>
        <p:spPr>
          <a:xfrm>
            <a:off x="1974960" y="960120"/>
            <a:ext cx="1553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2. Segments (early adopters)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 11"/>
          <p:cNvSpPr/>
          <p:nvPr/>
        </p:nvSpPr>
        <p:spPr>
          <a:xfrm>
            <a:off x="1974960" y="1389960"/>
            <a:ext cx="1553760" cy="114264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0f1020"/>
                </a:solidFill>
                <a:latin typeface="Calibri"/>
                <a:ea typeface="Calibri"/>
              </a:rPr>
              <a:t>[Who are they? Demographics, behaviour, situation]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12"/>
          <p:cNvSpPr/>
          <p:nvPr/>
        </p:nvSpPr>
        <p:spPr>
          <a:xfrm>
            <a:off x="3584520" y="960120"/>
            <a:ext cx="1553760" cy="41112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54" name="Text 13"/>
          <p:cNvSpPr/>
          <p:nvPr/>
        </p:nvSpPr>
        <p:spPr>
          <a:xfrm>
            <a:off x="3584520" y="960120"/>
            <a:ext cx="1553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3. Unique value proposition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 14"/>
          <p:cNvSpPr/>
          <p:nvPr/>
        </p:nvSpPr>
        <p:spPr>
          <a:xfrm>
            <a:off x="3584520" y="1389960"/>
            <a:ext cx="1553760" cy="114264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0f1020"/>
                </a:solidFill>
                <a:latin typeface="Calibri"/>
                <a:ea typeface="Calibri"/>
              </a:rPr>
              <a:t>[Unique value proposition]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15"/>
          <p:cNvSpPr/>
          <p:nvPr/>
        </p:nvSpPr>
        <p:spPr>
          <a:xfrm>
            <a:off x="5193720" y="960120"/>
            <a:ext cx="1553760" cy="41112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57" name="Text 16"/>
          <p:cNvSpPr/>
          <p:nvPr/>
        </p:nvSpPr>
        <p:spPr>
          <a:xfrm>
            <a:off x="5193720" y="960120"/>
            <a:ext cx="1553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4. Solution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 17"/>
          <p:cNvSpPr/>
          <p:nvPr/>
        </p:nvSpPr>
        <p:spPr>
          <a:xfrm>
            <a:off x="5193720" y="1389960"/>
            <a:ext cx="1553760" cy="114264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750" spc="-1" strike="noStrike">
                <a:solidFill>
                  <a:srgbClr val="0f1020"/>
                </a:solidFill>
                <a:latin typeface="Calibri"/>
                <a:ea typeface="Calibri"/>
              </a:rPr>
              <a:t>[How we solve it: the top 3 features]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7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18"/>
          <p:cNvSpPr/>
          <p:nvPr/>
        </p:nvSpPr>
        <p:spPr>
          <a:xfrm>
            <a:off x="6803280" y="960120"/>
            <a:ext cx="1553760" cy="411120"/>
          </a:xfrm>
          <a:prstGeom prst="rect">
            <a:avLst/>
          </a:prstGeom>
          <a:solidFill>
            <a:srgbClr val="457e4a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0" name="Text 19"/>
          <p:cNvSpPr/>
          <p:nvPr/>
        </p:nvSpPr>
        <p:spPr>
          <a:xfrm>
            <a:off x="6803280" y="960120"/>
            <a:ext cx="1553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5. Channels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 20"/>
          <p:cNvSpPr/>
          <p:nvPr/>
        </p:nvSpPr>
        <p:spPr>
          <a:xfrm>
            <a:off x="6803280" y="1389960"/>
            <a:ext cx="1553760" cy="114264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0f1020"/>
                </a:solidFill>
                <a:latin typeface="Calibri"/>
                <a:ea typeface="Calibri"/>
              </a:rPr>
              <a:t>[Acquisition and retention channels]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21"/>
          <p:cNvSpPr/>
          <p:nvPr/>
        </p:nvSpPr>
        <p:spPr>
          <a:xfrm>
            <a:off x="365760" y="2606040"/>
            <a:ext cx="4205520" cy="98712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3" name="Shape 22"/>
          <p:cNvSpPr/>
          <p:nvPr/>
        </p:nvSpPr>
        <p:spPr>
          <a:xfrm>
            <a:off x="365760" y="2606040"/>
            <a:ext cx="4205520" cy="54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4" name="Text 23"/>
          <p:cNvSpPr/>
          <p:nvPr/>
        </p:nvSpPr>
        <p:spPr>
          <a:xfrm>
            <a:off x="502920" y="269748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6. Revenue streams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 24"/>
          <p:cNvSpPr/>
          <p:nvPr/>
        </p:nvSpPr>
        <p:spPr>
          <a:xfrm>
            <a:off x="475560" y="3063240"/>
            <a:ext cx="398592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[Subscription / one-off / commission. Average ticket: X RUB]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Shape 25"/>
          <p:cNvSpPr/>
          <p:nvPr/>
        </p:nvSpPr>
        <p:spPr>
          <a:xfrm>
            <a:off x="4754880" y="2606040"/>
            <a:ext cx="4205520" cy="98712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7" name="Shape 26"/>
          <p:cNvSpPr/>
          <p:nvPr/>
        </p:nvSpPr>
        <p:spPr>
          <a:xfrm>
            <a:off x="4754880" y="2606040"/>
            <a:ext cx="4205520" cy="54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8" name="Text 27"/>
          <p:cNvSpPr/>
          <p:nvPr/>
        </p:nvSpPr>
        <p:spPr>
          <a:xfrm>
            <a:off x="4892040" y="269748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7. Cost structure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 28"/>
          <p:cNvSpPr/>
          <p:nvPr/>
        </p:nvSpPr>
        <p:spPr>
          <a:xfrm>
            <a:off x="4864680" y="3063240"/>
            <a:ext cx="398592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[Fixed: X RUB | Variable: Y RUB | CAC: Z RUB]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29"/>
          <p:cNvSpPr/>
          <p:nvPr/>
        </p:nvSpPr>
        <p:spPr>
          <a:xfrm>
            <a:off x="365760" y="3657600"/>
            <a:ext cx="4205520" cy="98712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1" name="Shape 30"/>
          <p:cNvSpPr/>
          <p:nvPr/>
        </p:nvSpPr>
        <p:spPr>
          <a:xfrm>
            <a:off x="365760" y="3657600"/>
            <a:ext cx="4205520" cy="54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2" name="Text 31"/>
          <p:cNvSpPr/>
          <p:nvPr/>
        </p:nvSpPr>
        <p:spPr>
          <a:xfrm>
            <a:off x="502920" y="374904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8. Key metrics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 32"/>
          <p:cNvSpPr/>
          <p:nvPr/>
        </p:nvSpPr>
        <p:spPr>
          <a:xfrm>
            <a:off x="475560" y="4114800"/>
            <a:ext cx="398592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[MRR / GMV / Retention / LTV/CAC]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Shape 33"/>
          <p:cNvSpPr/>
          <p:nvPr/>
        </p:nvSpPr>
        <p:spPr>
          <a:xfrm>
            <a:off x="4754880" y="3657600"/>
            <a:ext cx="4205520" cy="98712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5" name="Shape 34"/>
          <p:cNvSpPr/>
          <p:nvPr/>
        </p:nvSpPr>
        <p:spPr>
          <a:xfrm>
            <a:off x="4754880" y="3657600"/>
            <a:ext cx="4205520" cy="54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6" name="Text 35"/>
          <p:cNvSpPr/>
          <p:nvPr/>
        </p:nvSpPr>
        <p:spPr>
          <a:xfrm>
            <a:off x="4892040" y="374904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9. Unfair advantage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 36"/>
          <p:cNvSpPr/>
          <p:nvPr/>
        </p:nvSpPr>
        <p:spPr>
          <a:xfrm>
            <a:off x="4864680" y="4114800"/>
            <a:ext cx="398592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[What is hard to copy: technology, data, partnerships, brand]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9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PAC — Product Attribute Canvas (4 worlds)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457e4a"/>
                </a:solidFill>
                <a:latin typeface="Calibri"/>
                <a:ea typeface="Calibri"/>
              </a:rPr>
              <a:t>STRATEGIC SCENARIO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82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PAC (Product Attribute Canvas); task 10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Shape 5"/>
          <p:cNvSpPr/>
          <p:nvPr/>
        </p:nvSpPr>
        <p:spPr>
          <a:xfrm>
            <a:off x="365760" y="868680"/>
            <a:ext cx="4205520" cy="182808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84" name="Shape 6"/>
          <p:cNvSpPr/>
          <p:nvPr/>
        </p:nvSpPr>
        <p:spPr>
          <a:xfrm>
            <a:off x="365760" y="868680"/>
            <a:ext cx="4205520" cy="54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85" name="Text 7"/>
          <p:cNvSpPr/>
          <p:nvPr/>
        </p:nvSpPr>
        <p:spPr>
          <a:xfrm>
            <a:off x="502920" y="96012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🧑 </a:t>
            </a: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Customer World — segments and jobs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Text 8"/>
          <p:cNvSpPr/>
          <p:nvPr/>
        </p:nvSpPr>
        <p:spPr>
          <a:xfrm>
            <a:off x="475560" y="1325880"/>
            <a:ext cx="3985920" cy="12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Segment: [persona, age, income]. Situation: [what they want and what blocks them]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Jobs: 1) [job 1] 2) [job 2] 3) [job 3]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The value proposition "[statement]" closes these jobs: [how exactly]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Shape 9"/>
          <p:cNvSpPr/>
          <p:nvPr/>
        </p:nvSpPr>
        <p:spPr>
          <a:xfrm>
            <a:off x="4754880" y="868680"/>
            <a:ext cx="4205520" cy="182808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88" name="Shape 10"/>
          <p:cNvSpPr/>
          <p:nvPr/>
        </p:nvSpPr>
        <p:spPr>
          <a:xfrm>
            <a:off x="4754880" y="868680"/>
            <a:ext cx="4205520" cy="54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89" name="Text 11"/>
          <p:cNvSpPr/>
          <p:nvPr/>
        </p:nvSpPr>
        <p:spPr>
          <a:xfrm>
            <a:off x="4892040" y="96012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⚔️ </a:t>
            </a: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Competitor World — differentiation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 12"/>
          <p:cNvSpPr/>
          <p:nvPr/>
        </p:nvSpPr>
        <p:spPr>
          <a:xfrm>
            <a:off x="4864680" y="1325880"/>
            <a:ext cx="3985920" cy="12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[Competitor 1]: [weakness]. [Competitor 2]: [weakness]. Us: [how we differ]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[Competitor 3]: [weakness]. [Competitor 4]: [weakness]. Unoccupied niche: [description]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We close OS=[N] "[outcome]" — [why competitors do not]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Shape 13"/>
          <p:cNvSpPr/>
          <p:nvPr/>
        </p:nvSpPr>
        <p:spPr>
          <a:xfrm>
            <a:off x="365760" y="2834640"/>
            <a:ext cx="4205520" cy="182808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2" name="Shape 14"/>
          <p:cNvSpPr/>
          <p:nvPr/>
        </p:nvSpPr>
        <p:spPr>
          <a:xfrm>
            <a:off x="365760" y="2834640"/>
            <a:ext cx="4205520" cy="54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3" name="Text 15"/>
          <p:cNvSpPr/>
          <p:nvPr/>
        </p:nvSpPr>
        <p:spPr>
          <a:xfrm>
            <a:off x="502920" y="292608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📦 </a:t>
            </a: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Distribution World — activation and growth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 16"/>
          <p:cNvSpPr/>
          <p:nvPr/>
        </p:nvSpPr>
        <p:spPr>
          <a:xfrm>
            <a:off x="475560" y="3291840"/>
            <a:ext cx="3985920" cy="12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Aha: "[what the customer realises]" — [the moment it happens]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[Step 1] → [step 2] → [step 3] → [growth loop]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Shape 17"/>
          <p:cNvSpPr/>
          <p:nvPr/>
        </p:nvSpPr>
        <p:spPr>
          <a:xfrm>
            <a:off x="4754880" y="2834640"/>
            <a:ext cx="4205520" cy="182808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6" name="Shape 18"/>
          <p:cNvSpPr/>
          <p:nvPr/>
        </p:nvSpPr>
        <p:spPr>
          <a:xfrm>
            <a:off x="4754880" y="2834640"/>
            <a:ext cx="4205520" cy="54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7" name="Text 19"/>
          <p:cNvSpPr/>
          <p:nvPr/>
        </p:nvSpPr>
        <p:spPr>
          <a:xfrm>
            <a:off x="4892040" y="292608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🔧 </a:t>
            </a: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Product World — features and unique properties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 20"/>
          <p:cNvSpPr/>
          <p:nvPr/>
        </p:nvSpPr>
        <p:spPr>
          <a:xfrm>
            <a:off x="4864680" y="3291840"/>
            <a:ext cx="3985920" cy="12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Feature 1: [name] → "When [situation], I [action], so that [outcome]"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Feature 2: [name] — [which job it closes]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Feature 3: [name] — [which job it closes]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00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SWOT analysis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457e4a"/>
                </a:solidFill>
                <a:latin typeface="Calibri"/>
                <a:ea typeface="Calibri"/>
              </a:rPr>
              <a:t>STRATEGIC SCENARIO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03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task 11 (SWOT), grounded in tasks 2 and 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Shape 5"/>
          <p:cNvSpPr/>
          <p:nvPr/>
        </p:nvSpPr>
        <p:spPr>
          <a:xfrm>
            <a:off x="365760" y="868680"/>
            <a:ext cx="4205520" cy="17823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05" name="Shape 6"/>
          <p:cNvSpPr/>
          <p:nvPr/>
        </p:nvSpPr>
        <p:spPr>
          <a:xfrm>
            <a:off x="365760" y="868680"/>
            <a:ext cx="4205520" cy="54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06" name="Text 7"/>
          <p:cNvSpPr/>
          <p:nvPr/>
        </p:nvSpPr>
        <p:spPr>
          <a:xfrm>
            <a:off x="502920" y="96012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Strengths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Text 8"/>
          <p:cNvSpPr/>
          <p:nvPr/>
        </p:nvSpPr>
        <p:spPr>
          <a:xfrm>
            <a:off x="475560" y="1325880"/>
            <a:ext cx="3985920" cy="12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[Strength 1]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[Strength 2]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[Strength 3]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[Strength 4]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Shape 9"/>
          <p:cNvSpPr/>
          <p:nvPr/>
        </p:nvSpPr>
        <p:spPr>
          <a:xfrm>
            <a:off x="4754880" y="868680"/>
            <a:ext cx="4205520" cy="17823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09" name="Shape 10"/>
          <p:cNvSpPr/>
          <p:nvPr/>
        </p:nvSpPr>
        <p:spPr>
          <a:xfrm>
            <a:off x="4754880" y="868680"/>
            <a:ext cx="4205520" cy="54000"/>
          </a:xfrm>
          <a:prstGeom prst="rect">
            <a:avLst/>
          </a:prstGeom>
          <a:solidFill>
            <a:srgbClr val="f5939e"/>
          </a:solidFill>
          <a:ln w="12700">
            <a:solidFill>
              <a:srgbClr val="f593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10" name="Text 11"/>
          <p:cNvSpPr/>
          <p:nvPr/>
        </p:nvSpPr>
        <p:spPr>
          <a:xfrm>
            <a:off x="4892040" y="96012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Weaknesses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Text 12"/>
          <p:cNvSpPr/>
          <p:nvPr/>
        </p:nvSpPr>
        <p:spPr>
          <a:xfrm>
            <a:off x="4864680" y="1325880"/>
            <a:ext cx="3985920" cy="12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[Weakness 1]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[Weakness 2]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[Weakness 3]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Shape 13"/>
          <p:cNvSpPr/>
          <p:nvPr/>
        </p:nvSpPr>
        <p:spPr>
          <a:xfrm>
            <a:off x="365760" y="2834640"/>
            <a:ext cx="4205520" cy="17823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13" name="Shape 14"/>
          <p:cNvSpPr/>
          <p:nvPr/>
        </p:nvSpPr>
        <p:spPr>
          <a:xfrm>
            <a:off x="365760" y="2834640"/>
            <a:ext cx="4205520" cy="54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14" name="Text 15"/>
          <p:cNvSpPr/>
          <p:nvPr/>
        </p:nvSpPr>
        <p:spPr>
          <a:xfrm>
            <a:off x="502920" y="292608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Opportunities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 16"/>
          <p:cNvSpPr/>
          <p:nvPr/>
        </p:nvSpPr>
        <p:spPr>
          <a:xfrm>
            <a:off x="475560" y="3291840"/>
            <a:ext cx="3985920" cy="12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[Opportunity 1 — from the trends, task 2]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[Opportunity 2 — from the trends, task 2]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[Opportunity 3 — from the competitive landscape, task 3]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Shape 17"/>
          <p:cNvSpPr/>
          <p:nvPr/>
        </p:nvSpPr>
        <p:spPr>
          <a:xfrm>
            <a:off x="4754880" y="2834640"/>
            <a:ext cx="4205520" cy="17823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17" name="Shape 18"/>
          <p:cNvSpPr/>
          <p:nvPr/>
        </p:nvSpPr>
        <p:spPr>
          <a:xfrm>
            <a:off x="4754880" y="2834640"/>
            <a:ext cx="4205520" cy="54000"/>
          </a:xfrm>
          <a:prstGeom prst="rect">
            <a:avLst/>
          </a:prstGeom>
          <a:solidFill>
            <a:srgbClr val="6b7fe3"/>
          </a:solidFill>
          <a:ln w="12700">
            <a:solidFill>
              <a:srgbClr val="6b7f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18" name="Text 19"/>
          <p:cNvSpPr/>
          <p:nvPr/>
        </p:nvSpPr>
        <p:spPr>
          <a:xfrm>
            <a:off x="4892040" y="292608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Threats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Text 20"/>
          <p:cNvSpPr/>
          <p:nvPr/>
        </p:nvSpPr>
        <p:spPr>
          <a:xfrm>
            <a:off x="4864680" y="3291840"/>
            <a:ext cx="3985920" cy="12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[Threat 1 — from competitors]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[Threat 2 — regulatory, from PESTEL]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[Threat 3 — market or behavioural]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21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Scenario consistency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457e4a"/>
                </a:solidFill>
                <a:latin typeface="Calibri"/>
                <a:ea typeface="Calibri"/>
              </a:rPr>
              <a:t>STRATEGIC SCENARIO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Subtitle"/>
          <p:cNvSpPr/>
          <p:nvPr/>
        </p:nvSpPr>
        <p:spPr>
          <a:xfrm>
            <a:off x="365760" y="868680"/>
            <a:ext cx="8412120" cy="36540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1000" spc="-1" strike="noStrike">
                <a:solidFill>
                  <a:srgbClr val="94a3f6"/>
                </a:solidFill>
                <a:latin typeface="Arial"/>
              </a:rPr>
              <a:t>Checking the scenario against three criteria (desirability / viability / feasibility)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CritHead0"/>
          <p:cNvSpPr/>
          <p:nvPr/>
        </p:nvSpPr>
        <p:spPr>
          <a:xfrm>
            <a:off x="365760" y="1280160"/>
            <a:ext cx="2706120" cy="685440"/>
          </a:xfrm>
          <a:prstGeom prst="rect">
            <a:avLst/>
          </a:prstGeom>
          <a:solidFill>
            <a:srgbClr val="4a8a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1100" spc="-1" strike="noStrike">
                <a:solidFill>
                  <a:srgbClr val="ffffff"/>
                </a:solidFill>
                <a:latin typeface="Arial"/>
              </a:rPr>
              <a:t>✅ </a:t>
            </a:r>
            <a:r>
              <a:rPr b="1" lang="ru-RU" sz="1100" spc="-1" strike="noStrike">
                <a:solidFill>
                  <a:srgbClr val="ffffff"/>
                </a:solidFill>
                <a:latin typeface="Arial"/>
              </a:rPr>
              <a:t>DESIRABILITY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Does the value proposition close the jobs?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CritBody0"/>
          <p:cNvSpPr/>
          <p:nvPr/>
        </p:nvSpPr>
        <p:spPr>
          <a:xfrm>
            <a:off x="365760" y="1965960"/>
            <a:ext cx="2706120" cy="1874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109800" bIns="109800" anchor="t">
            <a:noAutofit/>
          </a:bodyPr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RATIONALE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[How the value proposition closes the top jobs from the Job Map — briefly]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KEY METRICS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[Top 3 outcomes the value proposition closes]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CritFoot0"/>
          <p:cNvSpPr/>
          <p:nvPr/>
        </p:nvSpPr>
        <p:spPr>
          <a:xfrm>
            <a:off x="365760" y="3840480"/>
            <a:ext cx="2706120" cy="456840"/>
          </a:xfrm>
          <a:prstGeom prst="rect">
            <a:avLst/>
          </a:prstGeom>
          <a:solidFill>
            <a:srgbClr val="4a8a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109800" bIns="109800" anchor="t">
            <a:noAutofit/>
          </a:bodyPr>
          <a:p>
            <a:pPr algn="ctr">
              <a:lnSpc>
                <a:spcPct val="100000"/>
              </a:lnSpc>
            </a:pPr>
            <a:r>
              <a:rPr b="0" lang="ru-RU" sz="900" spc="-1" strike="noStrike">
                <a:solidFill>
                  <a:srgbClr val="e8eaf6"/>
                </a:solidFill>
                <a:latin typeface="Arial"/>
              </a:rPr>
              <a:t>STATUS: </a:t>
            </a:r>
            <a:r>
              <a:rPr b="1" lang="ru-RU" sz="900" spc="-1" strike="noStrike">
                <a:solidFill>
                  <a:srgbClr val="ffffff"/>
                </a:solidFill>
                <a:latin typeface="Arial"/>
              </a:rPr>
              <a:t>[✅ / ⚠️ / ❌]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CritHead1"/>
          <p:cNvSpPr/>
          <p:nvPr/>
        </p:nvSpPr>
        <p:spPr>
          <a:xfrm>
            <a:off x="3127320" y="1280160"/>
            <a:ext cx="2706120" cy="685440"/>
          </a:xfrm>
          <a:prstGeom prst="rect">
            <a:avLst/>
          </a:prstGeom>
          <a:solidFill>
            <a:srgbClr val="d68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1100" spc="-1" strike="noStrike">
                <a:solidFill>
                  <a:srgbClr val="ffffff"/>
                </a:solidFill>
                <a:latin typeface="Arial"/>
              </a:rPr>
              <a:t>⚠️ </a:t>
            </a:r>
            <a:r>
              <a:rPr b="1" lang="ru-RU" sz="1100" spc="-1" strike="noStrike">
                <a:solidFill>
                  <a:srgbClr val="ffffff"/>
                </a:solidFill>
                <a:latin typeface="Arial"/>
              </a:rPr>
              <a:t>VIABILITY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Is the model scalable?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CritBody1"/>
          <p:cNvSpPr/>
          <p:nvPr/>
        </p:nvSpPr>
        <p:spPr>
          <a:xfrm>
            <a:off x="3127320" y="1965960"/>
            <a:ext cx="2706120" cy="1874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109800" bIns="109800" anchor="t">
            <a:noAutofit/>
          </a:bodyPr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RATIONALE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[Scalability: LTV/CAC, gross margin, break-even — and the bottleneck]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KEY METRICS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[LTV = X RUB | CAC = Y RUB | GM = Z% | BE = month N]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CritFoot1"/>
          <p:cNvSpPr/>
          <p:nvPr/>
        </p:nvSpPr>
        <p:spPr>
          <a:xfrm>
            <a:off x="3127320" y="3840480"/>
            <a:ext cx="2706120" cy="456840"/>
          </a:xfrm>
          <a:prstGeom prst="rect">
            <a:avLst/>
          </a:prstGeom>
          <a:solidFill>
            <a:srgbClr val="d68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109800" bIns="109800" anchor="t">
            <a:noAutofit/>
          </a:bodyPr>
          <a:p>
            <a:pPr algn="ctr">
              <a:lnSpc>
                <a:spcPct val="100000"/>
              </a:lnSpc>
            </a:pPr>
            <a:r>
              <a:rPr b="0" lang="ru-RU" sz="900" spc="-1" strike="noStrike">
                <a:solidFill>
                  <a:srgbClr val="e8eaf6"/>
                </a:solidFill>
                <a:latin typeface="Arial"/>
              </a:rPr>
              <a:t>STATUS: </a:t>
            </a:r>
            <a:r>
              <a:rPr b="1" lang="ru-RU" sz="900" spc="-1" strike="noStrike">
                <a:solidFill>
                  <a:srgbClr val="ffffff"/>
                </a:solidFill>
                <a:latin typeface="Arial"/>
              </a:rPr>
              <a:t>[✅ / ⚠️ / ❌]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CritHead2"/>
          <p:cNvSpPr/>
          <p:nvPr/>
        </p:nvSpPr>
        <p:spPr>
          <a:xfrm>
            <a:off x="5888880" y="1280160"/>
            <a:ext cx="2706120" cy="685440"/>
          </a:xfrm>
          <a:prstGeom prst="rect">
            <a:avLst/>
          </a:prstGeom>
          <a:solidFill>
            <a:srgbClr val="4a8a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1100" spc="-1" strike="noStrike">
                <a:solidFill>
                  <a:srgbClr val="ffffff"/>
                </a:solidFill>
                <a:latin typeface="Arial"/>
              </a:rPr>
              <a:t>✅ </a:t>
            </a:r>
            <a:r>
              <a:rPr b="1" lang="ru-RU" sz="1100" spc="-1" strike="noStrike">
                <a:solidFill>
                  <a:srgbClr val="ffffff"/>
                </a:solidFill>
                <a:latin typeface="Arial"/>
              </a:rPr>
              <a:t>FEASIBILITY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Are the resources sufficient?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CritBody2"/>
          <p:cNvSpPr/>
          <p:nvPr/>
        </p:nvSpPr>
        <p:spPr>
          <a:xfrm>
            <a:off x="5888880" y="1965960"/>
            <a:ext cx="2706120" cy="1874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109800" bIns="109800" anchor="t">
            <a:noAutofit/>
          </a:bodyPr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RATIONALE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[Resources: team, budget, technology — what exists and what is missing]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KEY METRICS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[List of resources with readiness marks]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CritFoot2"/>
          <p:cNvSpPr/>
          <p:nvPr/>
        </p:nvSpPr>
        <p:spPr>
          <a:xfrm>
            <a:off x="5888880" y="3840480"/>
            <a:ext cx="2706120" cy="456840"/>
          </a:xfrm>
          <a:prstGeom prst="rect">
            <a:avLst/>
          </a:prstGeom>
          <a:solidFill>
            <a:srgbClr val="4a8a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109800" bIns="109800" anchor="t">
            <a:noAutofit/>
          </a:bodyPr>
          <a:p>
            <a:pPr algn="ctr">
              <a:lnSpc>
                <a:spcPct val="100000"/>
              </a:lnSpc>
            </a:pPr>
            <a:r>
              <a:rPr b="0" lang="ru-RU" sz="900" spc="-1" strike="noStrike">
                <a:solidFill>
                  <a:srgbClr val="e8eaf6"/>
                </a:solidFill>
                <a:latin typeface="Arial"/>
              </a:rPr>
              <a:t>STATUS: </a:t>
            </a:r>
            <a:r>
              <a:rPr b="1" lang="ru-RU" sz="900" spc="-1" strike="noStrike">
                <a:solidFill>
                  <a:srgbClr val="ffffff"/>
                </a:solidFill>
                <a:latin typeface="Arial"/>
              </a:rPr>
              <a:t>[✅ / ⚠️ / ❌]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Summary"/>
          <p:cNvSpPr/>
          <p:nvPr/>
        </p:nvSpPr>
        <p:spPr>
          <a:xfrm>
            <a:off x="365760" y="4389120"/>
            <a:ext cx="8412120" cy="411120"/>
          </a:xfrm>
          <a:prstGeom prst="rect">
            <a:avLst/>
          </a:prstGeom>
          <a:solidFill>
            <a:srgbClr val="1a1f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1200" spc="-1" strike="noStrike">
                <a:solidFill>
                  <a:srgbClr val="94a3f6"/>
                </a:solidFill>
                <a:latin typeface="Arial"/>
              </a:rPr>
              <a:t>RESULT: 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</a:rPr>
              <a:t>[X of 3 criteria ✅]. [What to fix first — one short statement]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35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[state the source]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37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Unit economics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457e4a"/>
                </a:solidFill>
                <a:latin typeface="Calibri"/>
                <a:ea typeface="Calibri"/>
              </a:rPr>
              <a:t>STRATEGIC SCENARIO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0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the financial model (task 18c), base scenario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5"/>
          <p:cNvSpPr/>
          <p:nvPr/>
        </p:nvSpPr>
        <p:spPr>
          <a:xfrm>
            <a:off x="365760" y="868680"/>
            <a:ext cx="2559600" cy="13251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2" name="Shape 6"/>
          <p:cNvSpPr/>
          <p:nvPr/>
        </p:nvSpPr>
        <p:spPr>
          <a:xfrm>
            <a:off x="365760" y="868680"/>
            <a:ext cx="2559600" cy="54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3" name="Text 7"/>
          <p:cNvSpPr/>
          <p:nvPr/>
        </p:nvSpPr>
        <p:spPr>
          <a:xfrm>
            <a:off x="365760" y="1051560"/>
            <a:ext cx="25596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94a3f6"/>
                </a:solidFill>
                <a:latin typeface="Calibri"/>
                <a:ea typeface="Calibri"/>
              </a:rPr>
              <a:t>[X ₽]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Text 8"/>
          <p:cNvSpPr/>
          <p:nvPr/>
        </p:nvSpPr>
        <p:spPr>
          <a:xfrm>
            <a:off x="365760" y="1645920"/>
            <a:ext cx="2559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Customer LTV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9"/>
          <p:cNvSpPr/>
          <p:nvPr/>
        </p:nvSpPr>
        <p:spPr>
          <a:xfrm>
            <a:off x="3291840" y="868680"/>
            <a:ext cx="2559600" cy="13251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6" name="Shape 10"/>
          <p:cNvSpPr/>
          <p:nvPr/>
        </p:nvSpPr>
        <p:spPr>
          <a:xfrm>
            <a:off x="3291840" y="868680"/>
            <a:ext cx="2559600" cy="54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7" name="Text 11"/>
          <p:cNvSpPr/>
          <p:nvPr/>
        </p:nvSpPr>
        <p:spPr>
          <a:xfrm>
            <a:off x="3291840" y="1051560"/>
            <a:ext cx="25596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457e4a"/>
                </a:solidFill>
                <a:latin typeface="Calibri"/>
                <a:ea typeface="Calibri"/>
              </a:rPr>
              <a:t>[Y ₽]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Text 12"/>
          <p:cNvSpPr/>
          <p:nvPr/>
        </p:nvSpPr>
        <p:spPr>
          <a:xfrm>
            <a:off x="3291840" y="1645920"/>
            <a:ext cx="2559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CAC (acquisition cost)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13"/>
          <p:cNvSpPr/>
          <p:nvPr/>
        </p:nvSpPr>
        <p:spPr>
          <a:xfrm>
            <a:off x="6217920" y="868680"/>
            <a:ext cx="2559600" cy="13251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0" name="Shape 14"/>
          <p:cNvSpPr/>
          <p:nvPr/>
        </p:nvSpPr>
        <p:spPr>
          <a:xfrm>
            <a:off x="6217920" y="868680"/>
            <a:ext cx="2559600" cy="54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1" name="Text 15"/>
          <p:cNvSpPr/>
          <p:nvPr/>
        </p:nvSpPr>
        <p:spPr>
          <a:xfrm>
            <a:off x="6217920" y="1051560"/>
            <a:ext cx="25596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94a3f6"/>
                </a:solidFill>
                <a:latin typeface="Calibri"/>
                <a:ea typeface="Calibri"/>
              </a:rPr>
              <a:t>[N.Nx]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Text 16"/>
          <p:cNvSpPr/>
          <p:nvPr/>
        </p:nvSpPr>
        <p:spPr>
          <a:xfrm>
            <a:off x="6217920" y="1645920"/>
            <a:ext cx="2559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LTV / CAC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Shape 17"/>
          <p:cNvSpPr/>
          <p:nvPr/>
        </p:nvSpPr>
        <p:spPr>
          <a:xfrm>
            <a:off x="365760" y="2377440"/>
            <a:ext cx="8411760" cy="233100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4" name="Shape 18"/>
          <p:cNvSpPr/>
          <p:nvPr/>
        </p:nvSpPr>
        <p:spPr>
          <a:xfrm>
            <a:off x="365760" y="2377440"/>
            <a:ext cx="8411760" cy="54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5" name="Text 19"/>
          <p:cNvSpPr/>
          <p:nvPr/>
        </p:nvSpPr>
        <p:spPr>
          <a:xfrm>
            <a:off x="502920" y="2468880"/>
            <a:ext cx="81374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f1020"/>
                </a:solidFill>
                <a:latin typeface="Calibri"/>
                <a:ea typeface="Calibri"/>
              </a:rPr>
              <a:t>Unit economics — the key figures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Text 20"/>
          <p:cNvSpPr/>
          <p:nvPr/>
        </p:nvSpPr>
        <p:spPr>
          <a:xfrm>
            <a:off x="475560" y="2834640"/>
            <a:ext cx="8192160" cy="180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Payback period: [N] months base | [N] months optimistic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Runway: [N] months at a burn rate of [X RUB]/mo and capital of [Y RUB]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Break-even: month [N] base | month [N] optimistic — cumulative P&amp;L &gt;= 0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64748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  <a:ea typeface="Calibri"/>
              </a:rPr>
              <a:t>Gross margin: [X%] | COGS: [Y%] ([cost structure])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Shape 0"/>
          <p:cNvSpPr/>
          <p:nvPr/>
        </p:nvSpPr>
        <p:spPr>
          <a:xfrm>
            <a:off x="0" y="0"/>
            <a:ext cx="319320" cy="514296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8" name="Text 1"/>
          <p:cNvSpPr/>
          <p:nvPr/>
        </p:nvSpPr>
        <p:spPr>
          <a:xfrm>
            <a:off x="548640" y="1737360"/>
            <a:ext cx="80460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395" strike="noStrike">
                <a:solidFill>
                  <a:srgbClr val="94a3f6"/>
                </a:solidFill>
                <a:latin typeface="Calibri"/>
                <a:ea typeface="Calibri"/>
              </a:rPr>
              <a:t>SECTION 04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Text 2"/>
          <p:cNvSpPr/>
          <p:nvPr/>
        </p:nvSpPr>
        <p:spPr>
          <a:xfrm>
            <a:off x="548640" y="2148840"/>
            <a:ext cx="804600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  <a:ea typeface="Calibri"/>
              </a:rPr>
              <a:t>Opportunity Solution Tree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1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OST: levels 1-2 — outcome and opportunities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94a3f6"/>
                </a:solidFill>
                <a:latin typeface="Calibri"/>
                <a:ea typeface="Calibri"/>
              </a:rPr>
              <a:t>OST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4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OST (Teresa Torres); task 12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 5"/>
          <p:cNvSpPr/>
          <p:nvPr/>
        </p:nvSpPr>
        <p:spPr>
          <a:xfrm>
            <a:off x="365760" y="777240"/>
            <a:ext cx="8411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4" strike="noStrike">
                <a:solidFill>
                  <a:srgbClr val="94a3f6"/>
                </a:solidFill>
                <a:latin typeface="Calibri"/>
                <a:ea typeface="Calibri"/>
              </a:rPr>
              <a:t>BUSINESS OUTCOME → OPPORTUNITIES → SOLUTIONS → EXPERIMENTS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hape 6"/>
          <p:cNvSpPr/>
          <p:nvPr/>
        </p:nvSpPr>
        <p:spPr>
          <a:xfrm>
            <a:off x="3017520" y="1005840"/>
            <a:ext cx="3108240" cy="54792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7" name="Text 7"/>
          <p:cNvSpPr/>
          <p:nvPr/>
        </p:nvSpPr>
        <p:spPr>
          <a:xfrm>
            <a:off x="3017520" y="1005840"/>
            <a:ext cx="31082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[Measurable business outcome: metric, current → target value, deadline]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8"/>
          <p:cNvSpPr/>
          <p:nvPr/>
        </p:nvSpPr>
        <p:spPr>
          <a:xfrm>
            <a:off x="4572000" y="1554480"/>
            <a:ext cx="360" cy="182880"/>
          </a:xfrm>
          <a:prstGeom prst="line">
            <a:avLst/>
          </a:prstGeom>
          <a:ln w="1905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9" name="Shape 9"/>
          <p:cNvSpPr/>
          <p:nvPr/>
        </p:nvSpPr>
        <p:spPr>
          <a:xfrm flipH="1">
            <a:off x="1645920" y="1737360"/>
            <a:ext cx="2926080" cy="360"/>
          </a:xfrm>
          <a:prstGeom prst="line">
            <a:avLst/>
          </a:prstGeom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0" name="Shape 10"/>
          <p:cNvSpPr/>
          <p:nvPr/>
        </p:nvSpPr>
        <p:spPr>
          <a:xfrm>
            <a:off x="1645920" y="1737360"/>
            <a:ext cx="360" cy="274320"/>
          </a:xfrm>
          <a:prstGeom prst="line">
            <a:avLst/>
          </a:prstGeom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1" name="Shape 11"/>
          <p:cNvSpPr/>
          <p:nvPr/>
        </p:nvSpPr>
        <p:spPr>
          <a:xfrm>
            <a:off x="548640" y="2011680"/>
            <a:ext cx="2193840" cy="639360"/>
          </a:xfrm>
          <a:prstGeom prst="rect">
            <a:avLst/>
          </a:prstGeom>
          <a:solidFill>
            <a:srgbClr val="fff1f2"/>
          </a:solidFill>
          <a:ln w="19050">
            <a:solidFill>
              <a:srgbClr val="f593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2" name="Text 12"/>
          <p:cNvSpPr/>
          <p:nvPr/>
        </p:nvSpPr>
        <p:spPr>
          <a:xfrm>
            <a:off x="548640" y="2011680"/>
            <a:ext cx="21938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5939e"/>
                </a:solidFill>
                <a:latin typeface="Calibri"/>
                <a:ea typeface="Calibri"/>
              </a:rPr>
              <a:t>Opportunity 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5939e"/>
                </a:solidFill>
                <a:latin typeface="Calibri"/>
                <a:ea typeface="Calibri"/>
              </a:rPr>
              <a:t>[Opportunity 1 from task 7] | OS=[N] 🔴 Priority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Shape 13"/>
          <p:cNvSpPr/>
          <p:nvPr/>
        </p:nvSpPr>
        <p:spPr>
          <a:xfrm>
            <a:off x="4572000" y="1737360"/>
            <a:ext cx="91440" cy="360"/>
          </a:xfrm>
          <a:prstGeom prst="line">
            <a:avLst/>
          </a:prstGeom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4" name="Shape 14"/>
          <p:cNvSpPr/>
          <p:nvPr/>
        </p:nvSpPr>
        <p:spPr>
          <a:xfrm>
            <a:off x="4663440" y="1737360"/>
            <a:ext cx="360" cy="274320"/>
          </a:xfrm>
          <a:prstGeom prst="line">
            <a:avLst/>
          </a:prstGeom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5" name="Shape 15"/>
          <p:cNvSpPr/>
          <p:nvPr/>
        </p:nvSpPr>
        <p:spPr>
          <a:xfrm>
            <a:off x="3566160" y="2011680"/>
            <a:ext cx="2193840" cy="639360"/>
          </a:xfrm>
          <a:prstGeom prst="rect">
            <a:avLst/>
          </a:prstGeom>
          <a:solidFill>
            <a:srgbClr val="f4f5ff"/>
          </a:solidFill>
          <a:ln w="1905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6" name="Text 16"/>
          <p:cNvSpPr/>
          <p:nvPr/>
        </p:nvSpPr>
        <p:spPr>
          <a:xfrm>
            <a:off x="3566160" y="2011680"/>
            <a:ext cx="21938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94a3f6"/>
                </a:solidFill>
                <a:latin typeface="Calibri"/>
                <a:ea typeface="Calibri"/>
              </a:rPr>
              <a:t>Opportunity 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94a3f6"/>
                </a:solidFill>
                <a:latin typeface="Calibri"/>
                <a:ea typeface="Calibri"/>
              </a:rPr>
              <a:t>[Opportunity 2 from task 7] | OS=[N]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Shape 17"/>
          <p:cNvSpPr/>
          <p:nvPr/>
        </p:nvSpPr>
        <p:spPr>
          <a:xfrm>
            <a:off x="4572000" y="1737360"/>
            <a:ext cx="3108960" cy="360"/>
          </a:xfrm>
          <a:prstGeom prst="line">
            <a:avLst/>
          </a:prstGeom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8" name="Shape 18"/>
          <p:cNvSpPr/>
          <p:nvPr/>
        </p:nvSpPr>
        <p:spPr>
          <a:xfrm>
            <a:off x="7680960" y="1737360"/>
            <a:ext cx="360" cy="274320"/>
          </a:xfrm>
          <a:prstGeom prst="line">
            <a:avLst/>
          </a:prstGeom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9" name="Shape 19"/>
          <p:cNvSpPr/>
          <p:nvPr/>
        </p:nvSpPr>
        <p:spPr>
          <a:xfrm>
            <a:off x="6583680" y="2011680"/>
            <a:ext cx="2193840" cy="639360"/>
          </a:xfrm>
          <a:prstGeom prst="rect">
            <a:avLst/>
          </a:prstGeom>
          <a:solidFill>
            <a:srgbClr val="f4f5ff"/>
          </a:solidFill>
          <a:ln w="1905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0" name="Text 20"/>
          <p:cNvSpPr/>
          <p:nvPr/>
        </p:nvSpPr>
        <p:spPr>
          <a:xfrm>
            <a:off x="6583680" y="2011680"/>
            <a:ext cx="21938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Opportunity 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[Opportunity 3 from task 7] | OS=[N]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Shape 21"/>
          <p:cNvSpPr/>
          <p:nvPr/>
        </p:nvSpPr>
        <p:spPr>
          <a:xfrm>
            <a:off x="365760" y="2788920"/>
            <a:ext cx="8411760" cy="200520"/>
          </a:xfrm>
          <a:prstGeom prst="rect">
            <a:avLst/>
          </a:prstGeom>
          <a:solidFill>
            <a:srgbClr val="fff1f2"/>
          </a:solidFill>
          <a:ln w="6350">
            <a:solidFill>
              <a:srgbClr val="f593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2" name="Text 22"/>
          <p:cNvSpPr/>
          <p:nvPr/>
        </p:nvSpPr>
        <p:spPr>
          <a:xfrm>
            <a:off x="457200" y="2788920"/>
            <a:ext cx="82288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5939e"/>
                </a:solidFill>
                <a:latin typeface="Calibri"/>
                <a:ea typeface="Calibri"/>
              </a:rPr>
              <a:t>TARGET OPPORTUNITY 1 — generate 3+ solutions: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Shape 23"/>
          <p:cNvSpPr/>
          <p:nvPr/>
        </p:nvSpPr>
        <p:spPr>
          <a:xfrm>
            <a:off x="457200" y="3035880"/>
            <a:ext cx="2651040" cy="566280"/>
          </a:xfrm>
          <a:prstGeom prst="rect">
            <a:avLst/>
          </a:prstGeom>
          <a:solidFill>
            <a:srgbClr val="f4f5ff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4" name="Text 24"/>
          <p:cNvSpPr/>
          <p:nvPr/>
        </p:nvSpPr>
        <p:spPr>
          <a:xfrm>
            <a:off x="457200" y="3035880"/>
            <a:ext cx="265104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Solution A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[Solution A: what exactly we build and for whom]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Shape 25"/>
          <p:cNvSpPr/>
          <p:nvPr/>
        </p:nvSpPr>
        <p:spPr>
          <a:xfrm>
            <a:off x="1783080" y="3602520"/>
            <a:ext cx="360" cy="201240"/>
          </a:xfrm>
          <a:prstGeom prst="line">
            <a:avLst/>
          </a:prstGeom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6" name="Shape 26"/>
          <p:cNvSpPr/>
          <p:nvPr/>
        </p:nvSpPr>
        <p:spPr>
          <a:xfrm>
            <a:off x="640080" y="3803760"/>
            <a:ext cx="2285280" cy="502200"/>
          </a:xfrm>
          <a:prstGeom prst="rect">
            <a:avLst/>
          </a:prstGeom>
          <a:solidFill>
            <a:srgbClr val="e8eaf6"/>
          </a:solidFill>
          <a:ln w="635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7" name="Text 27"/>
          <p:cNvSpPr/>
          <p:nvPr/>
        </p:nvSpPr>
        <p:spPr>
          <a:xfrm>
            <a:off x="640080" y="3803760"/>
            <a:ext cx="22852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Exp A1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[Method], [budget], [timeframe], criterion [metric &gt;= value]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Shape 28"/>
          <p:cNvSpPr/>
          <p:nvPr/>
        </p:nvSpPr>
        <p:spPr>
          <a:xfrm>
            <a:off x="3383280" y="3035880"/>
            <a:ext cx="2651040" cy="566280"/>
          </a:xfrm>
          <a:prstGeom prst="rect">
            <a:avLst/>
          </a:prstGeom>
          <a:solidFill>
            <a:srgbClr val="f4f5ff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9" name="Text 29"/>
          <p:cNvSpPr/>
          <p:nvPr/>
        </p:nvSpPr>
        <p:spPr>
          <a:xfrm>
            <a:off x="3383280" y="3035880"/>
            <a:ext cx="265104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Solution B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[Solution B: what exactly we build and for whom]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30"/>
          <p:cNvSpPr/>
          <p:nvPr/>
        </p:nvSpPr>
        <p:spPr>
          <a:xfrm>
            <a:off x="4709160" y="3602520"/>
            <a:ext cx="360" cy="201240"/>
          </a:xfrm>
          <a:prstGeom prst="line">
            <a:avLst/>
          </a:prstGeom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1" name="Shape 31"/>
          <p:cNvSpPr/>
          <p:nvPr/>
        </p:nvSpPr>
        <p:spPr>
          <a:xfrm>
            <a:off x="3566160" y="3803760"/>
            <a:ext cx="2285280" cy="502200"/>
          </a:xfrm>
          <a:prstGeom prst="rect">
            <a:avLst/>
          </a:prstGeom>
          <a:solidFill>
            <a:srgbClr val="e8eaf6"/>
          </a:solidFill>
          <a:ln w="635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2" name="Text 32"/>
          <p:cNvSpPr/>
          <p:nvPr/>
        </p:nvSpPr>
        <p:spPr>
          <a:xfrm>
            <a:off x="3566160" y="3803760"/>
            <a:ext cx="22852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Exp B1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[Method], [budget], [timeframe], criterion [metric &gt;= value]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Shape 33"/>
          <p:cNvSpPr/>
          <p:nvPr/>
        </p:nvSpPr>
        <p:spPr>
          <a:xfrm>
            <a:off x="6309360" y="3035880"/>
            <a:ext cx="2651040" cy="566280"/>
          </a:xfrm>
          <a:prstGeom prst="rect">
            <a:avLst/>
          </a:prstGeom>
          <a:solidFill>
            <a:srgbClr val="f4f5ff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4" name="Text 34"/>
          <p:cNvSpPr/>
          <p:nvPr/>
        </p:nvSpPr>
        <p:spPr>
          <a:xfrm>
            <a:off x="6309360" y="3035880"/>
            <a:ext cx="265104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Solution C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[Solution C: what exactly we build and for whom]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35"/>
          <p:cNvSpPr/>
          <p:nvPr/>
        </p:nvSpPr>
        <p:spPr>
          <a:xfrm>
            <a:off x="7635240" y="3602520"/>
            <a:ext cx="360" cy="201240"/>
          </a:xfrm>
          <a:prstGeom prst="line">
            <a:avLst/>
          </a:prstGeom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6" name="Shape 36"/>
          <p:cNvSpPr/>
          <p:nvPr/>
        </p:nvSpPr>
        <p:spPr>
          <a:xfrm>
            <a:off x="6492240" y="3803760"/>
            <a:ext cx="2285280" cy="502200"/>
          </a:xfrm>
          <a:prstGeom prst="rect">
            <a:avLst/>
          </a:prstGeom>
          <a:solidFill>
            <a:srgbClr val="e8eaf6"/>
          </a:solidFill>
          <a:ln w="635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7" name="Text 37"/>
          <p:cNvSpPr/>
          <p:nvPr/>
        </p:nvSpPr>
        <p:spPr>
          <a:xfrm>
            <a:off x="6492240" y="3803760"/>
            <a:ext cx="22852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Exp C1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64748b"/>
                </a:solidFill>
                <a:latin typeface="Calibri"/>
                <a:ea typeface="Calibri"/>
              </a:rPr>
              <a:t>[Method], [budget], [timeframe], criterion [metric &gt;= value]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9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OST: levels 3-4 — solutions and experiments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94a3f6"/>
                </a:solidFill>
                <a:latin typeface="Calibri"/>
                <a:ea typeface="Calibri"/>
              </a:rPr>
              <a:t>OST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Opportunity"/>
          <p:cNvSpPr/>
          <p:nvPr/>
        </p:nvSpPr>
        <p:spPr>
          <a:xfrm>
            <a:off x="365760" y="868680"/>
            <a:ext cx="8412120" cy="411120"/>
          </a:xfrm>
          <a:prstGeom prst="rect">
            <a:avLst/>
          </a:prstGeom>
          <a:solidFill>
            <a:srgbClr val="1a1f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1000" spc="-1" strike="noStrike">
                <a:solidFill>
                  <a:srgbClr val="94a3f6"/>
                </a:solidFill>
                <a:latin typeface="Arial"/>
              </a:rPr>
              <a:t>TARGET OPPORTUNITY (RICE + OS): </a:t>
            </a:r>
            <a:r>
              <a:rPr b="1" lang="ru-RU" sz="1000" spc="-1" strike="noStrike">
                <a:solidFill>
                  <a:srgbClr val="ffffff"/>
                </a:solidFill>
                <a:latin typeface="Arial"/>
              </a:rPr>
              <a:t>"[Opportunity from OST level 2]"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" name="SolHead0"/>
          <p:cNvSpPr/>
          <p:nvPr/>
        </p:nvSpPr>
        <p:spPr>
          <a:xfrm>
            <a:off x="365760" y="1371600"/>
            <a:ext cx="2706120" cy="639720"/>
          </a:xfrm>
          <a:prstGeom prst="rect">
            <a:avLst/>
          </a:prstGeom>
          <a:solidFill>
            <a:srgbClr val="94a3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e8eaf6"/>
                </a:solidFill>
                <a:latin typeface="Arial"/>
              </a:rPr>
              <a:t>SOLUTION A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1200" spc="-1" strike="noStrike">
                <a:solidFill>
                  <a:srgbClr val="ffffff"/>
                </a:solidFill>
                <a:latin typeface="Arial"/>
              </a:rPr>
              <a:t>[Solution A name]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SolDesc0"/>
          <p:cNvSpPr/>
          <p:nvPr/>
        </p:nvSpPr>
        <p:spPr>
          <a:xfrm>
            <a:off x="365760" y="2011680"/>
            <a:ext cx="2706120" cy="868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[Solution A description: what exactly we build and for whom]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olExp0"/>
          <p:cNvSpPr/>
          <p:nvPr/>
        </p:nvSpPr>
        <p:spPr>
          <a:xfrm>
            <a:off x="365760" y="2953440"/>
            <a:ext cx="2706120" cy="914040"/>
          </a:xfrm>
          <a:prstGeom prst="rect">
            <a:avLst/>
          </a:prstGeom>
          <a:solidFill>
            <a:srgbClr val="1a1f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EXPERIMENT:</a:t>
            </a: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  Smoke Test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[Method: Smoke Test / pre-sale / Wizard of Oz + a short description]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SolMetrics0"/>
          <p:cNvSpPr/>
          <p:nvPr/>
        </p:nvSpPr>
        <p:spPr>
          <a:xfrm>
            <a:off x="365760" y="3922920"/>
            <a:ext cx="2706120" cy="69444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700" spc="-1" strike="noStrike">
                <a:solidFill>
                  <a:srgbClr val="64748b"/>
                </a:solidFill>
                <a:latin typeface="Arial"/>
              </a:rPr>
              <a:t>CRITERION: </a:t>
            </a:r>
            <a:r>
              <a:rPr b="1" lang="ru-RU" sz="800" spc="-1" strike="noStrike">
                <a:solidFill>
                  <a:srgbClr val="0f1020"/>
                </a:solidFill>
                <a:latin typeface="Arial"/>
              </a:rPr>
              <a:t>[Success criterion]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700" spc="-1" strike="noStrike">
                <a:solidFill>
                  <a:srgbClr val="64748b"/>
                </a:solidFill>
                <a:latin typeface="Arial"/>
              </a:rPr>
              <a:t>TIMEFRAME: </a:t>
            </a: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[X days]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700" spc="-1" strike="noStrike">
                <a:solidFill>
                  <a:srgbClr val="64748b"/>
                </a:solidFill>
                <a:latin typeface="Arial"/>
              </a:rPr>
              <a:t>BUDGET: </a:t>
            </a: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[X RUB]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olHead1"/>
          <p:cNvSpPr/>
          <p:nvPr/>
        </p:nvSpPr>
        <p:spPr>
          <a:xfrm>
            <a:off x="3127320" y="1371600"/>
            <a:ext cx="2706120" cy="639720"/>
          </a:xfrm>
          <a:prstGeom prst="rect">
            <a:avLst/>
          </a:prstGeom>
          <a:solidFill>
            <a:srgbClr val="6b7f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e8eaf6"/>
                </a:solidFill>
                <a:latin typeface="Arial"/>
              </a:rPr>
              <a:t>SOLUTION B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1200" spc="-1" strike="noStrike">
                <a:solidFill>
                  <a:srgbClr val="ffffff"/>
                </a:solidFill>
                <a:latin typeface="Arial"/>
              </a:rPr>
              <a:t>[Solution B name]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SolDesc1"/>
          <p:cNvSpPr/>
          <p:nvPr/>
        </p:nvSpPr>
        <p:spPr>
          <a:xfrm>
            <a:off x="3127320" y="2011680"/>
            <a:ext cx="2706120" cy="868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[Solution B description]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olExp1"/>
          <p:cNvSpPr/>
          <p:nvPr/>
        </p:nvSpPr>
        <p:spPr>
          <a:xfrm>
            <a:off x="3127320" y="2953440"/>
            <a:ext cx="2706120" cy="914040"/>
          </a:xfrm>
          <a:prstGeom prst="rect">
            <a:avLst/>
          </a:prstGeom>
          <a:solidFill>
            <a:srgbClr val="1a1f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EXPERIMENT:</a:t>
            </a: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  Pre-sale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[Method + description]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SolMetrics1"/>
          <p:cNvSpPr/>
          <p:nvPr/>
        </p:nvSpPr>
        <p:spPr>
          <a:xfrm>
            <a:off x="3127320" y="3922920"/>
            <a:ext cx="2706120" cy="69444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700" spc="-1" strike="noStrike">
                <a:solidFill>
                  <a:srgbClr val="64748b"/>
                </a:solidFill>
                <a:latin typeface="Arial"/>
              </a:rPr>
              <a:t>CRITERION: </a:t>
            </a:r>
            <a:r>
              <a:rPr b="1" lang="ru-RU" sz="800" spc="-1" strike="noStrike">
                <a:solidFill>
                  <a:srgbClr val="0f1020"/>
                </a:solidFill>
                <a:latin typeface="Arial"/>
              </a:rPr>
              <a:t>[Success criterion]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700" spc="-1" strike="noStrike">
                <a:solidFill>
                  <a:srgbClr val="64748b"/>
                </a:solidFill>
                <a:latin typeface="Arial"/>
              </a:rPr>
              <a:t>TIMEFRAME: </a:t>
            </a: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[X days]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700" spc="-1" strike="noStrike">
                <a:solidFill>
                  <a:srgbClr val="64748b"/>
                </a:solidFill>
                <a:latin typeface="Arial"/>
              </a:rPr>
              <a:t>BUDGET: </a:t>
            </a: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[X RUB]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SolHead2"/>
          <p:cNvSpPr/>
          <p:nvPr/>
        </p:nvSpPr>
        <p:spPr>
          <a:xfrm>
            <a:off x="5888880" y="1371600"/>
            <a:ext cx="2706120" cy="639720"/>
          </a:xfrm>
          <a:prstGeom prst="rect">
            <a:avLst/>
          </a:prstGeom>
          <a:solidFill>
            <a:srgbClr val="4a5ec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e8eaf6"/>
                </a:solidFill>
                <a:latin typeface="Arial"/>
              </a:rPr>
              <a:t>SOLUTION C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1200" spc="-1" strike="noStrike">
                <a:solidFill>
                  <a:srgbClr val="ffffff"/>
                </a:solidFill>
                <a:latin typeface="Arial"/>
              </a:rPr>
              <a:t>[Solution C name]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SolDesc2"/>
          <p:cNvSpPr/>
          <p:nvPr/>
        </p:nvSpPr>
        <p:spPr>
          <a:xfrm>
            <a:off x="5888880" y="2011680"/>
            <a:ext cx="2706120" cy="868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[Solution C description]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olExp2"/>
          <p:cNvSpPr/>
          <p:nvPr/>
        </p:nvSpPr>
        <p:spPr>
          <a:xfrm>
            <a:off x="5888880" y="2953440"/>
            <a:ext cx="2706120" cy="914040"/>
          </a:xfrm>
          <a:prstGeom prst="rect">
            <a:avLst/>
          </a:prstGeom>
          <a:solidFill>
            <a:srgbClr val="1a1f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EXPERIMENT:</a:t>
            </a: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  Wizard of Oz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[Method + description]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SolMetrics2"/>
          <p:cNvSpPr/>
          <p:nvPr/>
        </p:nvSpPr>
        <p:spPr>
          <a:xfrm>
            <a:off x="5888880" y="3922920"/>
            <a:ext cx="2706120" cy="69444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700" spc="-1" strike="noStrike">
                <a:solidFill>
                  <a:srgbClr val="64748b"/>
                </a:solidFill>
                <a:latin typeface="Arial"/>
              </a:rPr>
              <a:t>CRITERION: </a:t>
            </a:r>
            <a:r>
              <a:rPr b="1" lang="ru-RU" sz="800" spc="-1" strike="noStrike">
                <a:solidFill>
                  <a:srgbClr val="0f1020"/>
                </a:solidFill>
                <a:latin typeface="Arial"/>
              </a:rPr>
              <a:t>[Success criterion]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700" spc="-1" strike="noStrike">
                <a:solidFill>
                  <a:srgbClr val="64748b"/>
                </a:solidFill>
                <a:latin typeface="Arial"/>
              </a:rPr>
              <a:t>TIMEFRAME: </a:t>
            </a: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[X days]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700" spc="-1" strike="noStrike">
                <a:solidFill>
                  <a:srgbClr val="64748b"/>
                </a:solidFill>
                <a:latin typeface="Arial"/>
              </a:rPr>
              <a:t>BUDGET: </a:t>
            </a:r>
            <a:r>
              <a:rPr b="0" lang="ru-RU" sz="800" spc="-1" strike="noStrike">
                <a:solidFill>
                  <a:srgbClr val="0f1020"/>
                </a:solidFill>
                <a:latin typeface="Arial"/>
              </a:rPr>
              <a:t>[X RUB]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Rule"/>
          <p:cNvSpPr/>
          <p:nvPr/>
        </p:nvSpPr>
        <p:spPr>
          <a:xfrm>
            <a:off x="365760" y="4663440"/>
            <a:ext cx="8412120" cy="22824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27360" bIns="27360" anchor="t">
            <a:noAutofit/>
          </a:bodyPr>
          <a:p>
            <a:pPr>
              <a:lnSpc>
                <a:spcPct val="100000"/>
              </a:lnSpc>
            </a:pPr>
            <a:r>
              <a:rPr b="1" lang="ru-RU" sz="900" spc="-1" strike="noStrike">
                <a:solidFill>
                  <a:srgbClr val="94a3f6"/>
                </a:solidFill>
                <a:latin typeface="Arial"/>
              </a:rPr>
              <a:t>▸ </a:t>
            </a:r>
            <a:r>
              <a:rPr b="1" lang="ru-RU" sz="900" spc="-1" strike="noStrike">
                <a:solidFill>
                  <a:srgbClr val="94a3f6"/>
                </a:solidFill>
                <a:latin typeface="Arial"/>
              </a:rPr>
              <a:t>OST rule: &gt;= 3 solutions per target opportunity (against confirmation bias)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5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16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[state the source]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Shape 0"/>
          <p:cNvSpPr/>
          <p:nvPr/>
        </p:nvSpPr>
        <p:spPr>
          <a:xfrm>
            <a:off x="0" y="0"/>
            <a:ext cx="319320" cy="5142960"/>
          </a:xfrm>
          <a:prstGeom prst="rect">
            <a:avLst/>
          </a:prstGeom>
          <a:solidFill>
            <a:srgbClr val="f5939e"/>
          </a:solidFill>
          <a:ln w="12700">
            <a:solidFill>
              <a:srgbClr val="f593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18" name="Text 1"/>
          <p:cNvSpPr/>
          <p:nvPr/>
        </p:nvSpPr>
        <p:spPr>
          <a:xfrm>
            <a:off x="548640" y="1737360"/>
            <a:ext cx="80460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395" strike="noStrike">
                <a:solidFill>
                  <a:srgbClr val="f5939e"/>
                </a:solidFill>
                <a:latin typeface="Calibri"/>
                <a:ea typeface="Calibri"/>
              </a:rPr>
              <a:t>SECTION 05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 2"/>
          <p:cNvSpPr/>
          <p:nvPr/>
        </p:nvSpPr>
        <p:spPr>
          <a:xfrm>
            <a:off x="548640" y="2148840"/>
            <a:ext cx="804600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  <a:ea typeface="Calibri"/>
              </a:rPr>
              <a:t>Alternative strategic scenario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1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Key changes to the scenario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f5939e"/>
                </a:solidFill>
                <a:latin typeface="Calibri"/>
                <a:ea typeface="Calibri"/>
              </a:rPr>
              <a:t>ALT. SCENARIO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4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the alternative scenario from task 13; scoring from task 14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Shape 5"/>
          <p:cNvSpPr/>
          <p:nvPr/>
        </p:nvSpPr>
        <p:spPr>
          <a:xfrm>
            <a:off x="365760" y="822960"/>
            <a:ext cx="3794040" cy="3466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6" name="Text 6"/>
          <p:cNvSpPr/>
          <p:nvPr/>
        </p:nvSpPr>
        <p:spPr>
          <a:xfrm>
            <a:off x="365760" y="822960"/>
            <a:ext cx="3794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CURRENT SCENARIO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Shape 7"/>
          <p:cNvSpPr/>
          <p:nvPr/>
        </p:nvSpPr>
        <p:spPr>
          <a:xfrm>
            <a:off x="4983480" y="822960"/>
            <a:ext cx="3794040" cy="346680"/>
          </a:xfrm>
          <a:prstGeom prst="rect">
            <a:avLst/>
          </a:prstGeom>
          <a:solidFill>
            <a:srgbClr val="f5939e"/>
          </a:solidFill>
          <a:ln w="12700">
            <a:solidFill>
              <a:srgbClr val="f593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8" name="Text 8"/>
          <p:cNvSpPr/>
          <p:nvPr/>
        </p:nvSpPr>
        <p:spPr>
          <a:xfrm>
            <a:off x="4983480" y="822960"/>
            <a:ext cx="3794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Calibri"/>
              </a:rPr>
              <a:t>NEW SCENARIO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Shape 9"/>
          <p:cNvSpPr/>
          <p:nvPr/>
        </p:nvSpPr>
        <p:spPr>
          <a:xfrm>
            <a:off x="365760" y="1234440"/>
            <a:ext cx="3794040" cy="7491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0" name="Text 10"/>
          <p:cNvSpPr/>
          <p:nvPr/>
        </p:nvSpPr>
        <p:spPr>
          <a:xfrm>
            <a:off x="457200" y="1234440"/>
            <a:ext cx="109656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Customer segment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 11"/>
          <p:cNvSpPr/>
          <p:nvPr/>
        </p:nvSpPr>
        <p:spPr>
          <a:xfrm>
            <a:off x="1554480" y="1234440"/>
            <a:ext cx="255960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f1020"/>
                </a:solidFill>
                <a:latin typeface="Calibri"/>
                <a:ea typeface="Calibri"/>
              </a:rPr>
              <a:t>[Segment in the current scenario]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Shape 12"/>
          <p:cNvSpPr/>
          <p:nvPr/>
        </p:nvSpPr>
        <p:spPr>
          <a:xfrm>
            <a:off x="4983480" y="1234440"/>
            <a:ext cx="3794040" cy="749160"/>
          </a:xfrm>
          <a:prstGeom prst="rect">
            <a:avLst/>
          </a:prstGeom>
          <a:solidFill>
            <a:srgbClr val="fff1f2"/>
          </a:solidFill>
          <a:ln w="10160">
            <a:solidFill>
              <a:srgbClr val="f593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3" name="Text 13"/>
          <p:cNvSpPr/>
          <p:nvPr/>
        </p:nvSpPr>
        <p:spPr>
          <a:xfrm>
            <a:off x="5074920" y="1234440"/>
            <a:ext cx="361116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f1020"/>
                </a:solidFill>
                <a:latin typeface="Calibri"/>
                <a:ea typeface="Calibri"/>
              </a:rPr>
              <a:t>[Segment in the alternative scenario — what changes]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 14"/>
          <p:cNvSpPr/>
          <p:nvPr/>
        </p:nvSpPr>
        <p:spPr>
          <a:xfrm>
            <a:off x="4206240" y="1435680"/>
            <a:ext cx="7308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5939e"/>
                </a:solidFill>
                <a:latin typeface="Calibri"/>
                <a:ea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15"/>
          <p:cNvSpPr/>
          <p:nvPr/>
        </p:nvSpPr>
        <p:spPr>
          <a:xfrm>
            <a:off x="365760" y="2130480"/>
            <a:ext cx="3794040" cy="7491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6" name="Text 16"/>
          <p:cNvSpPr/>
          <p:nvPr/>
        </p:nvSpPr>
        <p:spPr>
          <a:xfrm>
            <a:off x="457200" y="2130480"/>
            <a:ext cx="109656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Value proposition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Text 17"/>
          <p:cNvSpPr/>
          <p:nvPr/>
        </p:nvSpPr>
        <p:spPr>
          <a:xfrm>
            <a:off x="1554480" y="2130480"/>
            <a:ext cx="255960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f1020"/>
                </a:solidFill>
                <a:latin typeface="Calibri"/>
                <a:ea typeface="Calibri"/>
              </a:rPr>
              <a:t>"[Value proposition in the current scenario]"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Shape 18"/>
          <p:cNvSpPr/>
          <p:nvPr/>
        </p:nvSpPr>
        <p:spPr>
          <a:xfrm>
            <a:off x="4983480" y="2130480"/>
            <a:ext cx="3794040" cy="749160"/>
          </a:xfrm>
          <a:prstGeom prst="rect">
            <a:avLst/>
          </a:prstGeom>
          <a:solidFill>
            <a:srgbClr val="fff1f2"/>
          </a:solidFill>
          <a:ln w="10160">
            <a:solidFill>
              <a:srgbClr val="f593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9" name="Text 19"/>
          <p:cNvSpPr/>
          <p:nvPr/>
        </p:nvSpPr>
        <p:spPr>
          <a:xfrm>
            <a:off x="5074920" y="2130480"/>
            <a:ext cx="361116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f1020"/>
                </a:solidFill>
                <a:latin typeface="Calibri"/>
                <a:ea typeface="Calibri"/>
              </a:rPr>
              <a:t>"[Value proposition in the alternative scenario]"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Text 20"/>
          <p:cNvSpPr/>
          <p:nvPr/>
        </p:nvSpPr>
        <p:spPr>
          <a:xfrm>
            <a:off x="4206240" y="2331720"/>
            <a:ext cx="7308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5939e"/>
                </a:solidFill>
                <a:latin typeface="Calibri"/>
                <a:ea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Shape 21"/>
          <p:cNvSpPr/>
          <p:nvPr/>
        </p:nvSpPr>
        <p:spPr>
          <a:xfrm>
            <a:off x="365760" y="3026520"/>
            <a:ext cx="3794040" cy="7491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2" name="Text 22"/>
          <p:cNvSpPr/>
          <p:nvPr/>
        </p:nvSpPr>
        <p:spPr>
          <a:xfrm>
            <a:off x="457200" y="3026520"/>
            <a:ext cx="109656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Job-to-be-Done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 23"/>
          <p:cNvSpPr/>
          <p:nvPr/>
        </p:nvSpPr>
        <p:spPr>
          <a:xfrm>
            <a:off x="1554480" y="3026520"/>
            <a:ext cx="255960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f1020"/>
                </a:solidFill>
                <a:latin typeface="Calibri"/>
                <a:ea typeface="Calibri"/>
              </a:rPr>
              <a:t>[Job-to-be-Done in the current scenario]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Shape 24"/>
          <p:cNvSpPr/>
          <p:nvPr/>
        </p:nvSpPr>
        <p:spPr>
          <a:xfrm>
            <a:off x="4983480" y="3026520"/>
            <a:ext cx="3794040" cy="749160"/>
          </a:xfrm>
          <a:prstGeom prst="rect">
            <a:avLst/>
          </a:prstGeom>
          <a:solidFill>
            <a:srgbClr val="fff1f2"/>
          </a:solidFill>
          <a:ln w="10160">
            <a:solidFill>
              <a:srgbClr val="f593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5" name="Text 25"/>
          <p:cNvSpPr/>
          <p:nvPr/>
        </p:nvSpPr>
        <p:spPr>
          <a:xfrm>
            <a:off x="5074920" y="3026520"/>
            <a:ext cx="361116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f1020"/>
                </a:solidFill>
                <a:latin typeface="Calibri"/>
                <a:ea typeface="Calibri"/>
              </a:rPr>
              <a:t>[Job-to-be-Done in the alternative scenario]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 26"/>
          <p:cNvSpPr/>
          <p:nvPr/>
        </p:nvSpPr>
        <p:spPr>
          <a:xfrm>
            <a:off x="4206240" y="3227760"/>
            <a:ext cx="7308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5939e"/>
                </a:solidFill>
                <a:latin typeface="Calibri"/>
                <a:ea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Shape 27"/>
          <p:cNvSpPr/>
          <p:nvPr/>
        </p:nvSpPr>
        <p:spPr>
          <a:xfrm>
            <a:off x="365760" y="3922920"/>
            <a:ext cx="3794040" cy="74916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8" name="Text 28"/>
          <p:cNvSpPr/>
          <p:nvPr/>
        </p:nvSpPr>
        <p:spPr>
          <a:xfrm>
            <a:off x="457200" y="3922920"/>
            <a:ext cx="109656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Business model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Text 29"/>
          <p:cNvSpPr/>
          <p:nvPr/>
        </p:nvSpPr>
        <p:spPr>
          <a:xfrm>
            <a:off x="1554480" y="3922920"/>
            <a:ext cx="255960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f1020"/>
                </a:solidFill>
                <a:latin typeface="Calibri"/>
                <a:ea typeface="Calibri"/>
              </a:rPr>
              <a:t>[Business model in the current scenario: monetisation, ticket]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30"/>
          <p:cNvSpPr/>
          <p:nvPr/>
        </p:nvSpPr>
        <p:spPr>
          <a:xfrm>
            <a:off x="4983480" y="3922920"/>
            <a:ext cx="3794040" cy="749160"/>
          </a:xfrm>
          <a:prstGeom prst="rect">
            <a:avLst/>
          </a:prstGeom>
          <a:solidFill>
            <a:srgbClr val="fff1f2"/>
          </a:solidFill>
          <a:ln w="10160">
            <a:solidFill>
              <a:srgbClr val="f593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1" name="Text 31"/>
          <p:cNvSpPr/>
          <p:nvPr/>
        </p:nvSpPr>
        <p:spPr>
          <a:xfrm>
            <a:off x="5074920" y="3922920"/>
            <a:ext cx="361116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f1020"/>
                </a:solidFill>
                <a:latin typeface="Calibri"/>
                <a:ea typeface="Calibri"/>
              </a:rPr>
              <a:t>[Business model in the alternative scenario: what changes in the economics]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Text 32"/>
          <p:cNvSpPr/>
          <p:nvPr/>
        </p:nvSpPr>
        <p:spPr>
          <a:xfrm>
            <a:off x="4206240" y="4123800"/>
            <a:ext cx="7308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5939e"/>
                </a:solidFill>
                <a:latin typeface="Calibri"/>
                <a:ea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4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RICE prioritisation of opportunities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f5939e"/>
                </a:solidFill>
                <a:latin typeface="Calibri"/>
                <a:ea typeface="Calibri"/>
              </a:rPr>
              <a:t>ALT. SCENARIO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7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RICE = (Reach x Impact x Confidence) / Effort; task 14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Text 37"/>
          <p:cNvSpPr/>
          <p:nvPr/>
        </p:nvSpPr>
        <p:spPr>
          <a:xfrm>
            <a:off x="365760" y="777240"/>
            <a:ext cx="84117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94" strike="noStrike">
                <a:solidFill>
                  <a:srgbClr val="64748b"/>
                </a:solidFill>
                <a:latin typeface="Calibri"/>
                <a:ea typeface="Calibri"/>
              </a:rPr>
              <a:t>RICE PRIORITISATION OF OPPORTUNITIES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38"/>
          <p:cNvSpPr/>
          <p:nvPr/>
        </p:nvSpPr>
        <p:spPr>
          <a:xfrm>
            <a:off x="365760" y="1051560"/>
            <a:ext cx="3199680" cy="31932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0" name="Text 39"/>
          <p:cNvSpPr/>
          <p:nvPr/>
        </p:nvSpPr>
        <p:spPr>
          <a:xfrm>
            <a:off x="365760" y="1051560"/>
            <a:ext cx="3199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Opportunity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40"/>
          <p:cNvSpPr/>
          <p:nvPr/>
        </p:nvSpPr>
        <p:spPr>
          <a:xfrm>
            <a:off x="3602880" y="1051560"/>
            <a:ext cx="1005120" cy="31932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2" name="Text 41"/>
          <p:cNvSpPr/>
          <p:nvPr/>
        </p:nvSpPr>
        <p:spPr>
          <a:xfrm>
            <a:off x="3602880" y="1051560"/>
            <a:ext cx="10051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Reach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42"/>
          <p:cNvSpPr/>
          <p:nvPr/>
        </p:nvSpPr>
        <p:spPr>
          <a:xfrm>
            <a:off x="4645080" y="1051560"/>
            <a:ext cx="1005120" cy="31932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4" name="Text 43"/>
          <p:cNvSpPr/>
          <p:nvPr/>
        </p:nvSpPr>
        <p:spPr>
          <a:xfrm>
            <a:off x="4645080" y="1051560"/>
            <a:ext cx="10051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Impact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44"/>
          <p:cNvSpPr/>
          <p:nvPr/>
        </p:nvSpPr>
        <p:spPr>
          <a:xfrm>
            <a:off x="5687640" y="1051560"/>
            <a:ext cx="1370880" cy="31932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6" name="Text 45"/>
          <p:cNvSpPr/>
          <p:nvPr/>
        </p:nvSpPr>
        <p:spPr>
          <a:xfrm>
            <a:off x="5687640" y="1051560"/>
            <a:ext cx="1370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Confidence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46"/>
          <p:cNvSpPr/>
          <p:nvPr/>
        </p:nvSpPr>
        <p:spPr>
          <a:xfrm>
            <a:off x="7095600" y="1051560"/>
            <a:ext cx="913680" cy="31932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8" name="Text 47"/>
          <p:cNvSpPr/>
          <p:nvPr/>
        </p:nvSpPr>
        <p:spPr>
          <a:xfrm>
            <a:off x="7095600" y="1051560"/>
            <a:ext cx="913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Effort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48"/>
          <p:cNvSpPr/>
          <p:nvPr/>
        </p:nvSpPr>
        <p:spPr>
          <a:xfrm>
            <a:off x="8046720" y="1051560"/>
            <a:ext cx="1462320" cy="31932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70" name="Text 49"/>
          <p:cNvSpPr/>
          <p:nvPr/>
        </p:nvSpPr>
        <p:spPr>
          <a:xfrm>
            <a:off x="8046720" y="1051560"/>
            <a:ext cx="1462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  <a:ea typeface="Calibri"/>
              </a:rPr>
              <a:t>RICE Score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50"/>
          <p:cNvSpPr/>
          <p:nvPr/>
        </p:nvSpPr>
        <p:spPr>
          <a:xfrm>
            <a:off x="365760" y="1408320"/>
            <a:ext cx="3199680" cy="2736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72" name="Text 51"/>
          <p:cNvSpPr/>
          <p:nvPr/>
        </p:nvSpPr>
        <p:spPr>
          <a:xfrm>
            <a:off x="365760" y="140832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Opportunity A: [name] (OS=[N]) | R=[reach] x I=[impact] x C=[conf] / E=[effort] = [score] | 🔴 TOP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52"/>
          <p:cNvSpPr/>
          <p:nvPr/>
        </p:nvSpPr>
        <p:spPr>
          <a:xfrm>
            <a:off x="3602880" y="1408320"/>
            <a:ext cx="1005120" cy="2736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74" name="Text 53"/>
          <p:cNvSpPr/>
          <p:nvPr/>
        </p:nvSpPr>
        <p:spPr>
          <a:xfrm>
            <a:off x="3602880" y="1408320"/>
            <a:ext cx="1005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500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54"/>
          <p:cNvSpPr/>
          <p:nvPr/>
        </p:nvSpPr>
        <p:spPr>
          <a:xfrm>
            <a:off x="4645080" y="1408320"/>
            <a:ext cx="1005120" cy="2736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76" name="Text 55"/>
          <p:cNvSpPr/>
          <p:nvPr/>
        </p:nvSpPr>
        <p:spPr>
          <a:xfrm>
            <a:off x="4645080" y="1408320"/>
            <a:ext cx="1005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2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56"/>
          <p:cNvSpPr/>
          <p:nvPr/>
        </p:nvSpPr>
        <p:spPr>
          <a:xfrm>
            <a:off x="5687640" y="1408320"/>
            <a:ext cx="1370880" cy="2736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78" name="Text 57"/>
          <p:cNvSpPr/>
          <p:nvPr/>
        </p:nvSpPr>
        <p:spPr>
          <a:xfrm>
            <a:off x="5687640" y="1408320"/>
            <a:ext cx="1370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80%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58"/>
          <p:cNvSpPr/>
          <p:nvPr/>
        </p:nvSpPr>
        <p:spPr>
          <a:xfrm>
            <a:off x="7095600" y="1408320"/>
            <a:ext cx="913680" cy="2736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0" name="Text 59"/>
          <p:cNvSpPr/>
          <p:nvPr/>
        </p:nvSpPr>
        <p:spPr>
          <a:xfrm>
            <a:off x="7095600" y="1408320"/>
            <a:ext cx="913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2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Shape 60"/>
          <p:cNvSpPr/>
          <p:nvPr/>
        </p:nvSpPr>
        <p:spPr>
          <a:xfrm>
            <a:off x="8046720" y="1408320"/>
            <a:ext cx="1462320" cy="2736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2" name="Text 61"/>
          <p:cNvSpPr/>
          <p:nvPr/>
        </p:nvSpPr>
        <p:spPr>
          <a:xfrm>
            <a:off x="8046720" y="140832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94a3f6"/>
                </a:solidFill>
                <a:latin typeface="Calibri"/>
                <a:ea typeface="Calibri"/>
              </a:rPr>
              <a:t>400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62"/>
          <p:cNvSpPr/>
          <p:nvPr/>
        </p:nvSpPr>
        <p:spPr>
          <a:xfrm>
            <a:off x="365760" y="1719000"/>
            <a:ext cx="3199680" cy="27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4" name="Text 63"/>
          <p:cNvSpPr/>
          <p:nvPr/>
        </p:nvSpPr>
        <p:spPr>
          <a:xfrm>
            <a:off x="365760" y="171900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Opportunity B: [name] (OS=[N]) | R=[reach] x I=[impact] x C=[conf] / E=[effort] = [score] | 🟠 HIGH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Shape 64"/>
          <p:cNvSpPr/>
          <p:nvPr/>
        </p:nvSpPr>
        <p:spPr>
          <a:xfrm>
            <a:off x="3602880" y="1719000"/>
            <a:ext cx="1005120" cy="27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6" name="Text 65"/>
          <p:cNvSpPr/>
          <p:nvPr/>
        </p:nvSpPr>
        <p:spPr>
          <a:xfrm>
            <a:off x="3602880" y="1719000"/>
            <a:ext cx="1005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200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Shape 66"/>
          <p:cNvSpPr/>
          <p:nvPr/>
        </p:nvSpPr>
        <p:spPr>
          <a:xfrm>
            <a:off x="4645080" y="1719000"/>
            <a:ext cx="1005120" cy="27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8" name="Text 67"/>
          <p:cNvSpPr/>
          <p:nvPr/>
        </p:nvSpPr>
        <p:spPr>
          <a:xfrm>
            <a:off x="4645080" y="1719000"/>
            <a:ext cx="1005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3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Shape 68"/>
          <p:cNvSpPr/>
          <p:nvPr/>
        </p:nvSpPr>
        <p:spPr>
          <a:xfrm>
            <a:off x="5687640" y="1719000"/>
            <a:ext cx="1370880" cy="27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90" name="Text 69"/>
          <p:cNvSpPr/>
          <p:nvPr/>
        </p:nvSpPr>
        <p:spPr>
          <a:xfrm>
            <a:off x="5687640" y="1719000"/>
            <a:ext cx="1370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50%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Shape 70"/>
          <p:cNvSpPr/>
          <p:nvPr/>
        </p:nvSpPr>
        <p:spPr>
          <a:xfrm>
            <a:off x="7095600" y="1719000"/>
            <a:ext cx="913680" cy="27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92" name="Text 71"/>
          <p:cNvSpPr/>
          <p:nvPr/>
        </p:nvSpPr>
        <p:spPr>
          <a:xfrm>
            <a:off x="7095600" y="1719000"/>
            <a:ext cx="913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4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Shape 72"/>
          <p:cNvSpPr/>
          <p:nvPr/>
        </p:nvSpPr>
        <p:spPr>
          <a:xfrm>
            <a:off x="8046720" y="1719000"/>
            <a:ext cx="1462320" cy="27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94" name="Text 73"/>
          <p:cNvSpPr/>
          <p:nvPr/>
        </p:nvSpPr>
        <p:spPr>
          <a:xfrm>
            <a:off x="8046720" y="171900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94a3f6"/>
                </a:solidFill>
                <a:latin typeface="Calibri"/>
                <a:ea typeface="Calibri"/>
              </a:rPr>
              <a:t>75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Shape 74"/>
          <p:cNvSpPr/>
          <p:nvPr/>
        </p:nvSpPr>
        <p:spPr>
          <a:xfrm>
            <a:off x="365760" y="2030040"/>
            <a:ext cx="3199680" cy="2736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96" name="Text 75"/>
          <p:cNvSpPr/>
          <p:nvPr/>
        </p:nvSpPr>
        <p:spPr>
          <a:xfrm>
            <a:off x="365760" y="203004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Opportunity C: [name] (OS=[N]) | R=[reach] x I=[impact] x C=[conf] / E=[effort] = [score] | 🟡 MEDIUM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Shape 76"/>
          <p:cNvSpPr/>
          <p:nvPr/>
        </p:nvSpPr>
        <p:spPr>
          <a:xfrm>
            <a:off x="3602880" y="2030040"/>
            <a:ext cx="1005120" cy="2736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98" name="Text 77"/>
          <p:cNvSpPr/>
          <p:nvPr/>
        </p:nvSpPr>
        <p:spPr>
          <a:xfrm>
            <a:off x="3602880" y="2030040"/>
            <a:ext cx="1005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800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Shape 78"/>
          <p:cNvSpPr/>
          <p:nvPr/>
        </p:nvSpPr>
        <p:spPr>
          <a:xfrm>
            <a:off x="4645080" y="2030040"/>
            <a:ext cx="1005120" cy="2736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00" name="Text 79"/>
          <p:cNvSpPr/>
          <p:nvPr/>
        </p:nvSpPr>
        <p:spPr>
          <a:xfrm>
            <a:off x="4645080" y="2030040"/>
            <a:ext cx="1005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Shape 80"/>
          <p:cNvSpPr/>
          <p:nvPr/>
        </p:nvSpPr>
        <p:spPr>
          <a:xfrm>
            <a:off x="5687640" y="2030040"/>
            <a:ext cx="1370880" cy="2736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02" name="Text 81"/>
          <p:cNvSpPr/>
          <p:nvPr/>
        </p:nvSpPr>
        <p:spPr>
          <a:xfrm>
            <a:off x="5687640" y="2030040"/>
            <a:ext cx="1370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100%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82"/>
          <p:cNvSpPr/>
          <p:nvPr/>
        </p:nvSpPr>
        <p:spPr>
          <a:xfrm>
            <a:off x="7095600" y="2030040"/>
            <a:ext cx="913680" cy="2736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04" name="Text 83"/>
          <p:cNvSpPr/>
          <p:nvPr/>
        </p:nvSpPr>
        <p:spPr>
          <a:xfrm>
            <a:off x="7095600" y="2030040"/>
            <a:ext cx="913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748b"/>
                </a:solidFill>
                <a:latin typeface="Calibri"/>
                <a:ea typeface="Calibri"/>
              </a:rPr>
              <a:t>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Shape 84"/>
          <p:cNvSpPr/>
          <p:nvPr/>
        </p:nvSpPr>
        <p:spPr>
          <a:xfrm>
            <a:off x="8046720" y="2030040"/>
            <a:ext cx="1462320" cy="273600"/>
          </a:xfrm>
          <a:prstGeom prst="rect">
            <a:avLst/>
          </a:prstGeom>
          <a:solidFill>
            <a:srgbClr val="f4f5ff"/>
          </a:solidFill>
          <a:ln w="635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06" name="Text 85"/>
          <p:cNvSpPr/>
          <p:nvPr/>
        </p:nvSpPr>
        <p:spPr>
          <a:xfrm>
            <a:off x="8046720" y="203004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94a3f6"/>
                </a:solidFill>
                <a:latin typeface="Calibri"/>
                <a:ea typeface="Calibri"/>
              </a:rPr>
              <a:t>800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TextBox 87"/>
          <p:cNvSpPr/>
          <p:nvPr/>
        </p:nvSpPr>
        <p:spPr>
          <a:xfrm>
            <a:off x="365760" y="3154680"/>
            <a:ext cx="8411760" cy="1203480"/>
          </a:xfrm>
          <a:prstGeom prst="rect">
            <a:avLst/>
          </a:prstGeom>
          <a:solidFill>
            <a:srgbClr val="1a335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100" spc="-1" strike="noStrike">
                <a:solidFill>
                  <a:srgbClr val="94a3f6"/>
                </a:solidFill>
                <a:latin typeface="Calibri"/>
              </a:rPr>
              <a:t>RICE = (Reach × Impact × Confidence) / Effort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6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</a:rPr>
              <a:t>▸  </a:t>
            </a:r>
            <a:r>
              <a:rPr b="0" lang="en-US" sz="1000" spc="-1" strike="noStrike">
                <a:solidFill>
                  <a:srgbClr val="e2e8f0"/>
                </a:solidFill>
                <a:latin typeface="Calibri"/>
              </a:rPr>
              <a:t>Reach — people per month from the target segment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</a:rPr>
              <a:t>▸  </a:t>
            </a:r>
            <a:r>
              <a:rPr b="0" lang="en-US" sz="1000" spc="-1" strike="noStrike">
                <a:solidFill>
                  <a:srgbClr val="e2e8f0"/>
                </a:solidFill>
                <a:latin typeface="Calibri"/>
              </a:rPr>
              <a:t>Impact — derive it from the task 7 OS: OS &gt;= 15 → 3 | OS 10-14 → 2 | OS 6-9 → 1 | OS &lt; 6 → 0.5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</a:rPr>
              <a:t>▸  </a:t>
            </a:r>
            <a:r>
              <a:rPr b="0" lang="en-US" sz="1000" spc="-1" strike="noStrike">
                <a:solidFill>
                  <a:srgbClr val="e2e8f0"/>
                </a:solidFill>
                <a:latin typeface="Calibri"/>
              </a:rPr>
              <a:t>Confidence — 100% (data exists) / 80% (interviews) / 50% (hypothesis)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</a:rPr>
              <a:t>▸  </a:t>
            </a:r>
            <a:r>
              <a:rPr b="0" lang="en-US" sz="1000" spc="-1" strike="noStrike">
                <a:solidFill>
                  <a:srgbClr val="e2e8f0"/>
                </a:solidFill>
                <a:latin typeface="Calibri"/>
              </a:rPr>
              <a:t>Effort — person-months to build the solution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6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1000" spc="-1" strike="noStrike">
                <a:solidFill>
                  <a:srgbClr val="457e4a"/>
                </a:solidFill>
                <a:latin typeface="Calibri"/>
              </a:rPr>
              <a:t>The opportunity with the highest RICE score is the target for OST levels 3-4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09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Hypothesis pool + testing plan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f5939e"/>
                </a:solidFill>
                <a:latin typeface="Calibri"/>
                <a:ea typeface="Calibri"/>
              </a:rPr>
              <a:t>ALT. SCENARIO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ubtitle"/>
          <p:cNvSpPr/>
          <p:nvPr/>
        </p:nvSpPr>
        <p:spPr>
          <a:xfrm>
            <a:off x="365760" y="868680"/>
            <a:ext cx="8412120" cy="36540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1000" spc="-1" strike="noStrike">
                <a:solidFill>
                  <a:srgbClr val="94a3f6"/>
                </a:solidFill>
                <a:latin typeface="Arial"/>
              </a:rPr>
              <a:t>TOP 3 RISKY HYPOTHESES — the order to test them in before the first sales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HypHead0"/>
          <p:cNvSpPr/>
          <p:nvPr/>
        </p:nvSpPr>
        <p:spPr>
          <a:xfrm>
            <a:off x="365760" y="1325880"/>
            <a:ext cx="2706120" cy="594000"/>
          </a:xfrm>
          <a:prstGeom prst="rect">
            <a:avLst/>
          </a:prstGeom>
          <a:solidFill>
            <a:srgbClr val="e5737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e8eaf6"/>
                </a:solidFill>
                <a:latin typeface="Arial"/>
              </a:rPr>
              <a:t>HYPOTHESIS 1</a:t>
            </a:r>
            <a:r>
              <a:rPr b="1" lang="ru-RU" sz="900" spc="-1" strike="noStrike">
                <a:solidFill>
                  <a:srgbClr val="ffffff"/>
                </a:solidFill>
                <a:latin typeface="Arial"/>
              </a:rPr>
              <a:t>  ·  Need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[RISK]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HypBody0"/>
          <p:cNvSpPr/>
          <p:nvPr/>
        </p:nvSpPr>
        <p:spPr>
          <a:xfrm>
            <a:off x="365760" y="1920240"/>
            <a:ext cx="2706120" cy="2011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91440" bIns="91440" anchor="t">
            <a:noAutofit/>
          </a:bodyPr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STATEMENT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[Hypothesis 1 — stated as "segment is willing to do X for Y"]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METHOD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[Test method: interviews / Smoke Test / Wizard of Oz / and so on]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4a8a4f"/>
                </a:solidFill>
                <a:latin typeface="Arial"/>
              </a:rPr>
              <a:t>CRITERION ✅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[Success criterion: a quantitative threshold]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HypFoot0"/>
          <p:cNvSpPr/>
          <p:nvPr/>
        </p:nvSpPr>
        <p:spPr>
          <a:xfrm>
            <a:off x="365760" y="3931920"/>
            <a:ext cx="2706120" cy="411120"/>
          </a:xfrm>
          <a:prstGeom prst="rect">
            <a:avLst/>
          </a:prstGeom>
          <a:solidFill>
            <a:srgbClr val="1a1f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</a:pPr>
            <a:r>
              <a:rPr b="0" lang="ru-RU" sz="800" spc="-1" strike="noStrike">
                <a:solidFill>
                  <a:srgbClr val="e8eaf6"/>
                </a:solidFill>
                <a:latin typeface="Arial"/>
              </a:rPr>
              <a:t>TIMEFRAME: </a:t>
            </a:r>
            <a:r>
              <a:rPr b="1" lang="ru-RU" sz="900" spc="-1" strike="noStrike">
                <a:solidFill>
                  <a:srgbClr val="ffffff"/>
                </a:solidFill>
                <a:latin typeface="Arial"/>
              </a:rPr>
              <a:t>[X days]</a:t>
            </a:r>
            <a:r>
              <a:rPr b="0" lang="ru-RU" sz="900" spc="-1" strike="noStrike">
                <a:solidFill>
                  <a:srgbClr val="94a3f6"/>
                </a:solidFill>
                <a:latin typeface="Arial"/>
              </a:rPr>
              <a:t>   |   </a:t>
            </a:r>
            <a:r>
              <a:rPr b="0" lang="ru-RU" sz="800" spc="-1" strike="noStrike">
                <a:solidFill>
                  <a:srgbClr val="e8eaf6"/>
                </a:solidFill>
                <a:latin typeface="Arial"/>
              </a:rPr>
              <a:t>BUDGET: </a:t>
            </a:r>
            <a:r>
              <a:rPr b="1" lang="ru-RU" sz="900" spc="-1" strike="noStrike">
                <a:solidFill>
                  <a:srgbClr val="ffffff"/>
                </a:solidFill>
                <a:latin typeface="Arial"/>
              </a:rPr>
              <a:t>[X RUB]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5" name="HypHead1"/>
          <p:cNvSpPr/>
          <p:nvPr/>
        </p:nvSpPr>
        <p:spPr>
          <a:xfrm>
            <a:off x="3127320" y="1325880"/>
            <a:ext cx="2706120" cy="594000"/>
          </a:xfrm>
          <a:prstGeom prst="rect">
            <a:avLst/>
          </a:prstGeom>
          <a:solidFill>
            <a:srgbClr val="e5737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e8eaf6"/>
                </a:solidFill>
                <a:latin typeface="Arial"/>
              </a:rPr>
              <a:t>HYPOTHESIS 2</a:t>
            </a:r>
            <a:r>
              <a:rPr b="1" lang="ru-RU" sz="900" spc="-1" strike="noStrike">
                <a:solidFill>
                  <a:srgbClr val="ffffff"/>
                </a:solidFill>
                <a:latin typeface="Arial"/>
              </a:rPr>
              <a:t>  ·  Demand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[RISK]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6" name="HypBody1"/>
          <p:cNvSpPr/>
          <p:nvPr/>
        </p:nvSpPr>
        <p:spPr>
          <a:xfrm>
            <a:off x="3127320" y="1920240"/>
            <a:ext cx="2706120" cy="2011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91440" bIns="91440" anchor="t">
            <a:noAutofit/>
          </a:bodyPr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STATEMENT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[Hypothesis 2 — statement]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METHOD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[Test method]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4a8a4f"/>
                </a:solidFill>
                <a:latin typeface="Arial"/>
              </a:rPr>
              <a:t>CRITERION ✅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[Success criterion]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HypFoot1"/>
          <p:cNvSpPr/>
          <p:nvPr/>
        </p:nvSpPr>
        <p:spPr>
          <a:xfrm>
            <a:off x="3127320" y="3931920"/>
            <a:ext cx="2706120" cy="411120"/>
          </a:xfrm>
          <a:prstGeom prst="rect">
            <a:avLst/>
          </a:prstGeom>
          <a:solidFill>
            <a:srgbClr val="1a1f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</a:pPr>
            <a:r>
              <a:rPr b="0" lang="ru-RU" sz="800" spc="-1" strike="noStrike">
                <a:solidFill>
                  <a:srgbClr val="e8eaf6"/>
                </a:solidFill>
                <a:latin typeface="Arial"/>
              </a:rPr>
              <a:t>TIMEFRAME: </a:t>
            </a:r>
            <a:r>
              <a:rPr b="1" lang="ru-RU" sz="900" spc="-1" strike="noStrike">
                <a:solidFill>
                  <a:srgbClr val="ffffff"/>
                </a:solidFill>
                <a:latin typeface="Arial"/>
              </a:rPr>
              <a:t>[X days]</a:t>
            </a:r>
            <a:r>
              <a:rPr b="0" lang="ru-RU" sz="900" spc="-1" strike="noStrike">
                <a:solidFill>
                  <a:srgbClr val="94a3f6"/>
                </a:solidFill>
                <a:latin typeface="Arial"/>
              </a:rPr>
              <a:t>   |   </a:t>
            </a:r>
            <a:r>
              <a:rPr b="0" lang="ru-RU" sz="800" spc="-1" strike="noStrike">
                <a:solidFill>
                  <a:srgbClr val="e8eaf6"/>
                </a:solidFill>
                <a:latin typeface="Arial"/>
              </a:rPr>
              <a:t>BUDGET: </a:t>
            </a:r>
            <a:r>
              <a:rPr b="1" lang="ru-RU" sz="900" spc="-1" strike="noStrike">
                <a:solidFill>
                  <a:srgbClr val="ffffff"/>
                </a:solidFill>
                <a:latin typeface="Arial"/>
              </a:rPr>
              <a:t>[X RUB]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8" name="HypHead2"/>
          <p:cNvSpPr/>
          <p:nvPr/>
        </p:nvSpPr>
        <p:spPr>
          <a:xfrm>
            <a:off x="5888880" y="1325880"/>
            <a:ext cx="2706120" cy="594000"/>
          </a:xfrm>
          <a:prstGeom prst="rect">
            <a:avLst/>
          </a:prstGeom>
          <a:solidFill>
            <a:srgbClr val="d68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e8eaf6"/>
                </a:solidFill>
                <a:latin typeface="Arial"/>
              </a:rPr>
              <a:t>HYPOTHESIS 3</a:t>
            </a:r>
            <a:r>
              <a:rPr b="1" lang="ru-RU" sz="900" spc="-1" strike="noStrike">
                <a:solidFill>
                  <a:srgbClr val="ffffff"/>
                </a:solidFill>
                <a:latin typeface="Arial"/>
              </a:rPr>
              <a:t>  ·  Value / Channel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ffffff"/>
                </a:solidFill>
                <a:latin typeface="Arial"/>
              </a:rPr>
              <a:t>[RISK]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9" name="HypBody2"/>
          <p:cNvSpPr/>
          <p:nvPr/>
        </p:nvSpPr>
        <p:spPr>
          <a:xfrm>
            <a:off x="5888880" y="1920240"/>
            <a:ext cx="2706120" cy="2011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91440" bIns="91440" anchor="t">
            <a:noAutofit/>
          </a:bodyPr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STATEMENT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[Hypothesis 3 — statement]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94a3f6"/>
                </a:solidFill>
                <a:latin typeface="Arial"/>
              </a:rPr>
              <a:t>METHOD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[Test method]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800" spc="-1" strike="noStrike">
                <a:solidFill>
                  <a:srgbClr val="4a8a4f"/>
                </a:solidFill>
                <a:latin typeface="Arial"/>
              </a:rPr>
              <a:t>CRITERION ✅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[Success criterion]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HypFoot2"/>
          <p:cNvSpPr/>
          <p:nvPr/>
        </p:nvSpPr>
        <p:spPr>
          <a:xfrm>
            <a:off x="5888880" y="3931920"/>
            <a:ext cx="2706120" cy="411120"/>
          </a:xfrm>
          <a:prstGeom prst="rect">
            <a:avLst/>
          </a:prstGeom>
          <a:solidFill>
            <a:srgbClr val="1a1f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</a:pPr>
            <a:r>
              <a:rPr b="0" lang="ru-RU" sz="800" spc="-1" strike="noStrike">
                <a:solidFill>
                  <a:srgbClr val="e8eaf6"/>
                </a:solidFill>
                <a:latin typeface="Arial"/>
              </a:rPr>
              <a:t>TIMEFRAME: </a:t>
            </a:r>
            <a:r>
              <a:rPr b="1" lang="ru-RU" sz="900" spc="-1" strike="noStrike">
                <a:solidFill>
                  <a:srgbClr val="ffffff"/>
                </a:solidFill>
                <a:latin typeface="Arial"/>
              </a:rPr>
              <a:t>[X days]</a:t>
            </a:r>
            <a:r>
              <a:rPr b="0" lang="ru-RU" sz="900" spc="-1" strike="noStrike">
                <a:solidFill>
                  <a:srgbClr val="94a3f6"/>
                </a:solidFill>
                <a:latin typeface="Arial"/>
              </a:rPr>
              <a:t>   |   </a:t>
            </a:r>
            <a:r>
              <a:rPr b="0" lang="ru-RU" sz="800" spc="-1" strike="noStrike">
                <a:solidFill>
                  <a:srgbClr val="e8eaf6"/>
                </a:solidFill>
                <a:latin typeface="Arial"/>
              </a:rPr>
              <a:t>BUDGET: </a:t>
            </a:r>
            <a:r>
              <a:rPr b="1" lang="ru-RU" sz="900" spc="-1" strike="noStrike">
                <a:solidFill>
                  <a:srgbClr val="ffffff"/>
                </a:solidFill>
                <a:latin typeface="Arial"/>
              </a:rPr>
              <a:t>[X RUB]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1" name="Rule"/>
          <p:cNvSpPr/>
          <p:nvPr/>
        </p:nvSpPr>
        <p:spPr>
          <a:xfrm>
            <a:off x="365760" y="4434840"/>
            <a:ext cx="8412120" cy="36540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73080" b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900" spc="-1" strike="noStrike">
                <a:solidFill>
                  <a:srgbClr val="94a3f6"/>
                </a:solidFill>
                <a:latin typeface="Arial"/>
              </a:rPr>
              <a:t>▸ </a:t>
            </a:r>
            <a:r>
              <a:rPr b="1" lang="ru-RU" sz="900" spc="-1" strike="noStrike">
                <a:solidFill>
                  <a:srgbClr val="94a3f6"/>
                </a:solidFill>
                <a:latin typeface="Arial"/>
              </a:rPr>
              <a:t>TEST ORDER: </a:t>
            </a:r>
            <a:r>
              <a:rPr b="0" lang="ru-RU" sz="900" spc="-1" strike="noStrike">
                <a:solidFill>
                  <a:srgbClr val="ffffff"/>
                </a:solidFill>
                <a:latin typeface="Arial"/>
              </a:rPr>
              <a:t>[Test order: H1 → H2 → H3, with the dependencies stated]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2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23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[state the source]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Shape 0"/>
          <p:cNvSpPr/>
          <p:nvPr/>
        </p:nvSpPr>
        <p:spPr>
          <a:xfrm>
            <a:off x="0" y="0"/>
            <a:ext cx="319320" cy="514296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25" name="Text 1"/>
          <p:cNvSpPr/>
          <p:nvPr/>
        </p:nvSpPr>
        <p:spPr>
          <a:xfrm>
            <a:off x="548640" y="1737360"/>
            <a:ext cx="80460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395" strike="noStrike">
                <a:solidFill>
                  <a:srgbClr val="457e4a"/>
                </a:solidFill>
                <a:latin typeface="Calibri"/>
                <a:ea typeface="Calibri"/>
              </a:rPr>
              <a:t>SECTION 06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Text 2"/>
          <p:cNvSpPr/>
          <p:nvPr/>
        </p:nvSpPr>
        <p:spPr>
          <a:xfrm>
            <a:off x="548640" y="2148840"/>
            <a:ext cx="804600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  <a:ea typeface="Calibri"/>
              </a:rPr>
              <a:t>PMF metrics and next steps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28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PMF indicators by phase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457e4a"/>
                </a:solidFill>
                <a:latin typeface="Calibri"/>
                <a:ea typeface="Calibri"/>
              </a:rPr>
              <a:t>PMF METRICS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31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Sean Ellis Test; industry benchmarks (a16z, B2B SaaS); task 17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Text 5"/>
          <p:cNvSpPr/>
          <p:nvPr/>
        </p:nvSpPr>
        <p:spPr>
          <a:xfrm>
            <a:off x="365760" y="777240"/>
            <a:ext cx="8411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4" strike="noStrike">
                <a:solidFill>
                  <a:srgbClr val="457e4a"/>
                </a:solidFill>
                <a:latin typeface="Calibri"/>
                <a:ea typeface="Calibri"/>
              </a:rPr>
              <a:t>CRITERIA FOR MOVING BETWEEN PHASES: VERIFICATION → VALUE VALIDATION → SCALING VALIDATION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Shape 6"/>
          <p:cNvSpPr/>
          <p:nvPr/>
        </p:nvSpPr>
        <p:spPr>
          <a:xfrm>
            <a:off x="365760" y="1051560"/>
            <a:ext cx="2742480" cy="34668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34" name="Text 7"/>
          <p:cNvSpPr/>
          <p:nvPr/>
        </p:nvSpPr>
        <p:spPr>
          <a:xfrm>
            <a:off x="365760" y="1051560"/>
            <a:ext cx="27424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94" strike="noStrike">
                <a:solidFill>
                  <a:srgbClr val="ffffff"/>
                </a:solidFill>
                <a:latin typeface="Calibri"/>
                <a:ea typeface="Calibri"/>
              </a:rPr>
              <a:t>VERIFICATION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Shape 8"/>
          <p:cNvSpPr/>
          <p:nvPr/>
        </p:nvSpPr>
        <p:spPr>
          <a:xfrm>
            <a:off x="365760" y="1444680"/>
            <a:ext cx="2742480" cy="95940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36" name="Shape 9"/>
          <p:cNvSpPr/>
          <p:nvPr/>
        </p:nvSpPr>
        <p:spPr>
          <a:xfrm>
            <a:off x="365760" y="1444680"/>
            <a:ext cx="2742480" cy="45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37" name="Text 10"/>
          <p:cNvSpPr/>
          <p:nvPr/>
        </p:nvSpPr>
        <p:spPr>
          <a:xfrm>
            <a:off x="457200" y="1536120"/>
            <a:ext cx="2559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Pain confirmed (interviews)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Text 11"/>
          <p:cNvSpPr/>
          <p:nvPr/>
        </p:nvSpPr>
        <p:spPr>
          <a:xfrm>
            <a:off x="457200" y="1901880"/>
            <a:ext cx="2559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94a3f6"/>
                </a:solidFill>
                <a:latin typeface="Calibri"/>
                <a:ea typeface="Calibri"/>
              </a:rPr>
              <a:t>7 of 10 describe the same pain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Shape 12"/>
          <p:cNvSpPr/>
          <p:nvPr/>
        </p:nvSpPr>
        <p:spPr>
          <a:xfrm>
            <a:off x="365760" y="2496240"/>
            <a:ext cx="2742480" cy="95940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40" name="Shape 13"/>
          <p:cNvSpPr/>
          <p:nvPr/>
        </p:nvSpPr>
        <p:spPr>
          <a:xfrm>
            <a:off x="365760" y="2496240"/>
            <a:ext cx="2742480" cy="45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41" name="Text 14"/>
          <p:cNvSpPr/>
          <p:nvPr/>
        </p:nvSpPr>
        <p:spPr>
          <a:xfrm>
            <a:off x="457200" y="2587680"/>
            <a:ext cx="2559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Smoke test conversion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Text 15"/>
          <p:cNvSpPr/>
          <p:nvPr/>
        </p:nvSpPr>
        <p:spPr>
          <a:xfrm>
            <a:off x="457200" y="2953440"/>
            <a:ext cx="2559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94a3f6"/>
                </a:solidFill>
                <a:latin typeface="Calibri"/>
                <a:ea typeface="Calibri"/>
              </a:rPr>
              <a:t>≥ </a:t>
            </a:r>
            <a:r>
              <a:rPr b="1" lang="en-US" sz="1000" spc="-1" strike="noStrike">
                <a:solidFill>
                  <a:srgbClr val="94a3f6"/>
                </a:solidFill>
                <a:latin typeface="Calibri"/>
                <a:ea typeface="Calibri"/>
              </a:rPr>
              <a:t>1-5% B2B / &gt;= 3-8% B2C — see task 16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Shape 16"/>
          <p:cNvSpPr/>
          <p:nvPr/>
        </p:nvSpPr>
        <p:spPr>
          <a:xfrm>
            <a:off x="365760" y="3547800"/>
            <a:ext cx="2742480" cy="95940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44" name="Shape 17"/>
          <p:cNvSpPr/>
          <p:nvPr/>
        </p:nvSpPr>
        <p:spPr>
          <a:xfrm>
            <a:off x="365760" y="3547800"/>
            <a:ext cx="2742480" cy="4500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45" name="Text 18"/>
          <p:cNvSpPr/>
          <p:nvPr/>
        </p:nvSpPr>
        <p:spPr>
          <a:xfrm>
            <a:off x="457200" y="3639240"/>
            <a:ext cx="2559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Top Opportunity Score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Text 19"/>
          <p:cNvSpPr/>
          <p:nvPr/>
        </p:nvSpPr>
        <p:spPr>
          <a:xfrm>
            <a:off x="457200" y="4005000"/>
            <a:ext cx="2559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94a3f6"/>
                </a:solidFill>
                <a:latin typeface="Calibri"/>
                <a:ea typeface="Calibri"/>
              </a:rPr>
              <a:t>OS ≥ 15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 20"/>
          <p:cNvSpPr/>
          <p:nvPr/>
        </p:nvSpPr>
        <p:spPr>
          <a:xfrm>
            <a:off x="3108960" y="1828800"/>
            <a:ext cx="1364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e8eaf6"/>
                </a:solidFill>
                <a:latin typeface="Calibri"/>
                <a:ea typeface="Calibri"/>
              </a:rPr>
              <a:t>→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Shape 21"/>
          <p:cNvSpPr/>
          <p:nvPr/>
        </p:nvSpPr>
        <p:spPr>
          <a:xfrm>
            <a:off x="3246120" y="1051560"/>
            <a:ext cx="2742480" cy="346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49" name="Text 22"/>
          <p:cNvSpPr/>
          <p:nvPr/>
        </p:nvSpPr>
        <p:spPr>
          <a:xfrm>
            <a:off x="3246120" y="1051560"/>
            <a:ext cx="27424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94" strike="noStrike">
                <a:solidFill>
                  <a:srgbClr val="ffffff"/>
                </a:solidFill>
                <a:latin typeface="Calibri"/>
                <a:ea typeface="Calibri"/>
              </a:rPr>
              <a:t>VALUE VALIDATION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23"/>
          <p:cNvSpPr/>
          <p:nvPr/>
        </p:nvSpPr>
        <p:spPr>
          <a:xfrm>
            <a:off x="3246120" y="1444680"/>
            <a:ext cx="2742480" cy="95940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51" name="Shape 24"/>
          <p:cNvSpPr/>
          <p:nvPr/>
        </p:nvSpPr>
        <p:spPr>
          <a:xfrm>
            <a:off x="3246120" y="1444680"/>
            <a:ext cx="2742480" cy="45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52" name="Text 25"/>
          <p:cNvSpPr/>
          <p:nvPr/>
        </p:nvSpPr>
        <p:spPr>
          <a:xfrm>
            <a:off x="3337560" y="1536120"/>
            <a:ext cx="2559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Sean Ellis Test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Text 26"/>
          <p:cNvSpPr/>
          <p:nvPr/>
        </p:nvSpPr>
        <p:spPr>
          <a:xfrm>
            <a:off x="3337560" y="1901880"/>
            <a:ext cx="2559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d9488"/>
                </a:solidFill>
                <a:latin typeface="Calibri"/>
                <a:ea typeface="Calibri"/>
              </a:rPr>
              <a:t>≥ </a:t>
            </a:r>
            <a:r>
              <a:rPr b="1" lang="en-US" sz="1000" spc="-1" strike="noStrike">
                <a:solidFill>
                  <a:srgbClr val="0d9488"/>
                </a:solidFill>
                <a:latin typeface="Calibri"/>
                <a:ea typeface="Calibri"/>
              </a:rPr>
              <a:t>40% "very disappointed" without the product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27"/>
          <p:cNvSpPr/>
          <p:nvPr/>
        </p:nvSpPr>
        <p:spPr>
          <a:xfrm>
            <a:off x="3246120" y="2496240"/>
            <a:ext cx="2742480" cy="95940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55" name="Shape 28"/>
          <p:cNvSpPr/>
          <p:nvPr/>
        </p:nvSpPr>
        <p:spPr>
          <a:xfrm>
            <a:off x="3246120" y="2496240"/>
            <a:ext cx="2742480" cy="45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56" name="Text 29"/>
          <p:cNvSpPr/>
          <p:nvPr/>
        </p:nvSpPr>
        <p:spPr>
          <a:xfrm>
            <a:off x="3337560" y="2587680"/>
            <a:ext cx="2559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NPS of the first users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Text 30"/>
          <p:cNvSpPr/>
          <p:nvPr/>
        </p:nvSpPr>
        <p:spPr>
          <a:xfrm>
            <a:off x="3337560" y="2953440"/>
            <a:ext cx="2559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d9488"/>
                </a:solidFill>
                <a:latin typeface="Calibri"/>
                <a:ea typeface="Calibri"/>
              </a:rPr>
              <a:t>≥ </a:t>
            </a:r>
            <a:r>
              <a:rPr b="1" lang="en-US" sz="1000" spc="-1" strike="noStrike">
                <a:solidFill>
                  <a:srgbClr val="0d9488"/>
                </a:solidFill>
                <a:latin typeface="Calibri"/>
                <a:ea typeface="Calibri"/>
              </a:rPr>
              <a:t>40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31"/>
          <p:cNvSpPr/>
          <p:nvPr/>
        </p:nvSpPr>
        <p:spPr>
          <a:xfrm>
            <a:off x="3246120" y="3547800"/>
            <a:ext cx="2742480" cy="95940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59" name="Shape 32"/>
          <p:cNvSpPr/>
          <p:nvPr/>
        </p:nvSpPr>
        <p:spPr>
          <a:xfrm>
            <a:off x="3246120" y="3547800"/>
            <a:ext cx="2742480" cy="45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60" name="Text 33"/>
          <p:cNvSpPr/>
          <p:nvPr/>
        </p:nvSpPr>
        <p:spPr>
          <a:xfrm>
            <a:off x="3337560" y="3639240"/>
            <a:ext cx="2559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Retention (month 1)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Text 34"/>
          <p:cNvSpPr/>
          <p:nvPr/>
        </p:nvSpPr>
        <p:spPr>
          <a:xfrm>
            <a:off x="3337560" y="4005000"/>
            <a:ext cx="2559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d9488"/>
                </a:solidFill>
                <a:latin typeface="Calibri"/>
                <a:ea typeface="Calibri"/>
              </a:rPr>
              <a:t>≥ </a:t>
            </a:r>
            <a:r>
              <a:rPr b="1" lang="en-US" sz="1000" spc="-1" strike="noStrike">
                <a:solidFill>
                  <a:srgbClr val="0d9488"/>
                </a:solidFill>
                <a:latin typeface="Calibri"/>
                <a:ea typeface="Calibri"/>
              </a:rPr>
              <a:t>25% consumer / ≥ 40% B2B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Text 35"/>
          <p:cNvSpPr/>
          <p:nvPr/>
        </p:nvSpPr>
        <p:spPr>
          <a:xfrm>
            <a:off x="5989320" y="1828800"/>
            <a:ext cx="1364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e8eaf6"/>
                </a:solidFill>
                <a:latin typeface="Calibri"/>
                <a:ea typeface="Calibri"/>
              </a:rPr>
              <a:t>→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Shape 36"/>
          <p:cNvSpPr/>
          <p:nvPr/>
        </p:nvSpPr>
        <p:spPr>
          <a:xfrm>
            <a:off x="6126480" y="1051560"/>
            <a:ext cx="2742480" cy="34668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64" name="Text 37"/>
          <p:cNvSpPr/>
          <p:nvPr/>
        </p:nvSpPr>
        <p:spPr>
          <a:xfrm>
            <a:off x="6126480" y="1051560"/>
            <a:ext cx="27424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94" strike="noStrike">
                <a:solidFill>
                  <a:srgbClr val="ffffff"/>
                </a:solidFill>
                <a:latin typeface="Calibri"/>
                <a:ea typeface="Calibri"/>
              </a:rPr>
              <a:t>SCALING VALIDATION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Shape 38"/>
          <p:cNvSpPr/>
          <p:nvPr/>
        </p:nvSpPr>
        <p:spPr>
          <a:xfrm>
            <a:off x="6126480" y="1444680"/>
            <a:ext cx="2742480" cy="95940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66" name="Shape 39"/>
          <p:cNvSpPr/>
          <p:nvPr/>
        </p:nvSpPr>
        <p:spPr>
          <a:xfrm>
            <a:off x="6126480" y="1444680"/>
            <a:ext cx="2742480" cy="45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67" name="Text 40"/>
          <p:cNvSpPr/>
          <p:nvPr/>
        </p:nvSpPr>
        <p:spPr>
          <a:xfrm>
            <a:off x="6217920" y="1536120"/>
            <a:ext cx="2559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Retention (month 3)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Text 41"/>
          <p:cNvSpPr/>
          <p:nvPr/>
        </p:nvSpPr>
        <p:spPr>
          <a:xfrm>
            <a:off x="6217920" y="1901880"/>
            <a:ext cx="2559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457e4a"/>
                </a:solidFill>
                <a:latin typeface="Calibri"/>
                <a:ea typeface="Calibri"/>
              </a:rPr>
              <a:t>≥ </a:t>
            </a:r>
            <a:r>
              <a:rPr b="1" lang="en-US" sz="1000" spc="-1" strike="noStrike">
                <a:solidFill>
                  <a:srgbClr val="457e4a"/>
                </a:solidFill>
                <a:latin typeface="Calibri"/>
                <a:ea typeface="Calibri"/>
              </a:rPr>
              <a:t>30% consumer / ≥ 50% B2B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Shape 42"/>
          <p:cNvSpPr/>
          <p:nvPr/>
        </p:nvSpPr>
        <p:spPr>
          <a:xfrm>
            <a:off x="6126480" y="2496240"/>
            <a:ext cx="2742480" cy="95940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70" name="Shape 43"/>
          <p:cNvSpPr/>
          <p:nvPr/>
        </p:nvSpPr>
        <p:spPr>
          <a:xfrm>
            <a:off x="6126480" y="2496240"/>
            <a:ext cx="2742480" cy="45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71" name="Text 44"/>
          <p:cNvSpPr/>
          <p:nvPr/>
        </p:nvSpPr>
        <p:spPr>
          <a:xfrm>
            <a:off x="6217920" y="2587680"/>
            <a:ext cx="2559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LTV / CAC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Text 45"/>
          <p:cNvSpPr/>
          <p:nvPr/>
        </p:nvSpPr>
        <p:spPr>
          <a:xfrm>
            <a:off x="6217920" y="2953440"/>
            <a:ext cx="2559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457e4a"/>
                </a:solidFill>
                <a:latin typeface="Calibri"/>
                <a:ea typeface="Calibri"/>
              </a:rPr>
              <a:t>≥ </a:t>
            </a:r>
            <a:r>
              <a:rPr b="1" lang="en-US" sz="1000" spc="-1" strike="noStrike">
                <a:solidFill>
                  <a:srgbClr val="457e4a"/>
                </a:solidFill>
                <a:latin typeface="Calibri"/>
                <a:ea typeface="Calibri"/>
              </a:rPr>
              <a:t>3x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Shape 46"/>
          <p:cNvSpPr/>
          <p:nvPr/>
        </p:nvSpPr>
        <p:spPr>
          <a:xfrm>
            <a:off x="6126480" y="3547800"/>
            <a:ext cx="2742480" cy="959400"/>
          </a:xfrm>
          <a:prstGeom prst="rect">
            <a:avLst/>
          </a:prstGeom>
          <a:solidFill>
            <a:srgbClr val="f4f5ff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74" name="Shape 47"/>
          <p:cNvSpPr/>
          <p:nvPr/>
        </p:nvSpPr>
        <p:spPr>
          <a:xfrm>
            <a:off x="6126480" y="3547800"/>
            <a:ext cx="2742480" cy="4500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75" name="Text 48"/>
          <p:cNvSpPr/>
          <p:nvPr/>
        </p:nvSpPr>
        <p:spPr>
          <a:xfrm>
            <a:off x="6217920" y="3639240"/>
            <a:ext cx="2559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f1020"/>
                </a:solidFill>
                <a:latin typeface="Calibri"/>
                <a:ea typeface="Calibri"/>
              </a:rPr>
              <a:t>Organic growth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 49"/>
          <p:cNvSpPr/>
          <p:nvPr/>
        </p:nvSpPr>
        <p:spPr>
          <a:xfrm>
            <a:off x="6217920" y="4005000"/>
            <a:ext cx="2559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457e4a"/>
                </a:solidFill>
                <a:latin typeface="Calibri"/>
                <a:ea typeface="Calibri"/>
              </a:rPr>
              <a:t>≥ </a:t>
            </a:r>
            <a:r>
              <a:rPr b="1" lang="en-US" sz="1000" spc="-1" strike="noStrike">
                <a:solidFill>
                  <a:srgbClr val="457e4a"/>
                </a:solidFill>
                <a:latin typeface="Calibri"/>
                <a:ea typeface="Calibri"/>
              </a:rPr>
              <a:t>20% of new users from referrals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Shape 50"/>
          <p:cNvSpPr/>
          <p:nvPr/>
        </p:nvSpPr>
        <p:spPr>
          <a:xfrm>
            <a:off x="365760" y="4544640"/>
            <a:ext cx="8411760" cy="319320"/>
          </a:xfrm>
          <a:prstGeom prst="rect">
            <a:avLst/>
          </a:prstGeom>
          <a:solidFill>
            <a:srgbClr val="ccfbf1"/>
          </a:solidFill>
          <a:ln w="635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78" name="Text 51"/>
          <p:cNvSpPr/>
          <p:nvPr/>
        </p:nvSpPr>
        <p:spPr>
          <a:xfrm>
            <a:off x="457200" y="4544640"/>
            <a:ext cx="8228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0d9488"/>
                </a:solidFill>
                <a:latin typeface="Calibri"/>
                <a:ea typeface="Calibri"/>
              </a:rPr>
              <a:t>Sean Ellis Test: "How would you feel if [product] were no longer available?" → target &gt;= 40% "very disappointed" after the first 10-20 sales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0f1020"/>
          </a:solidFill>
          <a:ln w="12700">
            <a:solidFill>
              <a:srgbClr val="0f10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80" name="Text 1"/>
          <p:cNvSpPr/>
          <p:nvPr/>
        </p:nvSpPr>
        <p:spPr>
          <a:xfrm>
            <a:off x="365760" y="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Final OS — top 10 outcomes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Text 2"/>
          <p:cNvSpPr/>
          <p:nvPr/>
        </p:nvSpPr>
        <p:spPr>
          <a:xfrm>
            <a:off x="7132320" y="0"/>
            <a:ext cx="1828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94" strike="noStrike">
                <a:solidFill>
                  <a:srgbClr val="0d9488"/>
                </a:solidFill>
                <a:latin typeface="Calibri"/>
                <a:ea typeface="Calibri"/>
              </a:rPr>
              <a:t>PMF METRICS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Formula"/>
          <p:cNvSpPr/>
          <p:nvPr/>
        </p:nvSpPr>
        <p:spPr>
          <a:xfrm>
            <a:off x="365760" y="868680"/>
            <a:ext cx="8412120" cy="548280"/>
          </a:xfrm>
          <a:prstGeom prst="rect">
            <a:avLst/>
          </a:prstGeom>
          <a:solidFill>
            <a:srgbClr val="1a1f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anchor="t">
            <a:noAutofit/>
          </a:bodyPr>
          <a:p>
            <a:pPr>
              <a:lnSpc>
                <a:spcPct val="100000"/>
              </a:lnSpc>
            </a:pPr>
            <a:r>
              <a:rPr b="1" lang="ru-RU" sz="900" spc="-1" strike="noStrike">
                <a:solidFill>
                  <a:srgbClr val="94a3f6"/>
                </a:solidFill>
                <a:latin typeface="Arial"/>
              </a:rPr>
              <a:t>OPPORTUNITY SCORE = </a:t>
            </a:r>
            <a:r>
              <a:rPr b="0" lang="ru-RU" sz="900" spc="-1" strike="noStrike">
                <a:solidFill>
                  <a:srgbClr val="ffffff"/>
                </a:solidFill>
                <a:latin typeface="Arial"/>
              </a:rPr>
              <a:t>Importance + max(Importance - Satisfaction, 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800" spc="-1" strike="noStrike">
                <a:solidFill>
                  <a:srgbClr val="e8eaf6"/>
                </a:solidFill>
                <a:latin typeface="Arial"/>
              </a:rPr>
              <a:t>Priority: OS &gt;= 15 — 🔴 critical | 12-14 — 🟠 high | 9-11 — 🟡 medium | &lt; 9 — 🟢 low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TblHead0"/>
          <p:cNvSpPr/>
          <p:nvPr/>
        </p:nvSpPr>
        <p:spPr>
          <a:xfrm>
            <a:off x="365760" y="1508760"/>
            <a:ext cx="319680" cy="31968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94a3f6"/>
                </a:solidFill>
                <a:latin typeface="Arial"/>
              </a:rPr>
              <a:t>#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TblHead1"/>
          <p:cNvSpPr/>
          <p:nvPr/>
        </p:nvSpPr>
        <p:spPr>
          <a:xfrm>
            <a:off x="685800" y="1508760"/>
            <a:ext cx="4388760" cy="31968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anchor="t">
            <a:noAutofit/>
          </a:bodyPr>
          <a:p>
            <a:pPr>
              <a:lnSpc>
                <a:spcPct val="100000"/>
              </a:lnSpc>
            </a:pPr>
            <a:r>
              <a:rPr b="1" lang="ru-RU" sz="900" spc="-1" strike="noStrike">
                <a:solidFill>
                  <a:srgbClr val="94a3f6"/>
                </a:solidFill>
                <a:latin typeface="Arial"/>
              </a:rPr>
              <a:t>Outcome (from the Job Map)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5" name="TblHead2"/>
          <p:cNvSpPr/>
          <p:nvPr/>
        </p:nvSpPr>
        <p:spPr>
          <a:xfrm>
            <a:off x="5074920" y="1508760"/>
            <a:ext cx="685440" cy="31968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94a3f6"/>
                </a:solidFill>
                <a:latin typeface="Arial"/>
              </a:rPr>
              <a:t>Import.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6" name="TblHead3"/>
          <p:cNvSpPr/>
          <p:nvPr/>
        </p:nvSpPr>
        <p:spPr>
          <a:xfrm>
            <a:off x="5760720" y="1508760"/>
            <a:ext cx="685440" cy="31968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94a3f6"/>
                </a:solidFill>
                <a:latin typeface="Arial"/>
              </a:rPr>
              <a:t>Satisf.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TblHead4"/>
          <p:cNvSpPr/>
          <p:nvPr/>
        </p:nvSpPr>
        <p:spPr>
          <a:xfrm>
            <a:off x="6446520" y="1508760"/>
            <a:ext cx="685440" cy="31968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94a3f6"/>
                </a:solidFill>
                <a:latin typeface="Arial"/>
              </a:rPr>
              <a:t>OS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8" name="TblHead5"/>
          <p:cNvSpPr/>
          <p:nvPr/>
        </p:nvSpPr>
        <p:spPr>
          <a:xfrm>
            <a:off x="7132320" y="1508760"/>
            <a:ext cx="1645560" cy="319680"/>
          </a:xfrm>
          <a:prstGeom prst="rect">
            <a:avLst/>
          </a:prstGeom>
          <a:solidFill>
            <a:srgbClr val="0f10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94a3f6"/>
                </a:solidFill>
                <a:latin typeface="Arial"/>
              </a:rPr>
              <a:t>Priority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9" name="TblR0C0"/>
          <p:cNvSpPr/>
          <p:nvPr/>
        </p:nvSpPr>
        <p:spPr>
          <a:xfrm>
            <a:off x="365760" y="1828800"/>
            <a:ext cx="31968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800" spc="-1" strike="noStrike">
                <a:solidFill>
                  <a:srgbClr val="64748b"/>
                </a:solidFill>
                <a:latin typeface="Arial"/>
              </a:rPr>
              <a:t>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TblR0C1"/>
          <p:cNvSpPr/>
          <p:nvPr/>
        </p:nvSpPr>
        <p:spPr>
          <a:xfrm>
            <a:off x="685800" y="1828800"/>
            <a:ext cx="438876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9800" rIns="109800"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[Outcome 1 — description]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TblR0C2"/>
          <p:cNvSpPr/>
          <p:nvPr/>
        </p:nvSpPr>
        <p:spPr>
          <a:xfrm>
            <a:off x="5074920" y="1828800"/>
            <a:ext cx="68544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9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TblR0C3"/>
          <p:cNvSpPr/>
          <p:nvPr/>
        </p:nvSpPr>
        <p:spPr>
          <a:xfrm>
            <a:off x="5760720" y="1828800"/>
            <a:ext cx="68544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2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TblR0C4"/>
          <p:cNvSpPr/>
          <p:nvPr/>
        </p:nvSpPr>
        <p:spPr>
          <a:xfrm>
            <a:off x="6446520" y="1828800"/>
            <a:ext cx="685440" cy="273960"/>
          </a:xfrm>
          <a:prstGeom prst="rect">
            <a:avLst/>
          </a:prstGeom>
          <a:solidFill>
            <a:srgbClr val="e5737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000" spc="-1" strike="noStrike">
                <a:solidFill>
                  <a:srgbClr val="ffffff"/>
                </a:solidFill>
                <a:latin typeface="Arial"/>
              </a:rPr>
              <a:t>16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4" name="TblR0C5"/>
          <p:cNvSpPr/>
          <p:nvPr/>
        </p:nvSpPr>
        <p:spPr>
          <a:xfrm>
            <a:off x="7132320" y="1828800"/>
            <a:ext cx="164556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ffffff"/>
                </a:solidFill>
                <a:latin typeface="Arial"/>
              </a:rPr>
              <a:t>🔴 </a:t>
            </a:r>
            <a:r>
              <a:rPr b="1" lang="ru-RU" sz="900" spc="-1" strike="noStrike">
                <a:solidFill>
                  <a:srgbClr val="e57373"/>
                </a:solidFill>
                <a:latin typeface="Arial"/>
              </a:rPr>
              <a:t>Critical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TblR1C0"/>
          <p:cNvSpPr/>
          <p:nvPr/>
        </p:nvSpPr>
        <p:spPr>
          <a:xfrm>
            <a:off x="365760" y="2103120"/>
            <a:ext cx="31968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800" spc="-1" strike="noStrike">
                <a:solidFill>
                  <a:srgbClr val="64748b"/>
                </a:solidFill>
                <a:latin typeface="Arial"/>
              </a:rPr>
              <a:t>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TblR1C1"/>
          <p:cNvSpPr/>
          <p:nvPr/>
        </p:nvSpPr>
        <p:spPr>
          <a:xfrm>
            <a:off x="685800" y="2103120"/>
            <a:ext cx="438876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9800" rIns="109800"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[Outcome 2]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TblR1C2"/>
          <p:cNvSpPr/>
          <p:nvPr/>
        </p:nvSpPr>
        <p:spPr>
          <a:xfrm>
            <a:off x="5074920" y="2103120"/>
            <a:ext cx="68544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9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TblR1C3"/>
          <p:cNvSpPr/>
          <p:nvPr/>
        </p:nvSpPr>
        <p:spPr>
          <a:xfrm>
            <a:off x="5760720" y="2103120"/>
            <a:ext cx="68544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3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TblR1C4"/>
          <p:cNvSpPr/>
          <p:nvPr/>
        </p:nvSpPr>
        <p:spPr>
          <a:xfrm>
            <a:off x="6446520" y="2103120"/>
            <a:ext cx="685440" cy="273960"/>
          </a:xfrm>
          <a:prstGeom prst="rect">
            <a:avLst/>
          </a:prstGeom>
          <a:solidFill>
            <a:srgbClr val="e5737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000" spc="-1" strike="noStrike">
                <a:solidFill>
                  <a:srgbClr val="ffffff"/>
                </a:solidFill>
                <a:latin typeface="Arial"/>
              </a:rPr>
              <a:t>15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0" name="TblR1C5"/>
          <p:cNvSpPr/>
          <p:nvPr/>
        </p:nvSpPr>
        <p:spPr>
          <a:xfrm>
            <a:off x="7132320" y="2103120"/>
            <a:ext cx="164556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ffffff"/>
                </a:solidFill>
                <a:latin typeface="Arial"/>
              </a:rPr>
              <a:t>🔴 </a:t>
            </a:r>
            <a:r>
              <a:rPr b="1" lang="ru-RU" sz="900" spc="-1" strike="noStrike">
                <a:solidFill>
                  <a:srgbClr val="e57373"/>
                </a:solidFill>
                <a:latin typeface="Arial"/>
              </a:rPr>
              <a:t>Critical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TblR2C0"/>
          <p:cNvSpPr/>
          <p:nvPr/>
        </p:nvSpPr>
        <p:spPr>
          <a:xfrm>
            <a:off x="365760" y="2377440"/>
            <a:ext cx="31968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800" spc="-1" strike="noStrike">
                <a:solidFill>
                  <a:srgbClr val="64748b"/>
                </a:solidFill>
                <a:latin typeface="Arial"/>
              </a:rPr>
              <a:t>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blR2C1"/>
          <p:cNvSpPr/>
          <p:nvPr/>
        </p:nvSpPr>
        <p:spPr>
          <a:xfrm>
            <a:off x="685800" y="2377440"/>
            <a:ext cx="438876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9800" rIns="109800"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[Outcome 3]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TblR2C2"/>
          <p:cNvSpPr/>
          <p:nvPr/>
        </p:nvSpPr>
        <p:spPr>
          <a:xfrm>
            <a:off x="5074920" y="2377440"/>
            <a:ext cx="68544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8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TblR2C3"/>
          <p:cNvSpPr/>
          <p:nvPr/>
        </p:nvSpPr>
        <p:spPr>
          <a:xfrm>
            <a:off x="5760720" y="2377440"/>
            <a:ext cx="68544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3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TblR2C4"/>
          <p:cNvSpPr/>
          <p:nvPr/>
        </p:nvSpPr>
        <p:spPr>
          <a:xfrm>
            <a:off x="6446520" y="2377440"/>
            <a:ext cx="685440" cy="273960"/>
          </a:xfrm>
          <a:prstGeom prst="rect">
            <a:avLst/>
          </a:prstGeom>
          <a:solidFill>
            <a:srgbClr val="d68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000" spc="-1" strike="noStrike">
                <a:solidFill>
                  <a:srgbClr val="ffffff"/>
                </a:solidFill>
                <a:latin typeface="Arial"/>
              </a:rPr>
              <a:t>14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blR2C5"/>
          <p:cNvSpPr/>
          <p:nvPr/>
        </p:nvSpPr>
        <p:spPr>
          <a:xfrm>
            <a:off x="7132320" y="2377440"/>
            <a:ext cx="164556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ffffff"/>
                </a:solidFill>
                <a:latin typeface="Arial"/>
              </a:rPr>
              <a:t>🟠 </a:t>
            </a:r>
            <a:r>
              <a:rPr b="1" lang="ru-RU" sz="900" spc="-1" strike="noStrike">
                <a:solidFill>
                  <a:srgbClr val="d68c3c"/>
                </a:solidFill>
                <a:latin typeface="Arial"/>
              </a:rPr>
              <a:t>High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blR3C0"/>
          <p:cNvSpPr/>
          <p:nvPr/>
        </p:nvSpPr>
        <p:spPr>
          <a:xfrm>
            <a:off x="365760" y="2651760"/>
            <a:ext cx="31968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800" spc="-1" strike="noStrike">
                <a:solidFill>
                  <a:srgbClr val="64748b"/>
                </a:solidFill>
                <a:latin typeface="Arial"/>
              </a:rPr>
              <a:t>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TblR3C1"/>
          <p:cNvSpPr/>
          <p:nvPr/>
        </p:nvSpPr>
        <p:spPr>
          <a:xfrm>
            <a:off x="685800" y="2651760"/>
            <a:ext cx="438876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9800" rIns="109800"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[Outcome 4]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TblR3C2"/>
          <p:cNvSpPr/>
          <p:nvPr/>
        </p:nvSpPr>
        <p:spPr>
          <a:xfrm>
            <a:off x="5074920" y="2651760"/>
            <a:ext cx="68544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8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TblR3C3"/>
          <p:cNvSpPr/>
          <p:nvPr/>
        </p:nvSpPr>
        <p:spPr>
          <a:xfrm>
            <a:off x="5760720" y="2651760"/>
            <a:ext cx="68544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3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TblR3C4"/>
          <p:cNvSpPr/>
          <p:nvPr/>
        </p:nvSpPr>
        <p:spPr>
          <a:xfrm>
            <a:off x="6446520" y="2651760"/>
            <a:ext cx="685440" cy="273960"/>
          </a:xfrm>
          <a:prstGeom prst="rect">
            <a:avLst/>
          </a:prstGeom>
          <a:solidFill>
            <a:srgbClr val="d68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000" spc="-1" strike="noStrike">
                <a:solidFill>
                  <a:srgbClr val="ffffff"/>
                </a:solidFill>
                <a:latin typeface="Arial"/>
              </a:rPr>
              <a:t>13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2" name="TblR3C5"/>
          <p:cNvSpPr/>
          <p:nvPr/>
        </p:nvSpPr>
        <p:spPr>
          <a:xfrm>
            <a:off x="7132320" y="2651760"/>
            <a:ext cx="164556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ffffff"/>
                </a:solidFill>
                <a:latin typeface="Arial"/>
              </a:rPr>
              <a:t>🟠 </a:t>
            </a:r>
            <a:r>
              <a:rPr b="1" lang="ru-RU" sz="900" spc="-1" strike="noStrike">
                <a:solidFill>
                  <a:srgbClr val="d68c3c"/>
                </a:solidFill>
                <a:latin typeface="Arial"/>
              </a:rPr>
              <a:t>High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TblR4C0"/>
          <p:cNvSpPr/>
          <p:nvPr/>
        </p:nvSpPr>
        <p:spPr>
          <a:xfrm>
            <a:off x="365760" y="2926080"/>
            <a:ext cx="31968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800" spc="-1" strike="noStrike">
                <a:solidFill>
                  <a:srgbClr val="64748b"/>
                </a:solidFill>
                <a:latin typeface="Arial"/>
              </a:rPr>
              <a:t>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TblR4C1"/>
          <p:cNvSpPr/>
          <p:nvPr/>
        </p:nvSpPr>
        <p:spPr>
          <a:xfrm>
            <a:off x="685800" y="2926080"/>
            <a:ext cx="438876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9800" rIns="109800"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[Outcome 5]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TblR4C2"/>
          <p:cNvSpPr/>
          <p:nvPr/>
        </p:nvSpPr>
        <p:spPr>
          <a:xfrm>
            <a:off x="5074920" y="2926080"/>
            <a:ext cx="68544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7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TblR4C3"/>
          <p:cNvSpPr/>
          <p:nvPr/>
        </p:nvSpPr>
        <p:spPr>
          <a:xfrm>
            <a:off x="5760720" y="2926080"/>
            <a:ext cx="68544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3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TblR4C4"/>
          <p:cNvSpPr/>
          <p:nvPr/>
        </p:nvSpPr>
        <p:spPr>
          <a:xfrm>
            <a:off x="6446520" y="2926080"/>
            <a:ext cx="685440" cy="273960"/>
          </a:xfrm>
          <a:prstGeom prst="rect">
            <a:avLst/>
          </a:prstGeom>
          <a:solidFill>
            <a:srgbClr val="d68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000" spc="-1" strike="noStrike">
                <a:solidFill>
                  <a:srgbClr val="ffffff"/>
                </a:solidFill>
                <a:latin typeface="Arial"/>
              </a:rPr>
              <a:t>11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TblR4C5"/>
          <p:cNvSpPr/>
          <p:nvPr/>
        </p:nvSpPr>
        <p:spPr>
          <a:xfrm>
            <a:off x="7132320" y="2926080"/>
            <a:ext cx="164556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ffffff"/>
                </a:solidFill>
                <a:latin typeface="Arial"/>
              </a:rPr>
              <a:t>🟠 </a:t>
            </a:r>
            <a:r>
              <a:rPr b="1" lang="ru-RU" sz="900" spc="-1" strike="noStrike">
                <a:solidFill>
                  <a:srgbClr val="d68c3c"/>
                </a:solidFill>
                <a:latin typeface="Arial"/>
              </a:rPr>
              <a:t>High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TblR5C0"/>
          <p:cNvSpPr/>
          <p:nvPr/>
        </p:nvSpPr>
        <p:spPr>
          <a:xfrm>
            <a:off x="365760" y="3200400"/>
            <a:ext cx="31968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800" spc="-1" strike="noStrike">
                <a:solidFill>
                  <a:srgbClr val="64748b"/>
                </a:solidFill>
                <a:latin typeface="Arial"/>
              </a:rPr>
              <a:t>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TblR5C1"/>
          <p:cNvSpPr/>
          <p:nvPr/>
        </p:nvSpPr>
        <p:spPr>
          <a:xfrm>
            <a:off x="685800" y="3200400"/>
            <a:ext cx="438876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9800" rIns="109800"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[Outcome 6]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TblR5C2"/>
          <p:cNvSpPr/>
          <p:nvPr/>
        </p:nvSpPr>
        <p:spPr>
          <a:xfrm>
            <a:off x="5074920" y="3200400"/>
            <a:ext cx="68544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7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TblR5C3"/>
          <p:cNvSpPr/>
          <p:nvPr/>
        </p:nvSpPr>
        <p:spPr>
          <a:xfrm>
            <a:off x="5760720" y="3200400"/>
            <a:ext cx="68544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4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TblR5C4"/>
          <p:cNvSpPr/>
          <p:nvPr/>
        </p:nvSpPr>
        <p:spPr>
          <a:xfrm>
            <a:off x="6446520" y="3200400"/>
            <a:ext cx="685440" cy="273960"/>
          </a:xfrm>
          <a:prstGeom prst="rect">
            <a:avLst/>
          </a:prstGeom>
          <a:solidFill>
            <a:srgbClr val="d4b9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000" spc="-1" strike="noStrike">
                <a:solidFill>
                  <a:srgbClr val="ffffff"/>
                </a:solidFill>
                <a:latin typeface="Arial"/>
              </a:rPr>
              <a:t>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TblR5C5"/>
          <p:cNvSpPr/>
          <p:nvPr/>
        </p:nvSpPr>
        <p:spPr>
          <a:xfrm>
            <a:off x="7132320" y="3200400"/>
            <a:ext cx="164556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ffffff"/>
                </a:solidFill>
                <a:latin typeface="Arial"/>
              </a:rPr>
              <a:t>🟡 </a:t>
            </a:r>
            <a:r>
              <a:rPr b="1" lang="ru-RU" sz="900" spc="-1" strike="noStrike">
                <a:solidFill>
                  <a:srgbClr val="d4b942"/>
                </a:solidFill>
                <a:latin typeface="Arial"/>
              </a:rPr>
              <a:t>Medium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TblR6C0"/>
          <p:cNvSpPr/>
          <p:nvPr/>
        </p:nvSpPr>
        <p:spPr>
          <a:xfrm>
            <a:off x="365760" y="3474720"/>
            <a:ext cx="31968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800" spc="-1" strike="noStrike">
                <a:solidFill>
                  <a:srgbClr val="64748b"/>
                </a:solidFill>
                <a:latin typeface="Arial"/>
              </a:rPr>
              <a:t>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TblR6C1"/>
          <p:cNvSpPr/>
          <p:nvPr/>
        </p:nvSpPr>
        <p:spPr>
          <a:xfrm>
            <a:off x="685800" y="3474720"/>
            <a:ext cx="438876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9800" rIns="109800"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[Outcome 7]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TblR6C2"/>
          <p:cNvSpPr/>
          <p:nvPr/>
        </p:nvSpPr>
        <p:spPr>
          <a:xfrm>
            <a:off x="5074920" y="3474720"/>
            <a:ext cx="68544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7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TblR6C3"/>
          <p:cNvSpPr/>
          <p:nvPr/>
        </p:nvSpPr>
        <p:spPr>
          <a:xfrm>
            <a:off x="5760720" y="3474720"/>
            <a:ext cx="68544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5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TblR6C4"/>
          <p:cNvSpPr/>
          <p:nvPr/>
        </p:nvSpPr>
        <p:spPr>
          <a:xfrm>
            <a:off x="6446520" y="3474720"/>
            <a:ext cx="685440" cy="273960"/>
          </a:xfrm>
          <a:prstGeom prst="rect">
            <a:avLst/>
          </a:prstGeom>
          <a:solidFill>
            <a:srgbClr val="d4b9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000" spc="-1" strike="noStrike">
                <a:solidFill>
                  <a:srgbClr val="ffffff"/>
                </a:solidFill>
                <a:latin typeface="Arial"/>
              </a:rPr>
              <a:t>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TblR6C5"/>
          <p:cNvSpPr/>
          <p:nvPr/>
        </p:nvSpPr>
        <p:spPr>
          <a:xfrm>
            <a:off x="7132320" y="3474720"/>
            <a:ext cx="164556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ffffff"/>
                </a:solidFill>
                <a:latin typeface="Arial"/>
              </a:rPr>
              <a:t>🟡 </a:t>
            </a:r>
            <a:r>
              <a:rPr b="1" lang="ru-RU" sz="900" spc="-1" strike="noStrike">
                <a:solidFill>
                  <a:srgbClr val="d4b942"/>
                </a:solidFill>
                <a:latin typeface="Arial"/>
              </a:rPr>
              <a:t>Medium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TblR7C0"/>
          <p:cNvSpPr/>
          <p:nvPr/>
        </p:nvSpPr>
        <p:spPr>
          <a:xfrm>
            <a:off x="365760" y="3749040"/>
            <a:ext cx="31968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800" spc="-1" strike="noStrike">
                <a:solidFill>
                  <a:srgbClr val="64748b"/>
                </a:solidFill>
                <a:latin typeface="Arial"/>
              </a:rPr>
              <a:t>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TblR7C1"/>
          <p:cNvSpPr/>
          <p:nvPr/>
        </p:nvSpPr>
        <p:spPr>
          <a:xfrm>
            <a:off x="685800" y="3749040"/>
            <a:ext cx="438876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9800" rIns="109800"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[Outcome 8]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TblR7C2"/>
          <p:cNvSpPr/>
          <p:nvPr/>
        </p:nvSpPr>
        <p:spPr>
          <a:xfrm>
            <a:off x="5074920" y="3749040"/>
            <a:ext cx="68544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6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TblR7C3"/>
          <p:cNvSpPr/>
          <p:nvPr/>
        </p:nvSpPr>
        <p:spPr>
          <a:xfrm>
            <a:off x="5760720" y="3749040"/>
            <a:ext cx="68544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5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TblR7C4"/>
          <p:cNvSpPr/>
          <p:nvPr/>
        </p:nvSpPr>
        <p:spPr>
          <a:xfrm>
            <a:off x="6446520" y="3749040"/>
            <a:ext cx="685440" cy="273960"/>
          </a:xfrm>
          <a:prstGeom prst="rect">
            <a:avLst/>
          </a:prstGeom>
          <a:solidFill>
            <a:srgbClr val="d4b9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000" spc="-1" strike="noStrike">
                <a:solidFill>
                  <a:srgbClr val="ffffff"/>
                </a:solidFill>
                <a:latin typeface="Arial"/>
              </a:rPr>
              <a:t>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TblR7C5"/>
          <p:cNvSpPr/>
          <p:nvPr/>
        </p:nvSpPr>
        <p:spPr>
          <a:xfrm>
            <a:off x="7132320" y="3749040"/>
            <a:ext cx="164556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ffffff"/>
                </a:solidFill>
                <a:latin typeface="Arial"/>
              </a:rPr>
              <a:t>🟡 </a:t>
            </a:r>
            <a:r>
              <a:rPr b="1" lang="ru-RU" sz="900" spc="-1" strike="noStrike">
                <a:solidFill>
                  <a:srgbClr val="d4b942"/>
                </a:solidFill>
                <a:latin typeface="Arial"/>
              </a:rPr>
              <a:t>Medium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TblR8C0"/>
          <p:cNvSpPr/>
          <p:nvPr/>
        </p:nvSpPr>
        <p:spPr>
          <a:xfrm>
            <a:off x="365760" y="4023360"/>
            <a:ext cx="31968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800" spc="-1" strike="noStrike">
                <a:solidFill>
                  <a:srgbClr val="64748b"/>
                </a:solidFill>
                <a:latin typeface="Arial"/>
              </a:rPr>
              <a:t>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TblR8C1"/>
          <p:cNvSpPr/>
          <p:nvPr/>
        </p:nvSpPr>
        <p:spPr>
          <a:xfrm>
            <a:off x="685800" y="4023360"/>
            <a:ext cx="438876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9800" rIns="109800"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[Outcome 9]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TblR8C2"/>
          <p:cNvSpPr/>
          <p:nvPr/>
        </p:nvSpPr>
        <p:spPr>
          <a:xfrm>
            <a:off x="5074920" y="4023360"/>
            <a:ext cx="68544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7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TblR8C3"/>
          <p:cNvSpPr/>
          <p:nvPr/>
        </p:nvSpPr>
        <p:spPr>
          <a:xfrm>
            <a:off x="5760720" y="4023360"/>
            <a:ext cx="68544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6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TblR8C4"/>
          <p:cNvSpPr/>
          <p:nvPr/>
        </p:nvSpPr>
        <p:spPr>
          <a:xfrm>
            <a:off x="6446520" y="4023360"/>
            <a:ext cx="685440" cy="273960"/>
          </a:xfrm>
          <a:prstGeom prst="rect">
            <a:avLst/>
          </a:prstGeom>
          <a:solidFill>
            <a:srgbClr val="4a8a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000" spc="-1" strike="noStrike">
                <a:solidFill>
                  <a:srgbClr val="ffffff"/>
                </a:solidFill>
                <a:latin typeface="Arial"/>
              </a:rPr>
              <a:t>8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2" name="TblR8C5"/>
          <p:cNvSpPr/>
          <p:nvPr/>
        </p:nvSpPr>
        <p:spPr>
          <a:xfrm>
            <a:off x="7132320" y="4023360"/>
            <a:ext cx="1645560" cy="273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ffffff"/>
                </a:solidFill>
                <a:latin typeface="Arial"/>
              </a:rPr>
              <a:t>🟢 </a:t>
            </a:r>
            <a:r>
              <a:rPr b="1" lang="ru-RU" sz="900" spc="-1" strike="noStrike">
                <a:solidFill>
                  <a:srgbClr val="4a8a4f"/>
                </a:solidFill>
                <a:latin typeface="Arial"/>
              </a:rPr>
              <a:t>Low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TblR9C0"/>
          <p:cNvSpPr/>
          <p:nvPr/>
        </p:nvSpPr>
        <p:spPr>
          <a:xfrm>
            <a:off x="365760" y="4297680"/>
            <a:ext cx="31968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800" spc="-1" strike="noStrike">
                <a:solidFill>
                  <a:srgbClr val="64748b"/>
                </a:solidFill>
                <a:latin typeface="Arial"/>
              </a:rPr>
              <a:t>10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TblR9C1"/>
          <p:cNvSpPr/>
          <p:nvPr/>
        </p:nvSpPr>
        <p:spPr>
          <a:xfrm>
            <a:off x="685800" y="4297680"/>
            <a:ext cx="438876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9800" rIns="109800"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0f1020"/>
                </a:solidFill>
                <a:latin typeface="Arial"/>
              </a:rPr>
              <a:t>[Outcome 10]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TblR9C2"/>
          <p:cNvSpPr/>
          <p:nvPr/>
        </p:nvSpPr>
        <p:spPr>
          <a:xfrm>
            <a:off x="5074920" y="4297680"/>
            <a:ext cx="68544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6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TblR9C3"/>
          <p:cNvSpPr/>
          <p:nvPr/>
        </p:nvSpPr>
        <p:spPr>
          <a:xfrm>
            <a:off x="5760720" y="4297680"/>
            <a:ext cx="68544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900" spc="-1" strike="noStrike">
                <a:solidFill>
                  <a:srgbClr val="0f1020"/>
                </a:solidFill>
                <a:latin typeface="Arial"/>
              </a:rPr>
              <a:t>5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TblR9C4"/>
          <p:cNvSpPr/>
          <p:nvPr/>
        </p:nvSpPr>
        <p:spPr>
          <a:xfrm>
            <a:off x="6446520" y="4297680"/>
            <a:ext cx="685440" cy="273960"/>
          </a:xfrm>
          <a:prstGeom prst="rect">
            <a:avLst/>
          </a:prstGeom>
          <a:solidFill>
            <a:srgbClr val="4a8a4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>
              <a:lnSpc>
                <a:spcPct val="100000"/>
              </a:lnSpc>
            </a:pPr>
            <a:r>
              <a:rPr b="1" lang="ru-RU" sz="1000" spc="-1" strike="noStrike">
                <a:solidFill>
                  <a:srgbClr val="ffffff"/>
                </a:solidFill>
                <a:latin typeface="Arial"/>
              </a:rPr>
              <a:t>7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8" name="TblR9C5"/>
          <p:cNvSpPr/>
          <p:nvPr/>
        </p:nvSpPr>
        <p:spPr>
          <a:xfrm>
            <a:off x="7132320" y="4297680"/>
            <a:ext cx="1645560" cy="273960"/>
          </a:xfrm>
          <a:prstGeom prst="rect">
            <a:avLst/>
          </a:prstGeom>
          <a:solidFill>
            <a:srgbClr val="e8ea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900" spc="-1" strike="noStrike">
                <a:solidFill>
                  <a:srgbClr val="ffffff"/>
                </a:solidFill>
                <a:latin typeface="Arial"/>
              </a:rPr>
              <a:t>🟢 </a:t>
            </a:r>
            <a:r>
              <a:rPr b="1" lang="ru-RU" sz="900" spc="-1" strike="noStrike">
                <a:solidFill>
                  <a:srgbClr val="4a8a4f"/>
                </a:solidFill>
                <a:latin typeface="Arial"/>
              </a:rPr>
              <a:t>Low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Conclusion"/>
          <p:cNvSpPr/>
          <p:nvPr/>
        </p:nvSpPr>
        <p:spPr>
          <a:xfrm>
            <a:off x="365760" y="4663440"/>
            <a:ext cx="8412120" cy="228240"/>
          </a:xfrm>
          <a:prstGeom prst="rect">
            <a:avLst/>
          </a:prstGeom>
          <a:solidFill>
            <a:srgbClr val="1a1f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36720" bIns="36720" anchor="t">
            <a:noAutofit/>
          </a:bodyPr>
          <a:p>
            <a:pPr>
              <a:lnSpc>
                <a:spcPct val="100000"/>
              </a:lnSpc>
            </a:pPr>
            <a:r>
              <a:rPr b="0" lang="ru-RU" sz="1000" spc="-1" strike="noStrike">
                <a:solidFill>
                  <a:srgbClr val="ffffff"/>
                </a:solidFill>
                <a:latin typeface="Arial"/>
              </a:rPr>
              <a:t>🔴 </a:t>
            </a:r>
            <a:r>
              <a:rPr b="1" lang="ru-RU" sz="900" spc="-1" strike="noStrike">
                <a:solidFill>
                  <a:srgbClr val="ffffff"/>
                </a:solidFill>
                <a:latin typeface="Arial"/>
              </a:rPr>
              <a:t>[How many outcomes score OS &gt;= 15] — critically underserved needs, </a:t>
            </a:r>
            <a:r>
              <a:rPr b="0" lang="ru-RU" sz="900" spc="-1" strike="noStrike">
                <a:solidFill>
                  <a:srgbClr val="ffffff"/>
                </a:solidFill>
                <a:latin typeface="Arial"/>
              </a:rPr>
              <a:t>[Conclusion: what moves to the top of the OST; the rest go to the roadmap]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0" name="Shape 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51" name="Text 4"/>
          <p:cNvSpPr/>
          <p:nvPr/>
        </p:nvSpPr>
        <p:spPr>
          <a:xfrm>
            <a:off x="365760" y="4937760"/>
            <a:ext cx="640008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Source: [state the source]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Shape 0"/>
          <p:cNvSpPr/>
          <p:nvPr/>
        </p:nvSpPr>
        <p:spPr>
          <a:xfrm>
            <a:off x="0" y="0"/>
            <a:ext cx="319320" cy="514296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53" name="Text 1"/>
          <p:cNvSpPr/>
          <p:nvPr/>
        </p:nvSpPr>
        <p:spPr>
          <a:xfrm>
            <a:off x="548640" y="594360"/>
            <a:ext cx="80460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395" strike="noStrike">
                <a:solidFill>
                  <a:srgbClr val="457e4a"/>
                </a:solidFill>
                <a:latin typeface="Calibri"/>
                <a:ea typeface="Calibri"/>
              </a:rPr>
              <a:t>NEXT STEPS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Shape 2"/>
          <p:cNvSpPr/>
          <p:nvPr/>
        </p:nvSpPr>
        <p:spPr>
          <a:xfrm>
            <a:off x="548640" y="1051560"/>
            <a:ext cx="474840" cy="59364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55" name="Text 3"/>
          <p:cNvSpPr/>
          <p:nvPr/>
        </p:nvSpPr>
        <p:spPr>
          <a:xfrm>
            <a:off x="548640" y="1051560"/>
            <a:ext cx="4748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01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6" name="Text 4"/>
          <p:cNvSpPr/>
          <p:nvPr/>
        </p:nvSpPr>
        <p:spPr>
          <a:xfrm>
            <a:off x="1188720" y="1088280"/>
            <a:ext cx="75888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Run customer interviews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7" name="Text 5"/>
          <p:cNvSpPr/>
          <p:nvPr/>
        </p:nvSpPr>
        <p:spPr>
          <a:xfrm>
            <a:off x="1188720" y="1398960"/>
            <a:ext cx="7588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5-7 in-depth interviews (The Mom Test) with [segment] over [timeframe]. Target: [N/M] confirm the pain. [budget]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Shape 6"/>
          <p:cNvSpPr/>
          <p:nvPr/>
        </p:nvSpPr>
        <p:spPr>
          <a:xfrm>
            <a:off x="548640" y="1828800"/>
            <a:ext cx="474840" cy="59364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59" name="Text 7"/>
          <p:cNvSpPr/>
          <p:nvPr/>
        </p:nvSpPr>
        <p:spPr>
          <a:xfrm>
            <a:off x="548640" y="1828800"/>
            <a:ext cx="4748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0" name="Text 8"/>
          <p:cNvSpPr/>
          <p:nvPr/>
        </p:nvSpPr>
        <p:spPr>
          <a:xfrm>
            <a:off x="1188720" y="1865520"/>
            <a:ext cx="75888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Launch the Rapid Assumption Tests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1" name="Text 9"/>
          <p:cNvSpPr/>
          <p:nvPr/>
        </p:nvSpPr>
        <p:spPr>
          <a:xfrm>
            <a:off x="1188720" y="2176200"/>
            <a:ext cx="7588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Smoke Test [channel]: "[offer]". [budget], [timeframe]. Criterion: [metric &gt;= value]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2" name="Shape 10"/>
          <p:cNvSpPr/>
          <p:nvPr/>
        </p:nvSpPr>
        <p:spPr>
          <a:xfrm>
            <a:off x="548640" y="2606040"/>
            <a:ext cx="474840" cy="593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63" name="Text 11"/>
          <p:cNvSpPr/>
          <p:nvPr/>
        </p:nvSpPr>
        <p:spPr>
          <a:xfrm>
            <a:off x="548640" y="2606040"/>
            <a:ext cx="4748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03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4" name="Text 12"/>
          <p:cNvSpPr/>
          <p:nvPr/>
        </p:nvSpPr>
        <p:spPr>
          <a:xfrm>
            <a:off x="1188720" y="2642760"/>
            <a:ext cx="75888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Verify the Opportunity Score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5" name="Text 13"/>
          <p:cNvSpPr/>
          <p:nvPr/>
        </p:nvSpPr>
        <p:spPr>
          <a:xfrm>
            <a:off x="1188720" y="2953440"/>
            <a:ext cx="7588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Survey 30-50 respondents [collection channel] — verifying the OS from task 7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6" name="Shape 14"/>
          <p:cNvSpPr/>
          <p:nvPr/>
        </p:nvSpPr>
        <p:spPr>
          <a:xfrm>
            <a:off x="548640" y="3383280"/>
            <a:ext cx="474840" cy="593640"/>
          </a:xfrm>
          <a:prstGeom prst="rect">
            <a:avLst/>
          </a:prstGeom>
          <a:solidFill>
            <a:srgbClr val="457e4a"/>
          </a:solidFill>
          <a:ln w="12700">
            <a:solidFill>
              <a:srgbClr val="457e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67" name="Text 15"/>
          <p:cNvSpPr/>
          <p:nvPr/>
        </p:nvSpPr>
        <p:spPr>
          <a:xfrm>
            <a:off x="548640" y="3383280"/>
            <a:ext cx="4748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04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8" name="Text 16"/>
          <p:cNvSpPr/>
          <p:nvPr/>
        </p:nvSpPr>
        <p:spPr>
          <a:xfrm>
            <a:off x="1188720" y="3420000"/>
            <a:ext cx="75888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Pick the target opportunity in the OST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9" name="Text 17"/>
          <p:cNvSpPr/>
          <p:nvPr/>
        </p:nvSpPr>
        <p:spPr>
          <a:xfrm>
            <a:off x="1188720" y="3730680"/>
            <a:ext cx="7588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Priority: "[opportunity]" (OS=[N]). Solutions: [solution 1] + [solution 2]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0" name="Shape 18"/>
          <p:cNvSpPr/>
          <p:nvPr/>
        </p:nvSpPr>
        <p:spPr>
          <a:xfrm>
            <a:off x="548640" y="4160520"/>
            <a:ext cx="474840" cy="593640"/>
          </a:xfrm>
          <a:prstGeom prst="rect">
            <a:avLst/>
          </a:prstGeom>
          <a:solidFill>
            <a:srgbClr val="94a3f6"/>
          </a:solidFill>
          <a:ln w="12700">
            <a:solidFill>
              <a:srgbClr val="94a3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71" name="Text 19"/>
          <p:cNvSpPr/>
          <p:nvPr/>
        </p:nvSpPr>
        <p:spPr>
          <a:xfrm>
            <a:off x="548640" y="4160520"/>
            <a:ext cx="4748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05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2" name="Text 20"/>
          <p:cNvSpPr/>
          <p:nvPr/>
        </p:nvSpPr>
        <p:spPr>
          <a:xfrm>
            <a:off x="1188720" y="4197240"/>
            <a:ext cx="75888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Move to the Value Validation phase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3" name="Text 21"/>
          <p:cNvSpPr/>
          <p:nvPr/>
        </p:nvSpPr>
        <p:spPr>
          <a:xfrm>
            <a:off x="1188720" y="4507920"/>
            <a:ext cx="7588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Calibri"/>
              </a:rPr>
              <a:t>Value Validation after [N] sales: Sean Ellis Test (target &gt;= 40% "very disappointed")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Text 22"/>
          <p:cNvSpPr/>
          <p:nvPr/>
        </p:nvSpPr>
        <p:spPr>
          <a:xfrm>
            <a:off x="548640" y="4709160"/>
            <a:ext cx="8228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Calibri"/>
              </a:rPr>
              <a:t>[Project name]  ·  [website]  ·  [month year]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2026-04-17T10:43:18Z</dcterms:created>
  <dc:creator>PptxGenJS</dc:creator>
  <dc:description/>
  <dc:language>en-US</dc:language>
  <cp:lastModifiedBy>PptxGenJS</cp:lastModifiedBy>
  <dcterms:modified xsi:type="dcterms:W3CDTF">2026-04-17T10:43:18Z</dcterms:modified>
  <cp:revision>1</cp:revision>
  <dc:subject>PptxGenJS Presentation</dc:subject>
  <dc:title>Product Discovery — Verification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28</vt:r8>
  </property>
  <property fmtid="{D5CDD505-2E9C-101B-9397-08002B2CF9AE}" pid="3" name="PresentationFormat">
    <vt:lpwstr>On-screen Show (16:9)</vt:lpwstr>
  </property>
  <property fmtid="{D5CDD505-2E9C-101B-9397-08002B2CF9AE}" pid="4" name="Slides">
    <vt:r8>28</vt:r8>
  </property>
</Properties>
</file>